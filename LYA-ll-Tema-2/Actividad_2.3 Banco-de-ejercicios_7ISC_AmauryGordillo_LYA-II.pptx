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B74CE9-DE1E-4B39-BE34-F3A1A6BE1D4D}" type="datetimeFigureOut">
              <a:rPr lang="es-MX" smtClean="0"/>
              <a:t>22/09/2026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AFB9E-7B9E-4393-876D-A08580A0A4C2}" type="slidenum">
              <a:rPr lang="es-MX" smtClean="0"/>
              <a:t>‹Nº›</a:t>
            </a:fld>
            <a:endParaRPr lang="es-MX"/>
          </a:p>
        </p:txBody>
      </p:sp>
    </p:spTree>
    <p:extLst>
      <p:ext uri="{BB962C8B-B14F-4D97-AF65-F5344CB8AC3E}">
        <p14:creationId xmlns:p14="http://schemas.microsoft.com/office/powerpoint/2010/main" val="461777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997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maurycolochos-cpu/LENGUAJES-Y-AUTOMATAS-II/tree/main/LYA-ll-Tema-2/AnalizadorSemantico-Unidades-1-2-3-JavaFX"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Imagen 40"/>
          <p:cNvPicPr>
            <a:picLocks noChangeAspect="1"/>
          </p:cNvPicPr>
          <p:nvPr/>
        </p:nvPicPr>
        <p:blipFill>
          <a:blip r:embed="rId3"/>
          <a:srcRect t="27" b="27"/>
          <a:stretch>
            <a:fillRect/>
          </a:stretch>
        </p:blipFill>
        <p:spPr>
          <a:xfrm>
            <a:off x="280834" y="0"/>
            <a:ext cx="11911166" cy="6858000"/>
          </a:xfrm>
          <a:prstGeom prst="rect">
            <a:avLst/>
          </a:prstGeom>
        </p:spPr>
      </p:pic>
      <p:sp>
        <p:nvSpPr>
          <p:cNvPr id="2" name="institutional-navy-band">
            <a:extLst>
              <a:ext uri="{FF2B5EF4-FFF2-40B4-BE49-F238E27FC236}">
                <a16:creationId xmlns:a16="http://schemas.microsoft.com/office/drawing/2014/main" id="{3AE6E076-F470-4AFA-B05E-BB577D99A602}"/>
              </a:ext>
            </a:extLst>
          </p:cNvPr>
          <p:cNvSpPr>
            <a:spLocks noGrp="1"/>
          </p:cNvSpPr>
          <p:nvPr/>
        </p:nvSpPr>
        <p:spPr>
          <a:xfrm>
            <a:off x="-47626" y="0"/>
            <a:ext cx="328459" cy="6858000"/>
          </a:xfrm>
          <a:prstGeom prst="rect">
            <a:avLst/>
          </a:prstGeom>
          <a:solidFill>
            <a:srgbClr val="082958"/>
          </a:solidFill>
          <a:ln w="0">
            <a:noFill/>
            <a:prstDash val="solid"/>
          </a:ln>
        </p:spPr>
      </p:sp>
      <p:sp>
        <p:nvSpPr>
          <p:cNvPr id="3" name="institutional-gold-accent">
            <a:extLst>
              <a:ext uri="{FF2B5EF4-FFF2-40B4-BE49-F238E27FC236}">
                <a16:creationId xmlns:a16="http://schemas.microsoft.com/office/drawing/2014/main" id="{511065C0-35AD-4DAE-B610-DF6B7F488372}"/>
              </a:ext>
            </a:extLst>
          </p:cNvPr>
          <p:cNvSpPr>
            <a:spLocks noGrp="1"/>
          </p:cNvSpPr>
          <p:nvPr/>
        </p:nvSpPr>
        <p:spPr>
          <a:xfrm>
            <a:off x="280987" y="47625"/>
            <a:ext cx="28575" cy="6438900"/>
          </a:xfrm>
          <a:prstGeom prst="rect">
            <a:avLst/>
          </a:prstGeom>
          <a:solidFill>
            <a:srgbClr val="C8972C"/>
          </a:solidFill>
          <a:ln w="0">
            <a:noFill/>
            <a:prstDash val="solid"/>
          </a:ln>
        </p:spPr>
      </p:sp>
      <p:sp>
        <p:nvSpPr>
          <p:cNvPr id="4" name="top-rule">
            <a:extLst>
              <a:ext uri="{FF2B5EF4-FFF2-40B4-BE49-F238E27FC236}">
                <a16:creationId xmlns:a16="http://schemas.microsoft.com/office/drawing/2014/main" id="{A402DA1E-9E80-4154-8892-48887862CA94}"/>
              </a:ext>
            </a:extLst>
          </p:cNvPr>
          <p:cNvSpPr>
            <a:spLocks noGrp="1"/>
          </p:cNvSpPr>
          <p:nvPr/>
        </p:nvSpPr>
        <p:spPr>
          <a:xfrm>
            <a:off x="838200" y="1009650"/>
            <a:ext cx="10515600" cy="0"/>
          </a:xfrm>
          <a:prstGeom prst="line">
            <a:avLst/>
          </a:prstGeom>
          <a:noFill/>
          <a:ln w="11430">
            <a:solidFill>
              <a:srgbClr val="DCEBFA"/>
            </a:solidFill>
            <a:prstDash val="solid"/>
          </a:ln>
        </p:spPr>
      </p:sp>
      <p:sp>
        <p:nvSpPr>
          <p:cNvPr id="6" name="institution-name">
            <a:extLst>
              <a:ext uri="{FF2B5EF4-FFF2-40B4-BE49-F238E27FC236}">
                <a16:creationId xmlns:a16="http://schemas.microsoft.com/office/drawing/2014/main" id="{E0E92947-86F7-4A12-A128-7B0159F83BDC}"/>
              </a:ext>
            </a:extLst>
          </p:cNvPr>
          <p:cNvSpPr>
            <a:spLocks noGrp="1"/>
          </p:cNvSpPr>
          <p:nvPr/>
        </p:nvSpPr>
        <p:spPr>
          <a:xfrm>
            <a:off x="3641008" y="892277"/>
            <a:ext cx="5464892" cy="666749"/>
          </a:xfrm>
          <a:prstGeom prst="rect">
            <a:avLst/>
          </a:prstGeom>
          <a:noFill/>
          <a:ln w="0">
            <a:noFill/>
            <a:prstDash val="solid"/>
          </a:ln>
        </p:spPr>
        <p:txBody>
          <a:bodyPr wrap="square" lIns="0" tIns="0" rIns="0" bIns="0" anchor="ctr">
            <a:noAutofit/>
          </a:bodyPr>
          <a:lstStyle/>
          <a:p>
            <a:pPr algn="l">
              <a:buNone/>
              <a:defRPr sz="1650" b="1">
                <a:solidFill>
                  <a:srgbClr val="0B3473"/>
                </a:solidFill>
                <a:latin typeface="Aptos Display"/>
                <a:ea typeface="Aptos Display"/>
                <a:cs typeface="Aptos Display"/>
              </a:defRPr>
            </a:pPr>
            <a:r>
              <a:rPr sz="2500" b="1">
                <a:solidFill>
                  <a:srgbClr val="0B3473"/>
                </a:solidFill>
                <a:latin typeface="Aptos Display"/>
                <a:ea typeface="Aptos Display"/>
                <a:cs typeface="Aptos Display"/>
              </a:rPr>
              <a:t>TECNOLÓGICO NACIONAL DE MÉXICO</a:t>
            </a:r>
          </a:p>
        </p:txBody>
      </p:sp>
      <p:sp>
        <p:nvSpPr>
          <p:cNvPr id="9" name="degree-title">
            <a:extLst>
              <a:ext uri="{FF2B5EF4-FFF2-40B4-BE49-F238E27FC236}">
                <a16:creationId xmlns:a16="http://schemas.microsoft.com/office/drawing/2014/main" id="{897E2AE5-15D9-4AB6-9730-7184F55D8F9A}"/>
              </a:ext>
            </a:extLst>
          </p:cNvPr>
          <p:cNvSpPr>
            <a:spLocks noGrp="1"/>
          </p:cNvSpPr>
          <p:nvPr/>
        </p:nvSpPr>
        <p:spPr>
          <a:xfrm>
            <a:off x="3429000" y="1454252"/>
            <a:ext cx="5524500" cy="742950"/>
          </a:xfrm>
          <a:prstGeom prst="rect">
            <a:avLst/>
          </a:prstGeom>
          <a:noFill/>
          <a:ln w="0">
            <a:noFill/>
            <a:prstDash val="solid"/>
          </a:ln>
        </p:spPr>
        <p:txBody>
          <a:bodyPr wrap="square" lIns="0" tIns="0" rIns="0" bIns="0" anchor="ctr">
            <a:normAutofit/>
          </a:bodyPr>
          <a:lstStyle/>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INGENIERÍA EN</a:t>
            </a:r>
          </a:p>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SISTEMAS COMPUTACIONALES</a:t>
            </a:r>
          </a:p>
        </p:txBody>
      </p:sp>
      <p:sp>
        <p:nvSpPr>
          <p:cNvPr id="10" name="degree-gold-rule-left">
            <a:extLst>
              <a:ext uri="{FF2B5EF4-FFF2-40B4-BE49-F238E27FC236}">
                <a16:creationId xmlns:a16="http://schemas.microsoft.com/office/drawing/2014/main" id="{C8050B62-10E2-4D95-BEEE-6E1978022F99}"/>
              </a:ext>
            </a:extLst>
          </p:cNvPr>
          <p:cNvSpPr>
            <a:spLocks noGrp="1"/>
          </p:cNvSpPr>
          <p:nvPr/>
        </p:nvSpPr>
        <p:spPr>
          <a:xfrm>
            <a:off x="4848225" y="2209800"/>
            <a:ext cx="990600" cy="0"/>
          </a:xfrm>
          <a:prstGeom prst="line">
            <a:avLst/>
          </a:prstGeom>
          <a:noFill/>
          <a:ln w="15240">
            <a:solidFill>
              <a:srgbClr val="C8972C"/>
            </a:solidFill>
            <a:prstDash val="solid"/>
          </a:ln>
        </p:spPr>
      </p:sp>
      <p:sp>
        <p:nvSpPr>
          <p:cNvPr id="11" name="degree-gold-rule-right">
            <a:extLst>
              <a:ext uri="{FF2B5EF4-FFF2-40B4-BE49-F238E27FC236}">
                <a16:creationId xmlns:a16="http://schemas.microsoft.com/office/drawing/2014/main" id="{12397A49-149B-4ECA-A15E-F885934091D1}"/>
              </a:ext>
            </a:extLst>
          </p:cNvPr>
          <p:cNvSpPr>
            <a:spLocks noGrp="1"/>
          </p:cNvSpPr>
          <p:nvPr/>
        </p:nvSpPr>
        <p:spPr>
          <a:xfrm>
            <a:off x="6353175" y="2209800"/>
            <a:ext cx="990600" cy="0"/>
          </a:xfrm>
          <a:prstGeom prst="line">
            <a:avLst/>
          </a:prstGeom>
          <a:noFill/>
          <a:ln w="15240">
            <a:solidFill>
              <a:srgbClr val="C8972C"/>
            </a:solidFill>
            <a:prstDash val="solid"/>
          </a:ln>
        </p:spPr>
      </p:sp>
      <p:sp>
        <p:nvSpPr>
          <p:cNvPr id="13" name="course-title-line-1">
            <a:extLst>
              <a:ext uri="{FF2B5EF4-FFF2-40B4-BE49-F238E27FC236}">
                <a16:creationId xmlns:a16="http://schemas.microsoft.com/office/drawing/2014/main" id="{24A5C187-BE41-45B6-8BF3-A2878D2FD52B}"/>
              </a:ext>
            </a:extLst>
          </p:cNvPr>
          <p:cNvSpPr>
            <a:spLocks noGrp="1"/>
          </p:cNvSpPr>
          <p:nvPr/>
        </p:nvSpPr>
        <p:spPr>
          <a:xfrm>
            <a:off x="2362199" y="2633663"/>
            <a:ext cx="7467600" cy="523875"/>
          </a:xfrm>
          <a:prstGeom prst="rect">
            <a:avLst/>
          </a:prstGeom>
          <a:noFill/>
          <a:ln w="0">
            <a:noFill/>
            <a:prstDash val="solid"/>
          </a:ln>
        </p:spPr>
        <p:txBody>
          <a:bodyPr wrap="square" lIns="0" tIns="0" rIns="0" bIns="0" anchor="ctr">
            <a:normAutofit fontScale="90833" lnSpcReduction="10000"/>
          </a:bodyPr>
          <a:lstStyle/>
          <a:p>
            <a:pPr algn="ctr">
              <a:buNone/>
              <a:defRPr sz="4125" b="1">
                <a:solidFill>
                  <a:srgbClr val="0B3473"/>
                </a:solidFill>
                <a:latin typeface="Aptos Display"/>
                <a:ea typeface="Aptos Display"/>
                <a:cs typeface="Aptos Display"/>
              </a:defRPr>
            </a:pPr>
            <a:r>
              <a:rPr sz="4125" b="1">
                <a:solidFill>
                  <a:srgbClr val="0B3473"/>
                </a:solidFill>
                <a:latin typeface="Aptos Display"/>
                <a:ea typeface="Aptos Display"/>
                <a:cs typeface="Aptos Display"/>
              </a:rPr>
              <a:t>LENGUAJES Y AUTOMATAS II</a:t>
            </a:r>
          </a:p>
        </p:txBody>
      </p:sp>
      <p:sp>
        <p:nvSpPr>
          <p:cNvPr id="15" name="activity-left-trace-1">
            <a:extLst>
              <a:ext uri="{FF2B5EF4-FFF2-40B4-BE49-F238E27FC236}">
                <a16:creationId xmlns:a16="http://schemas.microsoft.com/office/drawing/2014/main" id="{7D063C37-CCC4-4D1E-800C-E1EC27DFD060}"/>
              </a:ext>
            </a:extLst>
          </p:cNvPr>
          <p:cNvSpPr>
            <a:spLocks noGrp="1"/>
          </p:cNvSpPr>
          <p:nvPr/>
        </p:nvSpPr>
        <p:spPr>
          <a:xfrm>
            <a:off x="2038350" y="3771900"/>
            <a:ext cx="514350" cy="0"/>
          </a:xfrm>
          <a:prstGeom prst="line">
            <a:avLst/>
          </a:prstGeom>
          <a:noFill/>
          <a:ln w="13335">
            <a:solidFill>
              <a:srgbClr val="2862AA"/>
            </a:solidFill>
            <a:prstDash val="solid"/>
          </a:ln>
        </p:spPr>
      </p:sp>
      <p:sp>
        <p:nvSpPr>
          <p:cNvPr id="16" name="activity-left-trace-2">
            <a:extLst>
              <a:ext uri="{FF2B5EF4-FFF2-40B4-BE49-F238E27FC236}">
                <a16:creationId xmlns:a16="http://schemas.microsoft.com/office/drawing/2014/main" id="{3CFD8881-ED44-45BD-9DF0-783461E898DA}"/>
              </a:ext>
            </a:extLst>
          </p:cNvPr>
          <p:cNvSpPr>
            <a:spLocks noGrp="1"/>
          </p:cNvSpPr>
          <p:nvPr/>
        </p:nvSpPr>
        <p:spPr>
          <a:xfrm>
            <a:off x="2552700" y="3676650"/>
            <a:ext cx="0" cy="95250"/>
          </a:xfrm>
          <a:prstGeom prst="line">
            <a:avLst/>
          </a:prstGeom>
          <a:noFill/>
          <a:ln w="13335">
            <a:solidFill>
              <a:srgbClr val="2862AA"/>
            </a:solidFill>
            <a:prstDash val="solid"/>
          </a:ln>
        </p:spPr>
      </p:sp>
      <p:sp>
        <p:nvSpPr>
          <p:cNvPr id="17" name="activity-left-trace-3">
            <a:extLst>
              <a:ext uri="{FF2B5EF4-FFF2-40B4-BE49-F238E27FC236}">
                <a16:creationId xmlns:a16="http://schemas.microsoft.com/office/drawing/2014/main" id="{40CE4708-D5C7-40D2-BE07-C709D6A81A4E}"/>
              </a:ext>
            </a:extLst>
          </p:cNvPr>
          <p:cNvSpPr>
            <a:spLocks noGrp="1"/>
          </p:cNvSpPr>
          <p:nvPr/>
        </p:nvSpPr>
        <p:spPr>
          <a:xfrm>
            <a:off x="2552700" y="3676650"/>
            <a:ext cx="514350" cy="0"/>
          </a:xfrm>
          <a:prstGeom prst="line">
            <a:avLst/>
          </a:prstGeom>
          <a:noFill/>
          <a:ln w="13335">
            <a:solidFill>
              <a:srgbClr val="2862AA"/>
            </a:solidFill>
            <a:prstDash val="solid"/>
          </a:ln>
        </p:spPr>
      </p:sp>
      <p:sp>
        <p:nvSpPr>
          <p:cNvPr id="18" name="activity-left-node">
            <a:extLst>
              <a:ext uri="{FF2B5EF4-FFF2-40B4-BE49-F238E27FC236}">
                <a16:creationId xmlns:a16="http://schemas.microsoft.com/office/drawing/2014/main" id="{61DC4950-E910-4AA5-840B-B61E8D5D8C11}"/>
              </a:ext>
            </a:extLst>
          </p:cNvPr>
          <p:cNvSpPr>
            <a:spLocks noGrp="1"/>
          </p:cNvSpPr>
          <p:nvPr/>
        </p:nvSpPr>
        <p:spPr>
          <a:xfrm>
            <a:off x="3086100" y="3638550"/>
            <a:ext cx="85725" cy="85725"/>
          </a:xfrm>
          <a:prstGeom prst="ellipse">
            <a:avLst/>
          </a:prstGeom>
          <a:solidFill>
            <a:srgbClr val="FFFFFF"/>
          </a:solidFill>
          <a:ln w="14288">
            <a:solidFill>
              <a:srgbClr val="C8972C"/>
            </a:solidFill>
            <a:prstDash val="solid"/>
          </a:ln>
        </p:spPr>
      </p:sp>
      <p:sp>
        <p:nvSpPr>
          <p:cNvPr id="19" name="activity-right-node">
            <a:extLst>
              <a:ext uri="{FF2B5EF4-FFF2-40B4-BE49-F238E27FC236}">
                <a16:creationId xmlns:a16="http://schemas.microsoft.com/office/drawing/2014/main" id="{825A2979-FD3A-4780-A5BF-2B891AF31213}"/>
              </a:ext>
            </a:extLst>
          </p:cNvPr>
          <p:cNvSpPr>
            <a:spLocks noGrp="1"/>
          </p:cNvSpPr>
          <p:nvPr/>
        </p:nvSpPr>
        <p:spPr>
          <a:xfrm>
            <a:off x="9020175" y="3638550"/>
            <a:ext cx="85725" cy="85725"/>
          </a:xfrm>
          <a:prstGeom prst="ellipse">
            <a:avLst/>
          </a:prstGeom>
          <a:solidFill>
            <a:srgbClr val="FFFFFF"/>
          </a:solidFill>
          <a:ln w="14288">
            <a:solidFill>
              <a:srgbClr val="C8972C"/>
            </a:solidFill>
            <a:prstDash val="solid"/>
          </a:ln>
        </p:spPr>
      </p:sp>
      <p:sp>
        <p:nvSpPr>
          <p:cNvPr id="20" name="activity-right-trace-1">
            <a:extLst>
              <a:ext uri="{FF2B5EF4-FFF2-40B4-BE49-F238E27FC236}">
                <a16:creationId xmlns:a16="http://schemas.microsoft.com/office/drawing/2014/main" id="{38B16BE7-5C8D-4EAB-B2EE-18E787DD60AA}"/>
              </a:ext>
            </a:extLst>
          </p:cNvPr>
          <p:cNvSpPr>
            <a:spLocks noGrp="1"/>
          </p:cNvSpPr>
          <p:nvPr/>
        </p:nvSpPr>
        <p:spPr>
          <a:xfrm>
            <a:off x="9105900" y="3676650"/>
            <a:ext cx="514350" cy="0"/>
          </a:xfrm>
          <a:prstGeom prst="line">
            <a:avLst/>
          </a:prstGeom>
          <a:noFill/>
          <a:ln w="13335">
            <a:solidFill>
              <a:srgbClr val="2862AA"/>
            </a:solidFill>
            <a:prstDash val="solid"/>
          </a:ln>
        </p:spPr>
      </p:sp>
      <p:sp>
        <p:nvSpPr>
          <p:cNvPr id="21" name="activity-right-trace-2">
            <a:extLst>
              <a:ext uri="{FF2B5EF4-FFF2-40B4-BE49-F238E27FC236}">
                <a16:creationId xmlns:a16="http://schemas.microsoft.com/office/drawing/2014/main" id="{B0073C7F-4C58-47DE-BB0A-AFC31EDFE384}"/>
              </a:ext>
            </a:extLst>
          </p:cNvPr>
          <p:cNvSpPr>
            <a:spLocks noGrp="1"/>
          </p:cNvSpPr>
          <p:nvPr/>
        </p:nvSpPr>
        <p:spPr>
          <a:xfrm>
            <a:off x="9620250" y="3676650"/>
            <a:ext cx="0" cy="95250"/>
          </a:xfrm>
          <a:prstGeom prst="line">
            <a:avLst/>
          </a:prstGeom>
          <a:noFill/>
          <a:ln w="13335">
            <a:solidFill>
              <a:srgbClr val="2862AA"/>
            </a:solidFill>
            <a:prstDash val="solid"/>
          </a:ln>
        </p:spPr>
      </p:sp>
      <p:sp>
        <p:nvSpPr>
          <p:cNvPr id="22" name="activity-right-trace-3">
            <a:extLst>
              <a:ext uri="{FF2B5EF4-FFF2-40B4-BE49-F238E27FC236}">
                <a16:creationId xmlns:a16="http://schemas.microsoft.com/office/drawing/2014/main" id="{0A4D59B6-4962-4FEF-A21B-2AF53EF32F99}"/>
              </a:ext>
            </a:extLst>
          </p:cNvPr>
          <p:cNvSpPr>
            <a:spLocks noGrp="1"/>
          </p:cNvSpPr>
          <p:nvPr/>
        </p:nvSpPr>
        <p:spPr>
          <a:xfrm>
            <a:off x="9620250" y="3771900"/>
            <a:ext cx="514350" cy="0"/>
          </a:xfrm>
          <a:prstGeom prst="line">
            <a:avLst/>
          </a:prstGeom>
          <a:noFill/>
          <a:ln w="13335">
            <a:solidFill>
              <a:srgbClr val="2862AA"/>
            </a:solidFill>
            <a:prstDash val="solid"/>
          </a:ln>
        </p:spPr>
      </p:sp>
      <p:sp>
        <p:nvSpPr>
          <p:cNvPr id="23" name="activity-title">
            <a:extLst>
              <a:ext uri="{FF2B5EF4-FFF2-40B4-BE49-F238E27FC236}">
                <a16:creationId xmlns:a16="http://schemas.microsoft.com/office/drawing/2014/main" id="{F746EC2E-9743-49CF-891C-11DBE19DF422}"/>
              </a:ext>
            </a:extLst>
          </p:cNvPr>
          <p:cNvSpPr>
            <a:spLocks noGrp="1"/>
          </p:cNvSpPr>
          <p:nvPr/>
        </p:nvSpPr>
        <p:spPr>
          <a:xfrm>
            <a:off x="3238500" y="3581400"/>
            <a:ext cx="5715000" cy="381000"/>
          </a:xfrm>
          <a:prstGeom prst="rect">
            <a:avLst/>
          </a:prstGeom>
          <a:noFill/>
          <a:ln w="0">
            <a:noFill/>
            <a:prstDash val="solid"/>
          </a:ln>
        </p:spPr>
        <p:txBody>
          <a:bodyPr wrap="square" lIns="0" tIns="0" rIns="0" bIns="0" anchor="ctr">
            <a:normAutofit fontScale="99498"/>
          </a:bodyPr>
          <a:lstStyle/>
          <a:p>
            <a:pPr algn="ctr">
              <a:buNone/>
              <a:defRPr sz="1875" b="1">
                <a:solidFill>
                  <a:srgbClr val="2862AA"/>
                </a:solidFill>
                <a:latin typeface="Aptos Display"/>
                <a:ea typeface="Aptos Display"/>
                <a:cs typeface="Aptos Display"/>
              </a:defRPr>
            </a:pPr>
            <a:r>
              <a:rPr sz="1875" b="1" dirty="0">
                <a:solidFill>
                  <a:srgbClr val="2862AA"/>
                </a:solidFill>
                <a:latin typeface="Aptos Display"/>
                <a:ea typeface="Aptos Display"/>
                <a:cs typeface="Aptos Display"/>
              </a:rPr>
              <a:t>ACTIVIDAD </a:t>
            </a:r>
            <a:r>
              <a:rPr lang="es-MX" sz="1875" b="1" dirty="0">
                <a:solidFill>
                  <a:srgbClr val="2862AA"/>
                </a:solidFill>
                <a:latin typeface="Aptos Display"/>
                <a:ea typeface="Aptos Display"/>
                <a:cs typeface="Aptos Display"/>
              </a:rPr>
              <a:t>2</a:t>
            </a:r>
            <a:r>
              <a:rPr sz="1875" b="1" dirty="0">
                <a:solidFill>
                  <a:srgbClr val="2862AA"/>
                </a:solidFill>
                <a:latin typeface="Aptos Display"/>
                <a:ea typeface="Aptos Display"/>
                <a:cs typeface="Aptos Display"/>
              </a:rPr>
              <a:t>.</a:t>
            </a:r>
            <a:r>
              <a:rPr lang="es-MX" sz="1875" b="1" dirty="0">
                <a:solidFill>
                  <a:srgbClr val="2862AA"/>
                </a:solidFill>
                <a:latin typeface="Aptos Display"/>
                <a:ea typeface="Aptos Display"/>
                <a:cs typeface="Aptos Display"/>
              </a:rPr>
              <a:t>3</a:t>
            </a:r>
            <a:r>
              <a:rPr sz="1875" b="1" dirty="0">
                <a:solidFill>
                  <a:srgbClr val="2862AA"/>
                </a:solidFill>
                <a:latin typeface="Aptos Display"/>
                <a:ea typeface="Aptos Display"/>
                <a:cs typeface="Aptos Display"/>
              </a:rPr>
              <a:t> — </a:t>
            </a:r>
            <a:r>
              <a:rPr lang="es-MX" sz="1875" dirty="0">
                <a:solidFill>
                  <a:srgbClr val="212529"/>
                </a:solidFill>
                <a:latin typeface="-apple-system"/>
                <a:ea typeface="Aptos Display"/>
                <a:cs typeface="Aptos Display"/>
              </a:rPr>
              <a:t>BANCO DE EJERCICIOS</a:t>
            </a:r>
            <a:endParaRPr b="0" i="0" dirty="0">
              <a:solidFill>
                <a:srgbClr val="212529"/>
              </a:solidFill>
              <a:latin typeface="-apple-system"/>
              <a:ea typeface="-apple-system"/>
              <a:cs typeface="-apple-system"/>
            </a:endParaRPr>
          </a:p>
          <a:p>
            <a:pPr algn="ctr">
              <a:buNone/>
              <a:defRPr sz="1875" b="1">
                <a:solidFill>
                  <a:srgbClr val="2862AA"/>
                </a:solidFill>
                <a:latin typeface="Aptos Display"/>
                <a:ea typeface="Aptos Display"/>
                <a:cs typeface="Aptos Display"/>
              </a:defRPr>
            </a:pPr>
            <a:endParaRPr sz="1875" b="1" dirty="0">
              <a:solidFill>
                <a:srgbClr val="2862AA"/>
              </a:solidFill>
              <a:latin typeface="Aptos Display"/>
              <a:ea typeface="Aptos Display"/>
              <a:cs typeface="Aptos Display"/>
            </a:endParaRPr>
          </a:p>
        </p:txBody>
      </p:sp>
      <p:sp>
        <p:nvSpPr>
          <p:cNvPr id="24" name="students-heading">
            <a:extLst>
              <a:ext uri="{FF2B5EF4-FFF2-40B4-BE49-F238E27FC236}">
                <a16:creationId xmlns:a16="http://schemas.microsoft.com/office/drawing/2014/main" id="{B3090DA1-DD45-4D5A-810A-68C80D1D5495}"/>
              </a:ext>
            </a:extLst>
          </p:cNvPr>
          <p:cNvSpPr>
            <a:spLocks noGrp="1"/>
          </p:cNvSpPr>
          <p:nvPr/>
        </p:nvSpPr>
        <p:spPr>
          <a:xfrm>
            <a:off x="2857500" y="4143375"/>
            <a:ext cx="4667250" cy="219075"/>
          </a:xfrm>
          <a:prstGeom prst="rect">
            <a:avLst/>
          </a:prstGeom>
          <a:noFill/>
          <a:ln w="0">
            <a:noFill/>
            <a:prstDash val="solid"/>
          </a:ln>
        </p:spPr>
        <p:txBody>
          <a:bodyPr wrap="square" lIns="0" tIns="0" rIns="0" bIns="0" anchor="ctr">
            <a:normAutofit/>
          </a:bodyPr>
          <a:lstStyle/>
          <a:p>
            <a:pPr algn="l">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PRESENTA</a:t>
            </a:r>
          </a:p>
        </p:txBody>
      </p:sp>
      <p:sp>
        <p:nvSpPr>
          <p:cNvPr id="25" name="enrollment-heading">
            <a:extLst>
              <a:ext uri="{FF2B5EF4-FFF2-40B4-BE49-F238E27FC236}">
                <a16:creationId xmlns:a16="http://schemas.microsoft.com/office/drawing/2014/main" id="{8497282D-0F32-46CC-9BD6-A908719C1476}"/>
              </a:ext>
            </a:extLst>
          </p:cNvPr>
          <p:cNvSpPr>
            <a:spLocks noGrp="1"/>
          </p:cNvSpPr>
          <p:nvPr/>
        </p:nvSpPr>
        <p:spPr>
          <a:xfrm>
            <a:off x="7715250" y="4143375"/>
            <a:ext cx="1619250" cy="219075"/>
          </a:xfrm>
          <a:prstGeom prst="rect">
            <a:avLst/>
          </a:prstGeom>
          <a:noFill/>
          <a:ln w="0">
            <a:noFill/>
            <a:prstDash val="solid"/>
          </a:ln>
        </p:spPr>
        <p:txBody>
          <a:bodyPr wrap="square" lIns="0" tIns="0" rIns="0" bIns="0" anchor="ctr">
            <a:normAutofit/>
          </a:bodyPr>
          <a:lstStyle/>
          <a:p>
            <a:pPr algn="r">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MATRÍCULA</a:t>
            </a:r>
          </a:p>
        </p:txBody>
      </p:sp>
      <p:sp>
        <p:nvSpPr>
          <p:cNvPr id="26" name="students-top-rule">
            <a:extLst>
              <a:ext uri="{FF2B5EF4-FFF2-40B4-BE49-F238E27FC236}">
                <a16:creationId xmlns:a16="http://schemas.microsoft.com/office/drawing/2014/main" id="{A7922C15-D34B-4B95-9915-A3A8D77C7F79}"/>
              </a:ext>
            </a:extLst>
          </p:cNvPr>
          <p:cNvSpPr>
            <a:spLocks noGrp="1"/>
          </p:cNvSpPr>
          <p:nvPr/>
        </p:nvSpPr>
        <p:spPr>
          <a:xfrm>
            <a:off x="2857500" y="4381500"/>
            <a:ext cx="6477000" cy="0"/>
          </a:xfrm>
          <a:prstGeom prst="line">
            <a:avLst/>
          </a:prstGeom>
          <a:noFill/>
          <a:ln w="14288">
            <a:solidFill>
              <a:srgbClr val="0B3473"/>
            </a:solidFill>
            <a:prstDash val="solid"/>
          </a:ln>
        </p:spPr>
      </p:sp>
      <p:sp>
        <p:nvSpPr>
          <p:cNvPr id="28" name="students-row-divider">
            <a:extLst>
              <a:ext uri="{FF2B5EF4-FFF2-40B4-BE49-F238E27FC236}">
                <a16:creationId xmlns:a16="http://schemas.microsoft.com/office/drawing/2014/main" id="{0EBB92DB-59C3-4BDC-99A0-F2F4D93B78A4}"/>
              </a:ext>
            </a:extLst>
          </p:cNvPr>
          <p:cNvSpPr>
            <a:spLocks noGrp="1"/>
          </p:cNvSpPr>
          <p:nvPr/>
        </p:nvSpPr>
        <p:spPr>
          <a:xfrm>
            <a:off x="2857500" y="4800600"/>
            <a:ext cx="6477000" cy="0"/>
          </a:xfrm>
          <a:prstGeom prst="line">
            <a:avLst/>
          </a:prstGeom>
          <a:noFill/>
          <a:ln w="9525">
            <a:solidFill>
              <a:srgbClr val="DCEBFA"/>
            </a:solidFill>
            <a:prstDash val="solid"/>
          </a:ln>
        </p:spPr>
      </p:sp>
      <p:sp>
        <p:nvSpPr>
          <p:cNvPr id="29" name="students-column-divider">
            <a:extLst>
              <a:ext uri="{FF2B5EF4-FFF2-40B4-BE49-F238E27FC236}">
                <a16:creationId xmlns:a16="http://schemas.microsoft.com/office/drawing/2014/main" id="{D19BD447-A808-4FDA-A54C-331FE02FEA74}"/>
              </a:ext>
            </a:extLst>
          </p:cNvPr>
          <p:cNvSpPr>
            <a:spLocks noGrp="1"/>
          </p:cNvSpPr>
          <p:nvPr/>
        </p:nvSpPr>
        <p:spPr>
          <a:xfrm>
            <a:off x="7639050" y="4476750"/>
            <a:ext cx="0" cy="647700"/>
          </a:xfrm>
          <a:prstGeom prst="line">
            <a:avLst/>
          </a:prstGeom>
          <a:noFill/>
          <a:ln w="9525">
            <a:solidFill>
              <a:srgbClr val="9DB9DB"/>
            </a:solidFill>
            <a:prstDash val="solid"/>
          </a:ln>
        </p:spPr>
      </p:sp>
      <p:sp>
        <p:nvSpPr>
          <p:cNvPr id="30" name="student-row-one-marker">
            <a:extLst>
              <a:ext uri="{FF2B5EF4-FFF2-40B4-BE49-F238E27FC236}">
                <a16:creationId xmlns:a16="http://schemas.microsoft.com/office/drawing/2014/main" id="{4F497FA1-C313-4F3D-9493-840BF4D89598}"/>
              </a:ext>
            </a:extLst>
          </p:cNvPr>
          <p:cNvSpPr>
            <a:spLocks noGrp="1"/>
          </p:cNvSpPr>
          <p:nvPr/>
        </p:nvSpPr>
        <p:spPr>
          <a:xfrm>
            <a:off x="2876550" y="4486275"/>
            <a:ext cx="38100" cy="209550"/>
          </a:xfrm>
          <a:prstGeom prst="rect">
            <a:avLst/>
          </a:prstGeom>
          <a:solidFill>
            <a:srgbClr val="C8972C"/>
          </a:solidFill>
          <a:ln w="0">
            <a:noFill/>
            <a:prstDash val="solid"/>
          </a:ln>
        </p:spPr>
      </p:sp>
      <p:sp>
        <p:nvSpPr>
          <p:cNvPr id="34" name="student-two-name">
            <a:extLst>
              <a:ext uri="{FF2B5EF4-FFF2-40B4-BE49-F238E27FC236}">
                <a16:creationId xmlns:a16="http://schemas.microsoft.com/office/drawing/2014/main" id="{3EF7C761-CF7A-4E70-9E2B-16269734FC91}"/>
              </a:ext>
            </a:extLst>
          </p:cNvPr>
          <p:cNvSpPr>
            <a:spLocks noGrp="1"/>
          </p:cNvSpPr>
          <p:nvPr/>
        </p:nvSpPr>
        <p:spPr>
          <a:xfrm>
            <a:off x="3056554" y="4467225"/>
            <a:ext cx="4333875" cy="266700"/>
          </a:xfrm>
          <a:prstGeom prst="rect">
            <a:avLst/>
          </a:prstGeom>
          <a:noFill/>
          <a:ln w="0">
            <a:noFill/>
            <a:prstDash val="solid"/>
          </a:ln>
        </p:spPr>
        <p:txBody>
          <a:bodyPr wrap="square" lIns="0" tIns="0" rIns="0" bIns="0" anchor="ctr">
            <a:normAutofit/>
          </a:bodyPr>
          <a:lstStyle/>
          <a:p>
            <a:pPr algn="l">
              <a:buNone/>
              <a:defRPr sz="1500" b="0">
                <a:solidFill>
                  <a:srgbClr val="102B5C"/>
                </a:solidFill>
                <a:latin typeface="Aptos"/>
                <a:ea typeface="Aptos"/>
                <a:cs typeface="Aptos"/>
              </a:defRPr>
            </a:pPr>
            <a:r>
              <a:rPr sz="1500" b="0">
                <a:solidFill>
                  <a:srgbClr val="102B5C"/>
                </a:solidFill>
                <a:latin typeface="Aptos"/>
                <a:ea typeface="Aptos"/>
                <a:cs typeface="Aptos"/>
              </a:rPr>
              <a:t>Amaury Jahaziel Gordillo Hernández</a:t>
            </a:r>
          </a:p>
        </p:txBody>
      </p:sp>
      <p:sp>
        <p:nvSpPr>
          <p:cNvPr id="35" name="student-two-id">
            <a:extLst>
              <a:ext uri="{FF2B5EF4-FFF2-40B4-BE49-F238E27FC236}">
                <a16:creationId xmlns:a16="http://schemas.microsoft.com/office/drawing/2014/main" id="{05E44B11-B863-4ECE-A2F6-C9964031DF71}"/>
              </a:ext>
            </a:extLst>
          </p:cNvPr>
          <p:cNvSpPr>
            <a:spLocks noGrp="1"/>
          </p:cNvSpPr>
          <p:nvPr/>
        </p:nvSpPr>
        <p:spPr>
          <a:xfrm>
            <a:off x="7791450" y="4438649"/>
            <a:ext cx="1524000" cy="266700"/>
          </a:xfrm>
          <a:prstGeom prst="rect">
            <a:avLst/>
          </a:prstGeom>
          <a:noFill/>
          <a:ln w="0">
            <a:noFill/>
            <a:prstDash val="solid"/>
          </a:ln>
        </p:spPr>
        <p:txBody>
          <a:bodyPr wrap="square" lIns="0" tIns="0" rIns="0" bIns="0" anchor="ctr">
            <a:normAutofit/>
          </a:bodyPr>
          <a:lstStyle/>
          <a:p>
            <a:pPr algn="r">
              <a:buNone/>
              <a:defRPr sz="1425" b="0">
                <a:solidFill>
                  <a:srgbClr val="102B5C"/>
                </a:solidFill>
                <a:latin typeface="Aptos"/>
                <a:ea typeface="Aptos"/>
                <a:cs typeface="Aptos"/>
              </a:defRPr>
            </a:pPr>
            <a:r>
              <a:rPr sz="1425" b="0">
                <a:solidFill>
                  <a:srgbClr val="102B5C"/>
                </a:solidFill>
                <a:latin typeface="Aptos"/>
                <a:ea typeface="Aptos"/>
                <a:cs typeface="Aptos"/>
              </a:rPr>
              <a:t>231260074</a:t>
            </a:r>
          </a:p>
        </p:txBody>
      </p:sp>
      <p:sp>
        <p:nvSpPr>
          <p:cNvPr id="36" name="teacher-heading">
            <a:extLst>
              <a:ext uri="{FF2B5EF4-FFF2-40B4-BE49-F238E27FC236}">
                <a16:creationId xmlns:a16="http://schemas.microsoft.com/office/drawing/2014/main" id="{F388D88D-A3F7-4DA5-9D23-808A58C08C1E}"/>
              </a:ext>
            </a:extLst>
          </p:cNvPr>
          <p:cNvSpPr>
            <a:spLocks noGrp="1"/>
          </p:cNvSpPr>
          <p:nvPr/>
        </p:nvSpPr>
        <p:spPr>
          <a:xfrm>
            <a:off x="4191000" y="5467350"/>
            <a:ext cx="3810000" cy="219075"/>
          </a:xfrm>
          <a:prstGeom prst="rect">
            <a:avLst/>
          </a:prstGeom>
          <a:noFill/>
          <a:ln w="0">
            <a:noFill/>
            <a:prstDash val="solid"/>
          </a:ln>
        </p:spPr>
        <p:txBody>
          <a:bodyPr wrap="square" lIns="0" tIns="0" rIns="0" bIns="0" anchor="ctr">
            <a:normAutofit/>
          </a:bodyPr>
          <a:lstStyle/>
          <a:p>
            <a:pPr algn="ctr">
              <a:buNone/>
              <a:defRPr sz="1275" b="1">
                <a:solidFill>
                  <a:srgbClr val="55739E"/>
                </a:solidFill>
                <a:latin typeface="Aptos Display"/>
                <a:ea typeface="Aptos Display"/>
                <a:cs typeface="Aptos Display"/>
              </a:defRPr>
            </a:pPr>
            <a:r>
              <a:rPr sz="1275" b="1">
                <a:solidFill>
                  <a:srgbClr val="55739E"/>
                </a:solidFill>
                <a:latin typeface="Aptos Display"/>
                <a:ea typeface="Aptos Display"/>
                <a:cs typeface="Aptos Display"/>
              </a:rPr>
              <a:t>DOCENTE</a:t>
            </a:r>
          </a:p>
        </p:txBody>
      </p:sp>
      <p:sp>
        <p:nvSpPr>
          <p:cNvPr id="37" name="teacher-name">
            <a:extLst>
              <a:ext uri="{FF2B5EF4-FFF2-40B4-BE49-F238E27FC236}">
                <a16:creationId xmlns:a16="http://schemas.microsoft.com/office/drawing/2014/main" id="{AA678B21-6A90-4BCE-8092-FF0E0979DE5C}"/>
              </a:ext>
            </a:extLst>
          </p:cNvPr>
          <p:cNvSpPr>
            <a:spLocks noGrp="1"/>
          </p:cNvSpPr>
          <p:nvPr/>
        </p:nvSpPr>
        <p:spPr>
          <a:xfrm>
            <a:off x="2857500" y="5705475"/>
            <a:ext cx="6477000" cy="295275"/>
          </a:xfrm>
          <a:prstGeom prst="rect">
            <a:avLst/>
          </a:prstGeom>
          <a:noFill/>
          <a:ln w="0">
            <a:noFill/>
            <a:prstDash val="solid"/>
          </a:ln>
        </p:spPr>
        <p:txBody>
          <a:bodyPr wrap="square" lIns="0" tIns="0" rIns="0" bIns="0" anchor="ctr">
            <a:normAutofit/>
          </a:bodyPr>
          <a:lstStyle/>
          <a:p>
            <a:pPr algn="ctr">
              <a:buNone/>
            </a:pPr>
            <a:r>
              <a:rPr sz="1800" b="1">
                <a:latin typeface="Aptos Display"/>
                <a:ea typeface="Aptos Display"/>
                <a:cs typeface="Aptos Display"/>
              </a:rPr>
              <a:t>ING. FRANCISCO JAVIER MINGO VELAZQUEZ</a:t>
            </a:r>
            <a:endParaRPr sz="1800">
              <a:latin typeface="Arial"/>
              <a:ea typeface="Arial"/>
              <a:cs typeface="Arial"/>
            </a:endParaRPr>
          </a:p>
        </p:txBody>
      </p:sp>
      <p:sp>
        <p:nvSpPr>
          <p:cNvPr id="38" name="footer-rule">
            <a:extLst>
              <a:ext uri="{FF2B5EF4-FFF2-40B4-BE49-F238E27FC236}">
                <a16:creationId xmlns:a16="http://schemas.microsoft.com/office/drawing/2014/main" id="{7C40688F-E9E3-4093-9368-ADED90666EB5}"/>
              </a:ext>
            </a:extLst>
          </p:cNvPr>
          <p:cNvSpPr>
            <a:spLocks noGrp="1"/>
          </p:cNvSpPr>
          <p:nvPr/>
        </p:nvSpPr>
        <p:spPr>
          <a:xfrm>
            <a:off x="1943100" y="6191250"/>
            <a:ext cx="8305800" cy="0"/>
          </a:xfrm>
          <a:prstGeom prst="line">
            <a:avLst/>
          </a:prstGeom>
          <a:noFill/>
          <a:ln w="11430">
            <a:solidFill>
              <a:srgbClr val="9DB9DB"/>
            </a:solidFill>
            <a:prstDash val="solid"/>
          </a:ln>
        </p:spPr>
      </p:sp>
      <p:sp>
        <p:nvSpPr>
          <p:cNvPr id="39" name="footer-rule-accent">
            <a:extLst>
              <a:ext uri="{FF2B5EF4-FFF2-40B4-BE49-F238E27FC236}">
                <a16:creationId xmlns:a16="http://schemas.microsoft.com/office/drawing/2014/main" id="{AA9604F1-D818-4EDE-AFC0-507B4EE53347}"/>
              </a:ext>
            </a:extLst>
          </p:cNvPr>
          <p:cNvSpPr>
            <a:spLocks noGrp="1"/>
          </p:cNvSpPr>
          <p:nvPr/>
        </p:nvSpPr>
        <p:spPr>
          <a:xfrm>
            <a:off x="5829300" y="6172200"/>
            <a:ext cx="533400" cy="38100"/>
          </a:xfrm>
          <a:prstGeom prst="rect">
            <a:avLst/>
          </a:prstGeom>
          <a:solidFill>
            <a:srgbClr val="C8972C"/>
          </a:solidFill>
          <a:ln w="0">
            <a:noFill/>
            <a:prstDash val="solid"/>
          </a:ln>
        </p:spPr>
      </p:sp>
      <p:sp>
        <p:nvSpPr>
          <p:cNvPr id="40" name="date-location">
            <a:extLst>
              <a:ext uri="{FF2B5EF4-FFF2-40B4-BE49-F238E27FC236}">
                <a16:creationId xmlns:a16="http://schemas.microsoft.com/office/drawing/2014/main" id="{8EF49A72-4459-4AD1-9919-B580F4EB3D0A}"/>
              </a:ext>
            </a:extLst>
          </p:cNvPr>
          <p:cNvSpPr>
            <a:spLocks noGrp="1"/>
          </p:cNvSpPr>
          <p:nvPr/>
        </p:nvSpPr>
        <p:spPr>
          <a:xfrm>
            <a:off x="2476500" y="6372225"/>
            <a:ext cx="7239000" cy="228600"/>
          </a:xfrm>
          <a:prstGeom prst="rect">
            <a:avLst/>
          </a:prstGeom>
          <a:noFill/>
          <a:ln w="0">
            <a:noFill/>
            <a:prstDash val="solid"/>
          </a:ln>
        </p:spPr>
        <p:txBody>
          <a:bodyPr wrap="square" lIns="0" tIns="0" rIns="0" bIns="0" anchor="ctr">
            <a:normAutofit/>
          </a:bodyPr>
          <a:lstStyle/>
          <a:p>
            <a:pPr algn="ctr">
              <a:buNone/>
              <a:defRPr sz="1350" b="0">
                <a:solidFill>
                  <a:srgbClr val="0B3473"/>
                </a:solidFill>
                <a:latin typeface="Aptos"/>
                <a:ea typeface="Aptos"/>
                <a:cs typeface="Aptos"/>
              </a:defRPr>
            </a:pPr>
            <a:r>
              <a:rPr lang="es-MX" sz="1350" b="0" dirty="0">
                <a:solidFill>
                  <a:srgbClr val="0B3473"/>
                </a:solidFill>
                <a:latin typeface="Aptos"/>
                <a:ea typeface="Aptos"/>
                <a:cs typeface="Aptos"/>
              </a:rPr>
              <a:t>08 DE SEPTIEMBRE </a:t>
            </a:r>
            <a:r>
              <a:rPr sz="1350" b="0" dirty="0">
                <a:solidFill>
                  <a:srgbClr val="0B3473"/>
                </a:solidFill>
                <a:latin typeface="Aptos"/>
                <a:ea typeface="Aptos"/>
                <a:cs typeface="Aptos"/>
              </a:rPr>
              <a:t>DE 2026  ·  VENUSTIANO CARRANZA, CHIAPAS</a:t>
            </a:r>
          </a:p>
        </p:txBody>
      </p:sp>
      <p:pic>
        <p:nvPicPr>
          <p:cNvPr id="75" name="Imagen 41"/>
          <p:cNvPicPr>
            <a:picLocks noChangeAspect="1"/>
          </p:cNvPicPr>
          <p:nvPr/>
        </p:nvPicPr>
        <p:blipFill>
          <a:blip r:embed="rId4"/>
          <a:srcRect/>
          <a:stretch>
            <a:fillRect/>
          </a:stretch>
        </p:blipFill>
        <p:spPr>
          <a:xfrm>
            <a:off x="501576" y="128441"/>
            <a:ext cx="1834529" cy="809723"/>
          </a:xfrm>
          <a:prstGeom prst="rect">
            <a:avLst/>
          </a:prstGeom>
          <a:ln>
            <a:noFill/>
          </a:ln>
        </p:spPr>
      </p:pic>
      <p:pic>
        <p:nvPicPr>
          <p:cNvPr id="76" name="Imagen 42"/>
          <p:cNvPicPr>
            <a:picLocks noChangeAspect="1"/>
          </p:cNvPicPr>
          <p:nvPr/>
        </p:nvPicPr>
        <p:blipFill rotWithShape="1">
          <a:blip r:embed="rId5"/>
          <a:srcRect/>
          <a:stretch/>
        </p:blipFill>
        <p:spPr>
          <a:xfrm>
            <a:off x="10619686" y="11882"/>
            <a:ext cx="1289022" cy="926282"/>
          </a:xfrm>
          <a:prstGeom prst="rect">
            <a:avLst/>
          </a:prstGeom>
          <a:ln>
            <a:noFill/>
          </a:ln>
        </p:spPr>
      </p:pic>
      <p:sp>
        <p:nvSpPr>
          <p:cNvPr id="5" name="activity-left-node">
            <a:extLst>
              <a:ext uri="{FF2B5EF4-FFF2-40B4-BE49-F238E27FC236}">
                <a16:creationId xmlns:a16="http://schemas.microsoft.com/office/drawing/2014/main" id="{AB38A2EA-B133-B170-0BFA-9B5674F0137F}"/>
              </a:ext>
            </a:extLst>
          </p:cNvPr>
          <p:cNvSpPr>
            <a:spLocks noGrp="1"/>
          </p:cNvSpPr>
          <p:nvPr/>
        </p:nvSpPr>
        <p:spPr>
          <a:xfrm>
            <a:off x="6053137" y="2148500"/>
            <a:ext cx="85725" cy="85725"/>
          </a:xfrm>
          <a:prstGeom prst="ellipse">
            <a:avLst/>
          </a:prstGeom>
          <a:solidFill>
            <a:srgbClr val="FFFFFF"/>
          </a:solidFill>
          <a:ln w="14288">
            <a:solidFill>
              <a:srgbClr val="C8972C"/>
            </a:solidFill>
            <a:prstDash val="solid"/>
          </a:ln>
        </p:spPr>
      </p:sp>
    </p:spTree>
    <p:extLst>
      <p:ext uri="{BB962C8B-B14F-4D97-AF65-F5344CB8AC3E}">
        <p14:creationId xmlns:p14="http://schemas.microsoft.com/office/powerpoint/2010/main" val="1524056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Introducción</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789920" cy="4480560"/>
          </a:xfrm>
          <a:prstGeom prst="rect">
            <a:avLst/>
          </a:prstGeom>
          <a:noFill/>
        </p:spPr>
        <p:txBody>
          <a:bodyPr wrap="square" lIns="73152" tIns="73152" rIns="73152" bIns="73152" anchor="t">
            <a:spAutoFit/>
          </a:bodyPr>
          <a:lstStyle/>
          <a:p>
            <a:pPr algn="l"/>
            <a:r>
              <a:rPr sz="1800" b="0" i="0">
                <a:solidFill>
                  <a:srgbClr val="313A39"/>
                </a:solidFill>
                <a:latin typeface="Aptos"/>
              </a:rPr>
              <a:t>El banco de ejercicios de la Actividad 2.3 se utilizó para reforzar la comprensión de las representaciones intermedias que aparecen durante el proceso de traducción de expresiones en un compilador.</a:t>
            </a:r>
          </a:p>
          <a:p>
            <a:pPr algn="l"/>
            <a:endParaRPr sz="1800" b="0" i="0">
              <a:solidFill>
                <a:srgbClr val="313A39"/>
              </a:solidFill>
              <a:latin typeface="Aptos"/>
            </a:endParaRPr>
          </a:p>
          <a:p>
            <a:pPr algn="l"/>
            <a:r>
              <a:rPr sz="1800" b="0" i="0">
                <a:solidFill>
                  <a:srgbClr val="313A39"/>
                </a:solidFill>
                <a:latin typeface="Aptos"/>
              </a:rPr>
              <a:t>A diferencia de la práctica 2.2, en esta parte se trabajó con una serie de ejercicios cortos y dirigidos, cada uno enfocado en una salida específica del analizador: notaciones, tres direcciones, triplos, cuádruplos, Código P y tabla de símbolos.</a:t>
            </a:r>
          </a:p>
          <a:p>
            <a:pPr algn="l"/>
            <a:endParaRPr sz="1800" b="0" i="0">
              <a:solidFill>
                <a:srgbClr val="313A39"/>
              </a:solidFill>
              <a:latin typeface="Aptos"/>
            </a:endParaRPr>
          </a:p>
          <a:p>
            <a:pPr algn="l"/>
            <a:r>
              <a:rPr sz="1800" b="0" i="0">
                <a:solidFill>
                  <a:srgbClr val="313A39"/>
                </a:solidFill>
                <a:latin typeface="Aptos"/>
              </a:rPr>
              <a:t>El propósito del reporte es concentrar las evidencias más útiles sin repetir capturas innecesarias, mostrando únicamente aquellas pantallas que permiten interpretar con claridad el funcionamiento de cada ejercicio.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Justificación de la actividad</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Razón académica y utilidad del ejercicio</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44752"/>
            <a:ext cx="10789920" cy="4617720"/>
          </a:xfrm>
          <a:prstGeom prst="rect">
            <a:avLst/>
          </a:prstGeom>
          <a:noFill/>
        </p:spPr>
        <p:txBody>
          <a:bodyPr wrap="square" lIns="73152" tIns="73152" rIns="73152" bIns="73152" anchor="t">
            <a:spAutoFit/>
          </a:bodyPr>
          <a:lstStyle/>
          <a:p>
            <a:pPr algn="l"/>
            <a:r>
              <a:rPr sz="1800" b="0" i="0">
                <a:solidFill>
                  <a:srgbClr val="313A39"/>
                </a:solidFill>
                <a:latin typeface="Aptos"/>
              </a:rPr>
              <a:t>La actividad se realizó para reconocer, de forma práctica, cómo una instrucción escrita en alto nivel puede descomponerse en pasos intermedios más sencillos y ordenados.</a:t>
            </a:r>
          </a:p>
          <a:p>
            <a:pPr algn="l"/>
            <a:endParaRPr sz="1800" b="0" i="0">
              <a:solidFill>
                <a:srgbClr val="313A39"/>
              </a:solidFill>
              <a:latin typeface="Aptos"/>
            </a:endParaRPr>
          </a:p>
          <a:p>
            <a:pPr algn="l"/>
            <a:r>
              <a:rPr sz="1800" b="0" i="0">
                <a:solidFill>
                  <a:srgbClr val="313A39"/>
                </a:solidFill>
                <a:latin typeface="Aptos"/>
              </a:rPr>
              <a:t>Trabajar con un banco de ejercicios permite comparar distintos casos: prioridad de operadores, uso de paréntesis, manejo de temporales, expresiones con números decimales, asignaciones consecutivas y tratamiento del signo negativo.</a:t>
            </a:r>
          </a:p>
          <a:p>
            <a:pPr algn="l"/>
            <a:endParaRPr sz="1800" b="0" i="0">
              <a:solidFill>
                <a:srgbClr val="313A39"/>
              </a:solidFill>
              <a:latin typeface="Aptos"/>
            </a:endParaRPr>
          </a:p>
          <a:p>
            <a:pPr algn="l"/>
            <a:r>
              <a:rPr sz="1800" b="0" i="0">
                <a:solidFill>
                  <a:srgbClr val="313A39"/>
                </a:solidFill>
                <a:latin typeface="Aptos"/>
              </a:rPr>
              <a:t>Este tipo de evidencias resulta útil porque no solo muestra el resultado final, sino también la forma en que el analizador organiza el proceso, lo cual sirve como base para temas posteriores como la optimización de código.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Desarrollo de la práctica</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Procedimiento seguido para obtener las evidencias</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212080" cy="3977639"/>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nicio de 2.3.png"/>
          <p:cNvPicPr>
            <a:picLocks noChangeAspect="1"/>
          </p:cNvPicPr>
          <p:nvPr/>
        </p:nvPicPr>
        <p:blipFill>
          <a:blip r:embed="rId2"/>
          <a:stretch>
            <a:fillRect/>
          </a:stretch>
        </p:blipFill>
        <p:spPr>
          <a:xfrm>
            <a:off x="731520" y="1940666"/>
            <a:ext cx="5212080" cy="2930945"/>
          </a:xfrm>
          <a:prstGeom prst="rect">
            <a:avLst/>
          </a:prstGeom>
        </p:spPr>
      </p:pic>
      <p:sp>
        <p:nvSpPr>
          <p:cNvPr id="7" name="TextBox 6"/>
          <p:cNvSpPr txBox="1"/>
          <p:nvPr/>
        </p:nvSpPr>
        <p:spPr>
          <a:xfrm>
            <a:off x="6309360" y="1508760"/>
            <a:ext cx="5029200" cy="4206240"/>
          </a:xfrm>
          <a:prstGeom prst="rect">
            <a:avLst/>
          </a:prstGeom>
          <a:noFill/>
        </p:spPr>
        <p:txBody>
          <a:bodyPr wrap="square">
            <a:spAutoFit/>
          </a:bodyPr>
          <a:lstStyle/>
          <a:p>
            <a:r>
              <a:rPr sz="1600" b="1">
                <a:solidFill>
                  <a:srgbClr val="335D55"/>
                </a:solidFill>
                <a:latin typeface="Aptos"/>
              </a:rPr>
              <a:t>Pasos realizados</a:t>
            </a:r>
          </a:p>
          <a:p>
            <a:pPr>
              <a:spcAft>
                <a:spcPts val="400"/>
              </a:spcAft>
            </a:pPr>
            <a:r>
              <a:rPr sz="1400">
                <a:solidFill>
                  <a:srgbClr val="313A39"/>
                </a:solidFill>
                <a:latin typeface="Aptos"/>
              </a:rPr>
              <a:t>Se abrió el analizador semántico y se seleccionó la sección U2 · Actividad 2.3.</a:t>
            </a:r>
          </a:p>
          <a:p>
            <a:pPr>
              <a:spcAft>
                <a:spcPts val="400"/>
              </a:spcAft>
            </a:pPr>
            <a:r>
              <a:rPr sz="1400">
                <a:solidFill>
                  <a:srgbClr val="313A39"/>
                </a:solidFill>
                <a:latin typeface="Aptos"/>
              </a:rPr>
              <a:t>Para cada ejercicio se ejecutó el botón “Analizar código” y se revisaron únicamente las pestañas que aportaban evidencia útil.</a:t>
            </a:r>
          </a:p>
          <a:p>
            <a:pPr>
              <a:spcAft>
                <a:spcPts val="400"/>
              </a:spcAft>
            </a:pPr>
            <a:r>
              <a:rPr sz="1400">
                <a:solidFill>
                  <a:srgbClr val="313A39"/>
                </a:solidFill>
                <a:latin typeface="Aptos"/>
              </a:rPr>
              <a:t>Con el fin de mantener el reporte compacto, se tomaron dos capturas por ejercicio.</a:t>
            </a:r>
          </a:p>
          <a:p>
            <a:pPr>
              <a:spcAft>
                <a:spcPts val="400"/>
              </a:spcAft>
            </a:pPr>
            <a:r>
              <a:rPr sz="1400">
                <a:solidFill>
                  <a:srgbClr val="313A39"/>
                </a:solidFill>
                <a:latin typeface="Aptos"/>
              </a:rPr>
              <a:t>Las imágenes incluidas corresponden a resultados reales del analizador y conservan el código fuente visible en la parte superior.</a:t>
            </a:r>
          </a:p>
        </p:txBody>
      </p:sp>
      <p:sp>
        <p:nvSpPr>
          <p:cNvPr id="8" name="TextBox 7"/>
          <p:cNvSpPr txBox="1"/>
          <p:nvPr/>
        </p:nvSpPr>
        <p:spPr>
          <a:xfrm>
            <a:off x="804672" y="5504688"/>
            <a:ext cx="10972800" cy="438912"/>
          </a:xfrm>
          <a:prstGeom prst="rect">
            <a:avLst/>
          </a:prstGeom>
          <a:noFill/>
        </p:spPr>
        <p:txBody>
          <a:bodyPr wrap="square" lIns="73152" tIns="73152" rIns="73152" bIns="73152" anchor="t">
            <a:spAutoFit/>
          </a:bodyPr>
          <a:lstStyle/>
          <a:p>
            <a:pPr algn="l"/>
            <a:r>
              <a:rPr sz="1050" b="0" i="1">
                <a:solidFill>
                  <a:srgbClr val="606D6B"/>
                </a:solidFill>
                <a:latin typeface="Aptos"/>
              </a:rPr>
              <a:t>La imagen muestra la interfaz empleada para cargar y analizar los ejercicios del banco.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1. Comparación de notaciones</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Este ejercicio comprueba que una misma expresión puede representarse de distintas maneras sin alterar su significado. La salida confirma que primero se procesa b * c y luego se suma el resultado a la variable a.</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ericio1-U2 #U00b7 Notaciones.png"/>
          <p:cNvPicPr>
            <a:picLocks noChangeAspect="1"/>
          </p:cNvPicPr>
          <p:nvPr/>
        </p:nvPicPr>
        <p:blipFill>
          <a:blip r:embed="rId2"/>
          <a:stretch>
            <a:fillRect/>
          </a:stretch>
        </p:blipFill>
        <p:spPr>
          <a:xfrm>
            <a:off x="1122048" y="1828800"/>
            <a:ext cx="4357870" cy="2450592"/>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ercicio1-U2 #U00b7 Tres direcciones.png"/>
          <p:cNvPicPr>
            <a:picLocks noChangeAspect="1"/>
          </p:cNvPicPr>
          <p:nvPr/>
        </p:nvPicPr>
        <p:blipFill>
          <a:blip r:embed="rId3"/>
          <a:stretch>
            <a:fillRect/>
          </a:stretch>
        </p:blipFill>
        <p:spPr>
          <a:xfrm>
            <a:off x="6236208" y="1984323"/>
            <a:ext cx="5230368" cy="2139544"/>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Notaciones: se observa la forma infija, prefija y postfija de la expresión r = a + b * c.</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el analizador separa primero la multiplicación y después la suma, respetando la precedencia.</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r = a + b * c.</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Este ejercicio comprueba que una misma expresión puede representarse de distintas maneras sin alterar su significado. La salida confirma que primero se procesa b * c y luego se suma el resultado a la variable 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2. Notación polaca y uso de paréntesis</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La evidencia muestra que los paréntesis modifican la prioridad natural de los operadores. El analizador conserva esa prioridad y genera una secuencia coherente de instrucciones intermedias.</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ercicio2-U2 #U00b7 Notaciones.png"/>
          <p:cNvPicPr>
            <a:picLocks noChangeAspect="1"/>
          </p:cNvPicPr>
          <p:nvPr/>
        </p:nvPicPr>
        <p:blipFill>
          <a:blip r:embed="rId2"/>
          <a:stretch>
            <a:fillRect/>
          </a:stretch>
        </p:blipFill>
        <p:spPr>
          <a:xfrm>
            <a:off x="1127898" y="1828800"/>
            <a:ext cx="4346171" cy="2450592"/>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ercicio2-U2 #U00b7 Tres direcciones.png"/>
          <p:cNvPicPr>
            <a:picLocks noChangeAspect="1"/>
          </p:cNvPicPr>
          <p:nvPr/>
        </p:nvPicPr>
        <p:blipFill>
          <a:blip r:embed="rId3"/>
          <a:stretch>
            <a:fillRect/>
          </a:stretch>
        </p:blipFill>
        <p:spPr>
          <a:xfrm>
            <a:off x="6236208" y="1942642"/>
            <a:ext cx="5230368" cy="2222906"/>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Notaciones: el cambio de orden provocado por los paréntesis se refleja en la notación generada por el sistema.</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primero se calcula a + b y después ese resultado se multiplica por c.</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r = (a + b) * c.</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La evidencia muestra que los paréntesis modifican la prioridad natural de los operadores. El analizador conserva esa prioridad y genera una secuencia coherente de instrucciones intermedias.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3. Generación de Código P</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El ejercicio permite relacionar la representación de pila con la secuencia de tres direcciones. Ambas salidas muestran el mismo proceso con enfoques distintos, lo que facilita comprender la etapa intermedia de traducción.</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3-U2 #U00b7 C#U00f3digo P.png"/>
          <p:cNvPicPr>
            <a:picLocks noChangeAspect="1"/>
          </p:cNvPicPr>
          <p:nvPr/>
        </p:nvPicPr>
        <p:blipFill>
          <a:blip r:embed="rId2"/>
          <a:stretch>
            <a:fillRect/>
          </a:stretch>
        </p:blipFill>
        <p:spPr>
          <a:xfrm>
            <a:off x="685800" y="1985707"/>
            <a:ext cx="5230368" cy="2136776"/>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3-U2 #U00b7 Tres direcciones.png"/>
          <p:cNvPicPr>
            <a:picLocks noChangeAspect="1"/>
          </p:cNvPicPr>
          <p:nvPr/>
        </p:nvPicPr>
        <p:blipFill>
          <a:blip r:embed="rId3"/>
          <a:stretch>
            <a:fillRect/>
          </a:stretch>
        </p:blipFill>
        <p:spPr>
          <a:xfrm>
            <a:off x="6236208" y="2128202"/>
            <a:ext cx="5230368" cy="1851787"/>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Código P: la expresión se convierte en instrucciones de pila como LOD, DIV, ADD y STO.</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se observa la división x / y, la suma con 7 y la asignación final a z.</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z = x / y + 7.</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El ejercicio permite relacionar la representación de pila con la secuencia de tres direcciones. Ambas salidas muestran el mismo proceso con enfoques distintos, lo que facilita comprender la etapa intermedia de traducción.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4. Representación mediante triplos</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Los triplos muestran la misma lógica de cálculo sin utilizar nombres temporales explícitos. Esta salida es útil para entender cómo se puede referenciar cada resultado intermedio por posición.</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4-U2 #U00b7 Triplos.png"/>
          <p:cNvPicPr>
            <a:picLocks noChangeAspect="1"/>
          </p:cNvPicPr>
          <p:nvPr/>
        </p:nvPicPr>
        <p:blipFill>
          <a:blip r:embed="rId2"/>
          <a:stretch>
            <a:fillRect/>
          </a:stretch>
        </p:blipFill>
        <p:spPr>
          <a:xfrm>
            <a:off x="993042" y="1828800"/>
            <a:ext cx="4615882" cy="2450592"/>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4-U2 #U00b7 Tres direcciones.png"/>
          <p:cNvPicPr>
            <a:picLocks noChangeAspect="1"/>
          </p:cNvPicPr>
          <p:nvPr/>
        </p:nvPicPr>
        <p:blipFill>
          <a:blip r:embed="rId3"/>
          <a:stretch>
            <a:fillRect/>
          </a:stretch>
        </p:blipFill>
        <p:spPr>
          <a:xfrm>
            <a:off x="6236208" y="1916465"/>
            <a:ext cx="5230368" cy="2275261"/>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Triplos: cada operación se identifica por índice y por referencias a resultados previos.</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se genera la multiplicación a * b y posteriormente la resta con c.</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r = a * b - c.</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Los triplos muestran la misma lógica de cálculo sin utilizar nombres temporales explícitos. Esta salida es útil para entender cómo se puede referenciar cada resultado intermedio por posición.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5. Construcción de cuádruplos</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Aquí se aprecia de manera directa la estructura clásica del cuádruplo. Esta salida ayuda a identificar qué operación se ejecuta, qué operandos intervienen y dónde se guarda el resultado generado.</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5-U2 #U00b7 Cu#U00e1druplos.png"/>
          <p:cNvPicPr>
            <a:picLocks noChangeAspect="1"/>
          </p:cNvPicPr>
          <p:nvPr/>
        </p:nvPicPr>
        <p:blipFill>
          <a:blip r:embed="rId2"/>
          <a:stretch>
            <a:fillRect/>
          </a:stretch>
        </p:blipFill>
        <p:spPr>
          <a:xfrm>
            <a:off x="685800" y="2067042"/>
            <a:ext cx="5230368" cy="1974107"/>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5-U2 #U00b7 Tres direcciones.png"/>
          <p:cNvPicPr>
            <a:picLocks noChangeAspect="1"/>
          </p:cNvPicPr>
          <p:nvPr/>
        </p:nvPicPr>
        <p:blipFill>
          <a:blip r:embed="rId3"/>
          <a:stretch>
            <a:fillRect/>
          </a:stretch>
        </p:blipFill>
        <p:spPr>
          <a:xfrm>
            <a:off x="6236208" y="1987577"/>
            <a:ext cx="5230368" cy="2133036"/>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Cuádruplos: se distinguen claramente operador, argumentos y resultado temporal.</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se calcula b / c y después se suma con a para obtener r.</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r = a + b / c.</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Aquí se aprecia de manera directa la estructura clásica del cuádruplo. Esta salida ayuda a identificar qué operación se ejecuta, qué operandos intervienen y dónde se guarda el resultado generado.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6. Temporales y precedencia de operadores</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La evidencia confirma que el analizador genera tantos temporales como sean necesarios para conservar el orden correcto de evaluación. Primero resuelve la multiplicación, luego la suma y finalmente la resta.</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6-U2 #U00b7 Tres direcciones.png"/>
          <p:cNvPicPr>
            <a:picLocks noChangeAspect="1"/>
          </p:cNvPicPr>
          <p:nvPr/>
        </p:nvPicPr>
        <p:blipFill>
          <a:blip r:embed="rId2"/>
          <a:stretch>
            <a:fillRect/>
          </a:stretch>
        </p:blipFill>
        <p:spPr>
          <a:xfrm>
            <a:off x="685800" y="1858681"/>
            <a:ext cx="5230368" cy="2390829"/>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6-U2 #U00b7 Cu#U00e1druplos.png"/>
          <p:cNvPicPr>
            <a:picLocks noChangeAspect="1"/>
          </p:cNvPicPr>
          <p:nvPr/>
        </p:nvPicPr>
        <p:blipFill>
          <a:blip r:embed="rId3"/>
          <a:stretch>
            <a:fillRect/>
          </a:stretch>
        </p:blipFill>
        <p:spPr>
          <a:xfrm>
            <a:off x="6236208" y="2126182"/>
            <a:ext cx="5230368" cy="1855827"/>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la expresión a + b * c - d se divide en varios pasos con temporales.</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Cuádruplos: se visualiza la misma secuencia intermedia mediante registros estructurados.</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r = a + b * c - d.</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La evidencia confirma que el analizador genera tantos temporales como sean necesarios para conservar el orden correcto de evaluación. Primero resuelve la multiplicación, luego la suma y finalmente la resta.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7. Asignaciones consecutivas</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Este ejercicio muestra que el analizador no solo descompone expresiones, sino que también actualiza correctamente el estado de las variables cuando existen reasignaciones. La tabla de símbolos confirma el resultado final obtenido.</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7-U2 #U00b7 Tres direcciones.png"/>
          <p:cNvPicPr>
            <a:picLocks noChangeAspect="1"/>
          </p:cNvPicPr>
          <p:nvPr/>
        </p:nvPicPr>
        <p:blipFill>
          <a:blip r:embed="rId2"/>
          <a:stretch>
            <a:fillRect/>
          </a:stretch>
        </p:blipFill>
        <p:spPr>
          <a:xfrm>
            <a:off x="685800" y="1893874"/>
            <a:ext cx="5230368" cy="2320443"/>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7-Tabla de s#U00edmbolos.png"/>
          <p:cNvPicPr>
            <a:picLocks noChangeAspect="1"/>
          </p:cNvPicPr>
          <p:nvPr/>
        </p:nvPicPr>
        <p:blipFill>
          <a:blip r:embed="rId3"/>
          <a:stretch>
            <a:fillRect/>
          </a:stretch>
        </p:blipFill>
        <p:spPr>
          <a:xfrm>
            <a:off x="6236208" y="2075521"/>
            <a:ext cx="5230368" cy="1957148"/>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se observa cómo la variable x cambia de valor antes de usarse en una nueva operación.</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Tabla de símbolos: se validan los valores finales de las variables declaradas durante el ejercicio.</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Expresiones analizadas: x = a + b; x = x * 3; y = x - a.</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Este ejercicio muestra que el analizador no solo descompone expresiones, sino que también actualiza correctamente el estado de las variables cuando existen reasignaciones. La tabla de símbolos confirma el resultado final obtenido.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8. Expresiones con tipo float</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La evidencia permite comprobar el tratamiento de datos decimales dentro del proceso intermedio. Además de traducir la expresión, el analizador mantiene la coherencia de tipos en la tabla de símbolos.</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8-U2 #U00b7 Tres direcciones.png"/>
          <p:cNvPicPr>
            <a:picLocks noChangeAspect="1"/>
          </p:cNvPicPr>
          <p:nvPr/>
        </p:nvPicPr>
        <p:blipFill>
          <a:blip r:embed="rId2"/>
          <a:stretch>
            <a:fillRect/>
          </a:stretch>
        </p:blipFill>
        <p:spPr>
          <a:xfrm>
            <a:off x="685800" y="2145591"/>
            <a:ext cx="5230368" cy="1817009"/>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8-Tabla de s#U00edmbolos.png"/>
          <p:cNvPicPr>
            <a:picLocks noChangeAspect="1"/>
          </p:cNvPicPr>
          <p:nvPr/>
        </p:nvPicPr>
        <p:blipFill>
          <a:blip r:embed="rId3"/>
          <a:stretch>
            <a:fillRect/>
          </a:stretch>
        </p:blipFill>
        <p:spPr>
          <a:xfrm>
            <a:off x="6236208" y="2257730"/>
            <a:ext cx="5230368" cy="1592731"/>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se procesa una expresión mixta con multiplicación y suma decimal.</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Tabla de símbolos: se verifica que la variable r se conserva como float junto con su valor calculado.</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r = a * b + 1.5.</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La evidencia permite comprobar el tratamiento de datos decimales dentro del proceso intermedio. Además de traducir la expresión, el analizador mantiene la coherencia de tipos en la tabla de símbolos.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9. Manejo del signo negativo</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Este ejercicio ayuda a distinguir el signo negativo como una operación unaria independiente. El analizador lo reconoce correctamente y lo integra al resto del cálculo sin alterar la precedencia de los demás operadores.</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9-U2 #U00b7 Cu#U00e1druplos.png"/>
          <p:cNvPicPr>
            <a:picLocks noChangeAspect="1"/>
          </p:cNvPicPr>
          <p:nvPr/>
        </p:nvPicPr>
        <p:blipFill>
          <a:blip r:embed="rId2"/>
          <a:stretch>
            <a:fillRect/>
          </a:stretch>
        </p:blipFill>
        <p:spPr>
          <a:xfrm>
            <a:off x="685800" y="2115268"/>
            <a:ext cx="5230368" cy="1877654"/>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9-U2 #U00b7 C#U00f3digo P.png"/>
          <p:cNvPicPr>
            <a:picLocks noChangeAspect="1"/>
          </p:cNvPicPr>
          <p:nvPr/>
        </p:nvPicPr>
        <p:blipFill>
          <a:blip r:embed="rId3"/>
          <a:stretch>
            <a:fillRect/>
          </a:stretch>
        </p:blipFill>
        <p:spPr>
          <a:xfrm>
            <a:off x="6236208" y="1885969"/>
            <a:ext cx="5230368" cy="2336253"/>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Cuádruplos: aparece una operación específica para representar el negativo aplicado a la variable a.</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Código P: se aprecia la traducción de la misma operación a instrucciones de pila.</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Expresión analizada: r = -a + b * 2.</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Este ejercicio ayuda a distinguir el signo negativo como una operación unaria independiente. El analizador lo reconoce correctamente y lo integra al resto del cálculo sin alterar la precedencia de los demás operadores.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Ejercicio 10. Ejercicio integrador de la unidad</a:t>
            </a:r>
          </a:p>
        </p:txBody>
      </p:sp>
      <p:sp>
        <p:nvSpPr>
          <p:cNvPr id="3" name="TextBox 2"/>
          <p:cNvSpPr txBox="1"/>
          <p:nvPr/>
        </p:nvSpPr>
        <p:spPr>
          <a:xfrm>
            <a:off x="502920" y="868680"/>
            <a:ext cx="7315200" cy="292608"/>
          </a:xfrm>
          <a:prstGeom prst="rect">
            <a:avLst/>
          </a:prstGeom>
          <a:noFill/>
        </p:spPr>
        <p:txBody>
          <a:bodyPr wrap="none">
            <a:spAutoFit/>
          </a:bodyPr>
          <a:lstStyle/>
          <a:p>
            <a:r>
              <a:rPr sz="1050">
                <a:solidFill>
                  <a:srgbClr val="606D6B"/>
                </a:solidFill>
                <a:latin typeface="Aptos"/>
              </a:rPr>
              <a:t>Evidencias seleccionadas del analizador</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16152"/>
            <a:ext cx="10881360" cy="502920"/>
          </a:xfrm>
          <a:prstGeom prst="rect">
            <a:avLst/>
          </a:prstGeom>
          <a:solidFill>
            <a:srgbClr val="EFF3F2"/>
          </a:solidFill>
          <a:ln>
            <a:solidFill>
              <a:srgbClr val="D5DCDA"/>
            </a:solidFill>
          </a:ln>
        </p:spPr>
        <p:txBody>
          <a:bodyPr wrap="square" lIns="73152" tIns="73152" rIns="73152" bIns="73152" anchor="t">
            <a:spAutoFit/>
          </a:bodyPr>
          <a:lstStyle/>
          <a:p>
            <a:pPr algn="l"/>
            <a:r>
              <a:rPr sz="1270" b="0" i="0">
                <a:solidFill>
                  <a:srgbClr val="313A39"/>
                </a:solidFill>
                <a:latin typeface="Aptos"/>
              </a:rPr>
              <a:t>En esta evidencia final se integran expresiones con paréntesis, tipos distintos, varias asignaciones y salidas. La tabla de símbolos y la traducción intermedia permiten verificar que todo el programa fue interpretado correctamente.</a:t>
            </a:r>
          </a:p>
        </p:txBody>
      </p:sp>
      <p:sp>
        <p:nvSpPr>
          <p:cNvPr id="6" name="Rounded Rectangle 5"/>
          <p:cNvSpPr/>
          <p:nvPr/>
        </p:nvSpPr>
        <p:spPr>
          <a:xfrm>
            <a:off x="685800"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j10-U2 #U00b7 Tres direcciones.png"/>
          <p:cNvPicPr>
            <a:picLocks noChangeAspect="1"/>
          </p:cNvPicPr>
          <p:nvPr/>
        </p:nvPicPr>
        <p:blipFill>
          <a:blip r:embed="rId2"/>
          <a:stretch>
            <a:fillRect/>
          </a:stretch>
        </p:blipFill>
        <p:spPr>
          <a:xfrm>
            <a:off x="1163968" y="1828800"/>
            <a:ext cx="4274031" cy="2450592"/>
          </a:xfrm>
          <a:prstGeom prst="rect">
            <a:avLst/>
          </a:prstGeom>
        </p:spPr>
      </p:pic>
      <p:sp>
        <p:nvSpPr>
          <p:cNvPr id="8" name="Rounded Rectangle 7"/>
          <p:cNvSpPr/>
          <p:nvPr/>
        </p:nvSpPr>
        <p:spPr>
          <a:xfrm>
            <a:off x="6236208" y="1828800"/>
            <a:ext cx="5230368" cy="2450592"/>
          </a:xfrm>
          <a:prstGeom prst="roundRect">
            <a:avLst/>
          </a:prstGeom>
          <a:solidFill>
            <a:srgbClr val="FFFFFF"/>
          </a:solidFill>
          <a:ln w="12700">
            <a:solidFill>
              <a:srgbClr val="D5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j10-Tabla de s#U00edmbolos.png"/>
          <p:cNvPicPr>
            <a:picLocks noChangeAspect="1"/>
          </p:cNvPicPr>
          <p:nvPr/>
        </p:nvPicPr>
        <p:blipFill>
          <a:blip r:embed="rId3"/>
          <a:stretch>
            <a:fillRect/>
          </a:stretch>
        </p:blipFill>
        <p:spPr>
          <a:xfrm>
            <a:off x="6273583" y="1828800"/>
            <a:ext cx="5155617" cy="2450592"/>
          </a:xfrm>
          <a:prstGeom prst="rect">
            <a:avLst/>
          </a:prstGeom>
        </p:spPr>
      </p:pic>
      <p:sp>
        <p:nvSpPr>
          <p:cNvPr id="10" name="TextBox 9"/>
          <p:cNvSpPr txBox="1"/>
          <p:nvPr/>
        </p:nvSpPr>
        <p:spPr>
          <a:xfrm>
            <a:off x="685800"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Tres direcciones: se observan varias operaciones encadenadas, conversiones y reasignaciones.</a:t>
            </a:r>
          </a:p>
        </p:txBody>
      </p:sp>
      <p:sp>
        <p:nvSpPr>
          <p:cNvPr id="11" name="TextBox 10"/>
          <p:cNvSpPr txBox="1"/>
          <p:nvPr/>
        </p:nvSpPr>
        <p:spPr>
          <a:xfrm>
            <a:off x="6236208" y="4325112"/>
            <a:ext cx="5230368" cy="822960"/>
          </a:xfrm>
          <a:prstGeom prst="rect">
            <a:avLst/>
          </a:prstGeom>
          <a:solidFill>
            <a:srgbClr val="FFFFFF"/>
          </a:solidFill>
          <a:ln>
            <a:solidFill>
              <a:srgbClr val="D5DCDA"/>
            </a:solidFill>
          </a:ln>
        </p:spPr>
        <p:txBody>
          <a:bodyPr wrap="square" lIns="73152" tIns="73152" rIns="73152" bIns="73152" anchor="t">
            <a:spAutoFit/>
          </a:bodyPr>
          <a:lstStyle/>
          <a:p>
            <a:pPr algn="l"/>
            <a:r>
              <a:rPr sz="1130" b="0" i="0">
                <a:solidFill>
                  <a:srgbClr val="313A39"/>
                </a:solidFill>
                <a:latin typeface="Aptos"/>
              </a:rPr>
              <a:t>Tabla de símbolos: se resumen los valores finales alcanzados por las variables del programa.</a:t>
            </a:r>
          </a:p>
        </p:txBody>
      </p:sp>
      <p:sp>
        <p:nvSpPr>
          <p:cNvPr id="12" name="TextBox 11"/>
          <p:cNvSpPr txBox="1"/>
          <p:nvPr/>
        </p:nvSpPr>
        <p:spPr>
          <a:xfrm>
            <a:off x="749808" y="5285232"/>
            <a:ext cx="10972800" cy="310896"/>
          </a:xfrm>
          <a:prstGeom prst="rect">
            <a:avLst/>
          </a:prstGeom>
          <a:noFill/>
        </p:spPr>
        <p:txBody>
          <a:bodyPr wrap="square" lIns="73152" tIns="73152" rIns="73152" bIns="73152" anchor="t">
            <a:spAutoFit/>
          </a:bodyPr>
          <a:lstStyle/>
          <a:p>
            <a:pPr algn="l"/>
            <a:r>
              <a:rPr sz="1100" b="1" i="0">
                <a:solidFill>
                  <a:srgbClr val="335D55"/>
                </a:solidFill>
                <a:latin typeface="Aptos"/>
              </a:rPr>
              <a:t>Expresiones analizadas: x = (a + b) / c; y = a - b * c + 6; x = x + 2.</a:t>
            </a:r>
          </a:p>
        </p:txBody>
      </p:sp>
      <p:sp>
        <p:nvSpPr>
          <p:cNvPr id="13" name="TextBox 12"/>
          <p:cNvSpPr txBox="1"/>
          <p:nvPr/>
        </p:nvSpPr>
        <p:spPr>
          <a:xfrm>
            <a:off x="749808" y="5596128"/>
            <a:ext cx="10972800" cy="694944"/>
          </a:xfrm>
          <a:prstGeom prst="rect">
            <a:avLst/>
          </a:prstGeom>
          <a:noFill/>
        </p:spPr>
        <p:txBody>
          <a:bodyPr wrap="square" lIns="73152" tIns="73152" rIns="73152" bIns="73152" anchor="t">
            <a:spAutoFit/>
          </a:bodyPr>
          <a:lstStyle/>
          <a:p>
            <a:pPr algn="l"/>
            <a:r>
              <a:rPr sz="1090" b="0" i="0">
                <a:solidFill>
                  <a:srgbClr val="313A39"/>
                </a:solidFill>
                <a:latin typeface="Aptos"/>
              </a:rPr>
              <a:t>Interpretación: En esta evidencia final se integran expresiones con paréntesis, tipos distintos, varias asignaciones y salidas. La tabla de símbolos y la traducción intermedia permiten verificar que todo el programa fue interpretado correctamente.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40080"/>
          </a:xfrm>
          <a:prstGeom prst="rect">
            <a:avLst/>
          </a:prstGeom>
          <a:noFill/>
        </p:spPr>
        <p:txBody>
          <a:bodyPr wrap="none">
            <a:spAutoFit/>
          </a:bodyPr>
          <a:lstStyle/>
          <a:p>
            <a:r>
              <a:rPr sz="2300" b="1">
                <a:solidFill>
                  <a:srgbClr val="1B3E39"/>
                </a:solidFill>
                <a:latin typeface="Aptos"/>
              </a:rPr>
              <a:t>Conclusión</a:t>
            </a: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789920" cy="2086725"/>
          </a:xfrm>
          <a:prstGeom prst="rect">
            <a:avLst/>
          </a:prstGeom>
          <a:noFill/>
        </p:spPr>
        <p:txBody>
          <a:bodyPr wrap="square" lIns="73152" tIns="73152" rIns="73152" bIns="73152" anchor="t">
            <a:spAutoFit/>
          </a:bodyPr>
          <a:lstStyle/>
          <a:p>
            <a:pPr algn="l"/>
            <a:r>
              <a:rPr sz="1800" b="0" i="0" dirty="0">
                <a:solidFill>
                  <a:srgbClr val="313A39"/>
                </a:solidFill>
                <a:latin typeface="Aptos"/>
              </a:rPr>
              <a:t>El banco de </a:t>
            </a:r>
            <a:r>
              <a:rPr sz="1800" b="0" i="0" dirty="0" err="1">
                <a:solidFill>
                  <a:srgbClr val="313A39"/>
                </a:solidFill>
                <a:latin typeface="Aptos"/>
              </a:rPr>
              <a:t>ejercicios</a:t>
            </a:r>
            <a:r>
              <a:rPr sz="1800" b="0" i="0" dirty="0">
                <a:solidFill>
                  <a:srgbClr val="313A39"/>
                </a:solidFill>
                <a:latin typeface="Aptos"/>
              </a:rPr>
              <a:t> 2.3 </a:t>
            </a:r>
            <a:r>
              <a:rPr sz="1800" b="0" i="0" dirty="0" err="1">
                <a:solidFill>
                  <a:srgbClr val="313A39"/>
                </a:solidFill>
                <a:latin typeface="Aptos"/>
              </a:rPr>
              <a:t>permitió</a:t>
            </a:r>
            <a:r>
              <a:rPr sz="1800" b="0" i="0" dirty="0">
                <a:solidFill>
                  <a:srgbClr val="313A39"/>
                </a:solidFill>
                <a:latin typeface="Aptos"/>
              </a:rPr>
              <a:t> </a:t>
            </a:r>
            <a:r>
              <a:rPr sz="1800" b="0" i="0" dirty="0" err="1">
                <a:solidFill>
                  <a:srgbClr val="313A39"/>
                </a:solidFill>
                <a:latin typeface="Aptos"/>
              </a:rPr>
              <a:t>comprobar</a:t>
            </a:r>
            <a:r>
              <a:rPr sz="1800" b="0" i="0" dirty="0">
                <a:solidFill>
                  <a:srgbClr val="313A39"/>
                </a:solidFill>
                <a:latin typeface="Aptos"/>
              </a:rPr>
              <a:t>, con </a:t>
            </a:r>
            <a:r>
              <a:rPr sz="1800" b="0" i="0" dirty="0" err="1">
                <a:solidFill>
                  <a:srgbClr val="313A39"/>
                </a:solidFill>
                <a:latin typeface="Aptos"/>
              </a:rPr>
              <a:t>ejemplos</a:t>
            </a:r>
            <a:r>
              <a:rPr sz="1800" b="0" i="0" dirty="0">
                <a:solidFill>
                  <a:srgbClr val="313A39"/>
                </a:solidFill>
                <a:latin typeface="Aptos"/>
              </a:rPr>
              <a:t> </a:t>
            </a:r>
            <a:r>
              <a:rPr sz="1800" b="0" i="0" dirty="0" err="1">
                <a:solidFill>
                  <a:srgbClr val="313A39"/>
                </a:solidFill>
                <a:latin typeface="Aptos"/>
              </a:rPr>
              <a:t>concretos</a:t>
            </a:r>
            <a:r>
              <a:rPr sz="1800" b="0" i="0" dirty="0">
                <a:solidFill>
                  <a:srgbClr val="313A39"/>
                </a:solidFill>
                <a:latin typeface="Aptos"/>
              </a:rPr>
              <a:t>, que </a:t>
            </a:r>
            <a:r>
              <a:rPr sz="1800" b="0" i="0" dirty="0" err="1">
                <a:solidFill>
                  <a:srgbClr val="313A39"/>
                </a:solidFill>
                <a:latin typeface="Aptos"/>
              </a:rPr>
              <a:t>el</a:t>
            </a:r>
            <a:r>
              <a:rPr sz="1800" b="0" i="0" dirty="0">
                <a:solidFill>
                  <a:srgbClr val="313A39"/>
                </a:solidFill>
                <a:latin typeface="Aptos"/>
              </a:rPr>
              <a:t> </a:t>
            </a:r>
            <a:r>
              <a:rPr sz="1800" b="0" i="0" dirty="0" err="1">
                <a:solidFill>
                  <a:srgbClr val="313A39"/>
                </a:solidFill>
                <a:latin typeface="Aptos"/>
              </a:rPr>
              <a:t>analizador</a:t>
            </a:r>
            <a:r>
              <a:rPr sz="1800" b="0" i="0" dirty="0">
                <a:solidFill>
                  <a:srgbClr val="313A39"/>
                </a:solidFill>
                <a:latin typeface="Aptos"/>
              </a:rPr>
              <a:t> </a:t>
            </a:r>
            <a:r>
              <a:rPr sz="1800" b="0" i="0" dirty="0" err="1">
                <a:solidFill>
                  <a:srgbClr val="313A39"/>
                </a:solidFill>
                <a:latin typeface="Aptos"/>
              </a:rPr>
              <a:t>semántico</a:t>
            </a:r>
            <a:r>
              <a:rPr sz="1800" b="0" i="0" dirty="0">
                <a:solidFill>
                  <a:srgbClr val="313A39"/>
                </a:solidFill>
                <a:latin typeface="Aptos"/>
              </a:rPr>
              <a:t> </a:t>
            </a:r>
            <a:r>
              <a:rPr sz="1800" b="0" i="0" dirty="0" err="1">
                <a:solidFill>
                  <a:srgbClr val="313A39"/>
                </a:solidFill>
                <a:latin typeface="Aptos"/>
              </a:rPr>
              <a:t>puede</a:t>
            </a:r>
            <a:r>
              <a:rPr sz="1800" b="0" i="0" dirty="0">
                <a:solidFill>
                  <a:srgbClr val="313A39"/>
                </a:solidFill>
                <a:latin typeface="Aptos"/>
              </a:rPr>
              <a:t> </a:t>
            </a:r>
            <a:r>
              <a:rPr sz="1800" b="0" i="0" dirty="0" err="1">
                <a:solidFill>
                  <a:srgbClr val="313A39"/>
                </a:solidFill>
                <a:latin typeface="Aptos"/>
              </a:rPr>
              <a:t>generar</a:t>
            </a:r>
            <a:r>
              <a:rPr sz="1800" b="0" i="0" dirty="0">
                <a:solidFill>
                  <a:srgbClr val="313A39"/>
                </a:solidFill>
                <a:latin typeface="Aptos"/>
              </a:rPr>
              <a:t> </a:t>
            </a:r>
            <a:r>
              <a:rPr sz="1800" b="0" i="0" dirty="0" err="1">
                <a:solidFill>
                  <a:srgbClr val="313A39"/>
                </a:solidFill>
                <a:latin typeface="Aptos"/>
              </a:rPr>
              <a:t>varias</a:t>
            </a:r>
            <a:r>
              <a:rPr sz="1800" b="0" i="0" dirty="0">
                <a:solidFill>
                  <a:srgbClr val="313A39"/>
                </a:solidFill>
                <a:latin typeface="Aptos"/>
              </a:rPr>
              <a:t> </a:t>
            </a:r>
            <a:r>
              <a:rPr sz="1800" b="0" i="0" dirty="0" err="1">
                <a:solidFill>
                  <a:srgbClr val="313A39"/>
                </a:solidFill>
                <a:latin typeface="Aptos"/>
              </a:rPr>
              <a:t>representaciones</a:t>
            </a:r>
            <a:r>
              <a:rPr sz="1800" b="0" i="0" dirty="0">
                <a:solidFill>
                  <a:srgbClr val="313A39"/>
                </a:solidFill>
                <a:latin typeface="Aptos"/>
              </a:rPr>
              <a:t> </a:t>
            </a:r>
            <a:r>
              <a:rPr sz="1800" b="0" i="0" dirty="0" err="1">
                <a:solidFill>
                  <a:srgbClr val="313A39"/>
                </a:solidFill>
                <a:latin typeface="Aptos"/>
              </a:rPr>
              <a:t>intermedias</a:t>
            </a:r>
            <a:r>
              <a:rPr sz="1800" b="0" i="0" dirty="0">
                <a:solidFill>
                  <a:srgbClr val="313A39"/>
                </a:solidFill>
                <a:latin typeface="Aptos"/>
              </a:rPr>
              <a:t> a </a:t>
            </a:r>
            <a:r>
              <a:rPr sz="1800" b="0" i="0" dirty="0" err="1">
                <a:solidFill>
                  <a:srgbClr val="313A39"/>
                </a:solidFill>
                <a:latin typeface="Aptos"/>
              </a:rPr>
              <a:t>partir</a:t>
            </a:r>
            <a:r>
              <a:rPr sz="1800" b="0" i="0" dirty="0">
                <a:solidFill>
                  <a:srgbClr val="313A39"/>
                </a:solidFill>
                <a:latin typeface="Aptos"/>
              </a:rPr>
              <a:t> de </a:t>
            </a:r>
            <a:r>
              <a:rPr sz="1800" b="0" i="0" dirty="0" err="1">
                <a:solidFill>
                  <a:srgbClr val="313A39"/>
                </a:solidFill>
                <a:latin typeface="Aptos"/>
              </a:rPr>
              <a:t>expresiones</a:t>
            </a:r>
            <a:r>
              <a:rPr sz="1800" b="0" i="0" dirty="0">
                <a:solidFill>
                  <a:srgbClr val="313A39"/>
                </a:solidFill>
                <a:latin typeface="Aptos"/>
              </a:rPr>
              <a:t> </a:t>
            </a:r>
            <a:r>
              <a:rPr sz="1800" b="0" i="0" dirty="0" err="1">
                <a:solidFill>
                  <a:srgbClr val="313A39"/>
                </a:solidFill>
                <a:latin typeface="Aptos"/>
              </a:rPr>
              <a:t>sencillas</a:t>
            </a:r>
            <a:r>
              <a:rPr sz="1800" b="0" i="0" dirty="0">
                <a:solidFill>
                  <a:srgbClr val="313A39"/>
                </a:solidFill>
                <a:latin typeface="Aptos"/>
              </a:rPr>
              <a:t> y </a:t>
            </a:r>
            <a:r>
              <a:rPr sz="1800" b="0" i="0" dirty="0" err="1">
                <a:solidFill>
                  <a:srgbClr val="313A39"/>
                </a:solidFill>
                <a:latin typeface="Aptos"/>
              </a:rPr>
              <a:t>compuestas</a:t>
            </a:r>
            <a:r>
              <a:rPr sz="1800" b="0" i="0" dirty="0">
                <a:solidFill>
                  <a:srgbClr val="313A39"/>
                </a:solidFill>
                <a:latin typeface="Aptos"/>
              </a:rPr>
              <a:t>.</a:t>
            </a:r>
          </a:p>
          <a:p>
            <a:pPr algn="l"/>
            <a:endParaRPr sz="1800" b="0" i="0" dirty="0">
              <a:solidFill>
                <a:srgbClr val="313A39"/>
              </a:solidFill>
              <a:latin typeface="Aptos"/>
            </a:endParaRPr>
          </a:p>
          <a:p>
            <a:pPr algn="l"/>
            <a:r>
              <a:rPr sz="1800" b="0" i="0" dirty="0">
                <a:solidFill>
                  <a:srgbClr val="313A39"/>
                </a:solidFill>
                <a:latin typeface="Aptos"/>
              </a:rPr>
              <a:t>Las </a:t>
            </a:r>
            <a:r>
              <a:rPr sz="1800" b="0" i="0" dirty="0" err="1">
                <a:solidFill>
                  <a:srgbClr val="313A39"/>
                </a:solidFill>
                <a:latin typeface="Aptos"/>
              </a:rPr>
              <a:t>evidencias</a:t>
            </a:r>
            <a:r>
              <a:rPr sz="1800" b="0" i="0" dirty="0">
                <a:solidFill>
                  <a:srgbClr val="313A39"/>
                </a:solidFill>
                <a:latin typeface="Aptos"/>
              </a:rPr>
              <a:t> </a:t>
            </a:r>
            <a:r>
              <a:rPr sz="1800" b="0" i="0" dirty="0" err="1">
                <a:solidFill>
                  <a:srgbClr val="313A39"/>
                </a:solidFill>
                <a:latin typeface="Aptos"/>
              </a:rPr>
              <a:t>muestran</a:t>
            </a:r>
            <a:r>
              <a:rPr sz="1800" b="0" i="0" dirty="0">
                <a:solidFill>
                  <a:srgbClr val="313A39"/>
                </a:solidFill>
                <a:latin typeface="Aptos"/>
              </a:rPr>
              <a:t> que </a:t>
            </a:r>
            <a:r>
              <a:rPr sz="1800" b="0" i="0" dirty="0" err="1">
                <a:solidFill>
                  <a:srgbClr val="313A39"/>
                </a:solidFill>
                <a:latin typeface="Aptos"/>
              </a:rPr>
              <a:t>el</a:t>
            </a:r>
            <a:r>
              <a:rPr sz="1800" b="0" i="0" dirty="0">
                <a:solidFill>
                  <a:srgbClr val="313A39"/>
                </a:solidFill>
                <a:latin typeface="Aptos"/>
              </a:rPr>
              <a:t> </a:t>
            </a:r>
            <a:r>
              <a:rPr sz="1800" b="0" i="0" dirty="0" err="1">
                <a:solidFill>
                  <a:srgbClr val="313A39"/>
                </a:solidFill>
                <a:latin typeface="Aptos"/>
              </a:rPr>
              <a:t>sistema</a:t>
            </a:r>
            <a:r>
              <a:rPr sz="1800" b="0" i="0" dirty="0">
                <a:solidFill>
                  <a:srgbClr val="313A39"/>
                </a:solidFill>
                <a:latin typeface="Aptos"/>
              </a:rPr>
              <a:t> </a:t>
            </a:r>
            <a:r>
              <a:rPr sz="1800" b="0" i="0" dirty="0" err="1">
                <a:solidFill>
                  <a:srgbClr val="313A39"/>
                </a:solidFill>
                <a:latin typeface="Aptos"/>
              </a:rPr>
              <a:t>respeta</a:t>
            </a:r>
            <a:r>
              <a:rPr sz="1800" b="0" i="0" dirty="0">
                <a:solidFill>
                  <a:srgbClr val="313A39"/>
                </a:solidFill>
                <a:latin typeface="Aptos"/>
              </a:rPr>
              <a:t> la </a:t>
            </a:r>
            <a:r>
              <a:rPr sz="1800" b="0" i="0" dirty="0" err="1">
                <a:solidFill>
                  <a:srgbClr val="313A39"/>
                </a:solidFill>
                <a:latin typeface="Aptos"/>
              </a:rPr>
              <a:t>prioridad</a:t>
            </a:r>
            <a:r>
              <a:rPr sz="1800" b="0" i="0" dirty="0">
                <a:solidFill>
                  <a:srgbClr val="313A39"/>
                </a:solidFill>
                <a:latin typeface="Aptos"/>
              </a:rPr>
              <a:t> de </a:t>
            </a:r>
            <a:r>
              <a:rPr sz="1800" b="0" i="0" dirty="0" err="1">
                <a:solidFill>
                  <a:srgbClr val="313A39"/>
                </a:solidFill>
                <a:latin typeface="Aptos"/>
              </a:rPr>
              <a:t>operadores</a:t>
            </a:r>
            <a:r>
              <a:rPr sz="1800" b="0" i="0" dirty="0">
                <a:solidFill>
                  <a:srgbClr val="313A39"/>
                </a:solidFill>
                <a:latin typeface="Aptos"/>
              </a:rPr>
              <a:t>, </a:t>
            </a:r>
            <a:r>
              <a:rPr sz="1800" b="0" i="0" dirty="0" err="1">
                <a:solidFill>
                  <a:srgbClr val="313A39"/>
                </a:solidFill>
                <a:latin typeface="Aptos"/>
              </a:rPr>
              <a:t>atiende</a:t>
            </a:r>
            <a:r>
              <a:rPr sz="1800" b="0" i="0" dirty="0">
                <a:solidFill>
                  <a:srgbClr val="313A39"/>
                </a:solidFill>
                <a:latin typeface="Aptos"/>
              </a:rPr>
              <a:t> </a:t>
            </a:r>
            <a:r>
              <a:rPr sz="1800" b="0" i="0" dirty="0" err="1">
                <a:solidFill>
                  <a:srgbClr val="313A39"/>
                </a:solidFill>
                <a:latin typeface="Aptos"/>
              </a:rPr>
              <a:t>el</a:t>
            </a:r>
            <a:r>
              <a:rPr sz="1800" b="0" i="0" dirty="0">
                <a:solidFill>
                  <a:srgbClr val="313A39"/>
                </a:solidFill>
                <a:latin typeface="Aptos"/>
              </a:rPr>
              <a:t> </a:t>
            </a:r>
            <a:r>
              <a:rPr sz="1800" b="0" i="0" dirty="0" err="1">
                <a:solidFill>
                  <a:srgbClr val="313A39"/>
                </a:solidFill>
                <a:latin typeface="Aptos"/>
              </a:rPr>
              <a:t>uso</a:t>
            </a:r>
            <a:r>
              <a:rPr sz="1800" b="0" i="0" dirty="0">
                <a:solidFill>
                  <a:srgbClr val="313A39"/>
                </a:solidFill>
                <a:latin typeface="Aptos"/>
              </a:rPr>
              <a:t> de </a:t>
            </a:r>
            <a:r>
              <a:rPr sz="1800" b="0" i="0" dirty="0" err="1">
                <a:solidFill>
                  <a:srgbClr val="313A39"/>
                </a:solidFill>
                <a:latin typeface="Aptos"/>
              </a:rPr>
              <a:t>paréntesis</a:t>
            </a:r>
            <a:r>
              <a:rPr sz="1800" b="0" i="0" dirty="0">
                <a:solidFill>
                  <a:srgbClr val="313A39"/>
                </a:solidFill>
                <a:latin typeface="Aptos"/>
              </a:rPr>
              <a:t>, </a:t>
            </a:r>
            <a:r>
              <a:rPr sz="1800" b="0" i="0" dirty="0" err="1">
                <a:solidFill>
                  <a:srgbClr val="313A39"/>
                </a:solidFill>
                <a:latin typeface="Aptos"/>
              </a:rPr>
              <a:t>maneja</a:t>
            </a:r>
            <a:r>
              <a:rPr sz="1800" b="0" i="0" dirty="0">
                <a:solidFill>
                  <a:srgbClr val="313A39"/>
                </a:solidFill>
                <a:latin typeface="Aptos"/>
              </a:rPr>
              <a:t> </a:t>
            </a:r>
            <a:r>
              <a:rPr sz="1800" b="0" i="0" dirty="0" err="1">
                <a:solidFill>
                  <a:srgbClr val="313A39"/>
                </a:solidFill>
                <a:latin typeface="Aptos"/>
              </a:rPr>
              <a:t>temporales</a:t>
            </a:r>
            <a:r>
              <a:rPr sz="1800" b="0" i="0" dirty="0">
                <a:solidFill>
                  <a:srgbClr val="313A39"/>
                </a:solidFill>
                <a:latin typeface="Aptos"/>
              </a:rPr>
              <a:t>, </a:t>
            </a:r>
            <a:r>
              <a:rPr sz="1800" b="0" i="0" dirty="0" err="1">
                <a:solidFill>
                  <a:srgbClr val="313A39"/>
                </a:solidFill>
                <a:latin typeface="Aptos"/>
              </a:rPr>
              <a:t>conserva</a:t>
            </a:r>
            <a:r>
              <a:rPr sz="1800" b="0" i="0" dirty="0">
                <a:solidFill>
                  <a:srgbClr val="313A39"/>
                </a:solidFill>
                <a:latin typeface="Aptos"/>
              </a:rPr>
              <a:t> </a:t>
            </a:r>
            <a:r>
              <a:rPr sz="1800" b="0" i="0" dirty="0" err="1">
                <a:solidFill>
                  <a:srgbClr val="313A39"/>
                </a:solidFill>
                <a:latin typeface="Aptos"/>
              </a:rPr>
              <a:t>los</a:t>
            </a:r>
            <a:r>
              <a:rPr sz="1800" b="0" i="0" dirty="0">
                <a:solidFill>
                  <a:srgbClr val="313A39"/>
                </a:solidFill>
                <a:latin typeface="Aptos"/>
              </a:rPr>
              <a:t> </a:t>
            </a:r>
            <a:r>
              <a:rPr sz="1800" b="0" i="0" dirty="0" err="1">
                <a:solidFill>
                  <a:srgbClr val="313A39"/>
                </a:solidFill>
                <a:latin typeface="Aptos"/>
              </a:rPr>
              <a:t>tipos</a:t>
            </a:r>
            <a:r>
              <a:rPr sz="1800" b="0" i="0" dirty="0">
                <a:solidFill>
                  <a:srgbClr val="313A39"/>
                </a:solidFill>
                <a:latin typeface="Aptos"/>
              </a:rPr>
              <a:t> de </a:t>
            </a:r>
            <a:r>
              <a:rPr sz="1800" b="0" i="0" dirty="0" err="1">
                <a:solidFill>
                  <a:srgbClr val="313A39"/>
                </a:solidFill>
                <a:latin typeface="Aptos"/>
              </a:rPr>
              <a:t>datos</a:t>
            </a:r>
            <a:r>
              <a:rPr sz="1800" b="0" i="0" dirty="0">
                <a:solidFill>
                  <a:srgbClr val="313A39"/>
                </a:solidFill>
                <a:latin typeface="Aptos"/>
              </a:rPr>
              <a:t> y </a:t>
            </a:r>
            <a:r>
              <a:rPr sz="1800" b="0" i="0" dirty="0" err="1">
                <a:solidFill>
                  <a:srgbClr val="313A39"/>
                </a:solidFill>
                <a:latin typeface="Aptos"/>
              </a:rPr>
              <a:t>representa</a:t>
            </a:r>
            <a:r>
              <a:rPr sz="1800" b="0" i="0" dirty="0">
                <a:solidFill>
                  <a:srgbClr val="313A39"/>
                </a:solidFill>
                <a:latin typeface="Aptos"/>
              </a:rPr>
              <a:t> </a:t>
            </a:r>
            <a:r>
              <a:rPr sz="1800" b="0" i="0" dirty="0" err="1">
                <a:solidFill>
                  <a:srgbClr val="313A39"/>
                </a:solidFill>
                <a:latin typeface="Aptos"/>
              </a:rPr>
              <a:t>el</a:t>
            </a:r>
            <a:r>
              <a:rPr sz="1800" b="0" i="0" dirty="0">
                <a:solidFill>
                  <a:srgbClr val="313A39"/>
                </a:solidFill>
                <a:latin typeface="Aptos"/>
              </a:rPr>
              <a:t> </a:t>
            </a:r>
            <a:r>
              <a:rPr sz="1800" b="0" i="0" dirty="0" err="1">
                <a:solidFill>
                  <a:srgbClr val="313A39"/>
                </a:solidFill>
                <a:latin typeface="Aptos"/>
              </a:rPr>
              <a:t>mismo</a:t>
            </a:r>
            <a:r>
              <a:rPr sz="1800" b="0" i="0" dirty="0">
                <a:solidFill>
                  <a:srgbClr val="313A39"/>
                </a:solidFill>
                <a:latin typeface="Aptos"/>
              </a:rPr>
              <a:t> </a:t>
            </a:r>
            <a:r>
              <a:rPr sz="1800" b="0" i="0" dirty="0" err="1">
                <a:solidFill>
                  <a:srgbClr val="313A39"/>
                </a:solidFill>
                <a:latin typeface="Aptos"/>
              </a:rPr>
              <a:t>proceso</a:t>
            </a:r>
            <a:r>
              <a:rPr sz="1800" b="0" i="0" dirty="0">
                <a:solidFill>
                  <a:srgbClr val="313A39"/>
                </a:solidFill>
                <a:latin typeface="Aptos"/>
              </a:rPr>
              <a:t> </a:t>
            </a:r>
            <a:r>
              <a:rPr sz="1800" b="0" i="0" dirty="0" err="1">
                <a:solidFill>
                  <a:srgbClr val="313A39"/>
                </a:solidFill>
                <a:latin typeface="Aptos"/>
              </a:rPr>
              <a:t>mediante</a:t>
            </a:r>
            <a:r>
              <a:rPr sz="1800" b="0" i="0" dirty="0">
                <a:solidFill>
                  <a:srgbClr val="313A39"/>
                </a:solidFill>
                <a:latin typeface="Aptos"/>
              </a:rPr>
              <a:t> </a:t>
            </a:r>
            <a:r>
              <a:rPr sz="1800" b="0" i="0" dirty="0" err="1">
                <a:solidFill>
                  <a:srgbClr val="313A39"/>
                </a:solidFill>
                <a:latin typeface="Aptos"/>
              </a:rPr>
              <a:t>notaciones</a:t>
            </a:r>
            <a:r>
              <a:rPr sz="1800" b="0" i="0" dirty="0">
                <a:solidFill>
                  <a:srgbClr val="313A39"/>
                </a:solidFill>
                <a:latin typeface="Aptos"/>
              </a:rPr>
              <a:t>, </a:t>
            </a:r>
            <a:r>
              <a:rPr sz="1800" b="0" i="0" dirty="0" err="1">
                <a:solidFill>
                  <a:srgbClr val="313A39"/>
                </a:solidFill>
                <a:latin typeface="Aptos"/>
              </a:rPr>
              <a:t>tres</a:t>
            </a:r>
            <a:r>
              <a:rPr sz="1800" b="0" i="0" dirty="0">
                <a:solidFill>
                  <a:srgbClr val="313A39"/>
                </a:solidFill>
                <a:latin typeface="Aptos"/>
              </a:rPr>
              <a:t> </a:t>
            </a:r>
            <a:r>
              <a:rPr sz="1800" b="0" i="0" dirty="0" err="1">
                <a:solidFill>
                  <a:srgbClr val="313A39"/>
                </a:solidFill>
                <a:latin typeface="Aptos"/>
              </a:rPr>
              <a:t>direcciones</a:t>
            </a:r>
            <a:r>
              <a:rPr sz="1800" b="0" i="0" dirty="0">
                <a:solidFill>
                  <a:srgbClr val="313A39"/>
                </a:solidFill>
                <a:latin typeface="Aptos"/>
              </a:rPr>
              <a:t>, </a:t>
            </a:r>
            <a:r>
              <a:rPr sz="1800" b="0" i="0" dirty="0" err="1">
                <a:solidFill>
                  <a:srgbClr val="313A39"/>
                </a:solidFill>
                <a:latin typeface="Aptos"/>
              </a:rPr>
              <a:t>triplos</a:t>
            </a:r>
            <a:r>
              <a:rPr sz="1800" b="0" i="0" dirty="0">
                <a:solidFill>
                  <a:srgbClr val="313A39"/>
                </a:solidFill>
                <a:latin typeface="Aptos"/>
              </a:rPr>
              <a:t>, </a:t>
            </a:r>
            <a:r>
              <a:rPr sz="1800" b="0" i="0" dirty="0" err="1">
                <a:solidFill>
                  <a:srgbClr val="313A39"/>
                </a:solidFill>
                <a:latin typeface="Aptos"/>
              </a:rPr>
              <a:t>cuádruplos</a:t>
            </a:r>
            <a:r>
              <a:rPr sz="1800" b="0" i="0" dirty="0">
                <a:solidFill>
                  <a:srgbClr val="313A39"/>
                </a:solidFill>
                <a:latin typeface="Aptos"/>
              </a:rPr>
              <a:t> y Código P.</a:t>
            </a:r>
          </a:p>
          <a:p>
            <a:pPr algn="l"/>
            <a:endParaRPr sz="1800" b="0" i="0" dirty="0">
              <a:solidFill>
                <a:srgbClr val="313A39"/>
              </a:solidFill>
              <a:latin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326004" cy="446276"/>
          </a:xfrm>
          <a:prstGeom prst="rect">
            <a:avLst/>
          </a:prstGeom>
          <a:noFill/>
        </p:spPr>
        <p:txBody>
          <a:bodyPr wrap="none">
            <a:spAutoFit/>
          </a:bodyPr>
          <a:lstStyle/>
          <a:p>
            <a:r>
              <a:rPr lang="es-MX" sz="2300" b="1" dirty="0">
                <a:solidFill>
                  <a:srgbClr val="1B3E39"/>
                </a:solidFill>
                <a:latin typeface="Aptos"/>
              </a:rPr>
              <a:t>LINK GIT</a:t>
            </a:r>
            <a:endParaRPr sz="2300" b="1" dirty="0">
              <a:solidFill>
                <a:srgbClr val="1B3E39"/>
              </a:solidFill>
              <a:latin typeface="Aptos"/>
            </a:endParaRP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789920" cy="1255728"/>
          </a:xfrm>
          <a:prstGeom prst="rect">
            <a:avLst/>
          </a:prstGeom>
          <a:noFill/>
        </p:spPr>
        <p:txBody>
          <a:bodyPr wrap="square" lIns="73152" tIns="73152" rIns="73152" bIns="73152" anchor="t">
            <a:spAutoFit/>
          </a:bodyPr>
          <a:lstStyle/>
          <a:p>
            <a:pPr algn="l"/>
            <a:r>
              <a:rPr lang="es-MX" sz="1800" b="0" i="0" dirty="0">
                <a:solidFill>
                  <a:srgbClr val="313A39"/>
                </a:solidFill>
                <a:latin typeface="Aptos"/>
                <a:hlinkClick r:id="rId2"/>
              </a:rPr>
              <a:t>https://github.com/amaurycolochos-cpu/LENGUAJES-Y-AUTOMATAS-II/tree/main/LYA-ll-Tema-2/AnalizadorSemantico-Unidades-1-2-3-JavaFX</a:t>
            </a:r>
            <a:endParaRPr lang="es-MX" sz="1800" b="0" i="0" dirty="0">
              <a:solidFill>
                <a:srgbClr val="313A39"/>
              </a:solidFill>
              <a:latin typeface="Aptos"/>
            </a:endParaRPr>
          </a:p>
          <a:p>
            <a:pPr algn="l"/>
            <a:endParaRPr sz="1800" b="0" i="0" dirty="0">
              <a:solidFill>
                <a:srgbClr val="313A39"/>
              </a:solidFill>
              <a:latin typeface="Aptos"/>
            </a:endParaRPr>
          </a:p>
          <a:p>
            <a:pPr algn="l"/>
            <a:endParaRPr sz="1800" b="0" i="0" dirty="0">
              <a:solidFill>
                <a:srgbClr val="313A39"/>
              </a:solidFill>
              <a:latin typeface="Aptos"/>
            </a:endParaRPr>
          </a:p>
        </p:txBody>
      </p:sp>
    </p:spTree>
    <p:extLst>
      <p:ext uri="{BB962C8B-B14F-4D97-AF65-F5344CB8AC3E}">
        <p14:creationId xmlns:p14="http://schemas.microsoft.com/office/powerpoint/2010/main" val="4215231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1750</Words>
  <Application>Microsoft Office PowerPoint</Application>
  <PresentationFormat>Panorámica</PresentationFormat>
  <Paragraphs>109</Paragraphs>
  <Slides>16</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-apple-system</vt:lpstr>
      <vt:lpstr>Aptos</vt:lpstr>
      <vt:lpstr>Aptos Display</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AMAURY JAHAZIEL GORDILLO HERNANDEZ</cp:lastModifiedBy>
  <cp:revision>4</cp:revision>
  <dcterms:created xsi:type="dcterms:W3CDTF">2013-01-27T09:14:16Z</dcterms:created>
  <dcterms:modified xsi:type="dcterms:W3CDTF">2026-09-22T06:10:09Z</dcterms:modified>
  <cp:category/>
</cp:coreProperties>
</file>