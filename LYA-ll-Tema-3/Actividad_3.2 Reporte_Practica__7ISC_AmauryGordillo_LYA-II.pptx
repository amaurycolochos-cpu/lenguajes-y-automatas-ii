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7"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F39C57-CC3B-4CC8-B63A-874A462EDFEB}" type="datetimeFigureOut">
              <a:rPr lang="es-MX" smtClean="0"/>
              <a:t>22/09/2026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4402CB-C8C5-4D1D-B454-7E2EF96B7457}" type="slidenum">
              <a:rPr lang="es-MX" smtClean="0"/>
              <a:t>‹Nº›</a:t>
            </a:fld>
            <a:endParaRPr lang="es-MX"/>
          </a:p>
        </p:txBody>
      </p:sp>
    </p:spTree>
    <p:extLst>
      <p:ext uri="{BB962C8B-B14F-4D97-AF65-F5344CB8AC3E}">
        <p14:creationId xmlns:p14="http://schemas.microsoft.com/office/powerpoint/2010/main" val="649914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219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maurycolochos-cpu/LENGUAJES-Y-AUTOMATAS-II/tree/main/LYA-ll-Tema-2/AnalizadorSemantico-Unidades-1-2-3-JavaFX"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n 40"/>
          <p:cNvPicPr>
            <a:picLocks noChangeAspect="1"/>
          </p:cNvPicPr>
          <p:nvPr/>
        </p:nvPicPr>
        <p:blipFill>
          <a:blip r:embed="rId3"/>
          <a:srcRect t="27" b="27"/>
          <a:stretch>
            <a:fillRect/>
          </a:stretch>
        </p:blipFill>
        <p:spPr>
          <a:xfrm>
            <a:off x="280834" y="0"/>
            <a:ext cx="11911166" cy="6858000"/>
          </a:xfrm>
          <a:prstGeom prst="rect">
            <a:avLst/>
          </a:prstGeom>
        </p:spPr>
      </p:pic>
      <p:sp>
        <p:nvSpPr>
          <p:cNvPr id="2" name="institutional-navy-band">
            <a:extLst>
              <a:ext uri="{FF2B5EF4-FFF2-40B4-BE49-F238E27FC236}">
                <a16:creationId xmlns:a16="http://schemas.microsoft.com/office/drawing/2014/main" id="{3AE6E076-F470-4AFA-B05E-BB577D99A602}"/>
              </a:ext>
            </a:extLst>
          </p:cNvPr>
          <p:cNvSpPr>
            <a:spLocks noGrp="1"/>
          </p:cNvSpPr>
          <p:nvPr/>
        </p:nvSpPr>
        <p:spPr>
          <a:xfrm>
            <a:off x="-47626" y="0"/>
            <a:ext cx="328459" cy="6858000"/>
          </a:xfrm>
          <a:prstGeom prst="rect">
            <a:avLst/>
          </a:prstGeom>
          <a:solidFill>
            <a:srgbClr val="082958"/>
          </a:solidFill>
          <a:ln w="0">
            <a:noFill/>
            <a:prstDash val="solid"/>
          </a:ln>
        </p:spPr>
      </p:sp>
      <p:sp>
        <p:nvSpPr>
          <p:cNvPr id="3" name="institutional-gold-accent">
            <a:extLst>
              <a:ext uri="{FF2B5EF4-FFF2-40B4-BE49-F238E27FC236}">
                <a16:creationId xmlns:a16="http://schemas.microsoft.com/office/drawing/2014/main" id="{511065C0-35AD-4DAE-B610-DF6B7F488372}"/>
              </a:ext>
            </a:extLst>
          </p:cNvPr>
          <p:cNvSpPr>
            <a:spLocks noGrp="1"/>
          </p:cNvSpPr>
          <p:nvPr/>
        </p:nvSpPr>
        <p:spPr>
          <a:xfrm>
            <a:off x="280987" y="47625"/>
            <a:ext cx="28575" cy="6438900"/>
          </a:xfrm>
          <a:prstGeom prst="rect">
            <a:avLst/>
          </a:prstGeom>
          <a:solidFill>
            <a:srgbClr val="C8972C"/>
          </a:solidFill>
          <a:ln w="0">
            <a:noFill/>
            <a:prstDash val="solid"/>
          </a:ln>
        </p:spPr>
      </p:sp>
      <p:sp>
        <p:nvSpPr>
          <p:cNvPr id="4" name="top-rule">
            <a:extLst>
              <a:ext uri="{FF2B5EF4-FFF2-40B4-BE49-F238E27FC236}">
                <a16:creationId xmlns:a16="http://schemas.microsoft.com/office/drawing/2014/main" id="{A402DA1E-9E80-4154-8892-48887862CA94}"/>
              </a:ext>
            </a:extLst>
          </p:cNvPr>
          <p:cNvSpPr>
            <a:spLocks noGrp="1"/>
          </p:cNvSpPr>
          <p:nvPr/>
        </p:nvSpPr>
        <p:spPr>
          <a:xfrm>
            <a:off x="838200" y="1009650"/>
            <a:ext cx="10515600" cy="0"/>
          </a:xfrm>
          <a:prstGeom prst="line">
            <a:avLst/>
          </a:prstGeom>
          <a:noFill/>
          <a:ln w="11430">
            <a:solidFill>
              <a:srgbClr val="DCEBFA"/>
            </a:solidFill>
            <a:prstDash val="solid"/>
          </a:ln>
        </p:spPr>
      </p:sp>
      <p:sp>
        <p:nvSpPr>
          <p:cNvPr id="6" name="institution-name">
            <a:extLst>
              <a:ext uri="{FF2B5EF4-FFF2-40B4-BE49-F238E27FC236}">
                <a16:creationId xmlns:a16="http://schemas.microsoft.com/office/drawing/2014/main" id="{E0E92947-86F7-4A12-A128-7B0159F83BDC}"/>
              </a:ext>
            </a:extLst>
          </p:cNvPr>
          <p:cNvSpPr>
            <a:spLocks noGrp="1"/>
          </p:cNvSpPr>
          <p:nvPr/>
        </p:nvSpPr>
        <p:spPr>
          <a:xfrm>
            <a:off x="3641008" y="892277"/>
            <a:ext cx="5464892" cy="666749"/>
          </a:xfrm>
          <a:prstGeom prst="rect">
            <a:avLst/>
          </a:prstGeom>
          <a:noFill/>
          <a:ln w="0">
            <a:noFill/>
            <a:prstDash val="solid"/>
          </a:ln>
        </p:spPr>
        <p:txBody>
          <a:bodyPr wrap="square" lIns="0" tIns="0" rIns="0" bIns="0" anchor="ctr">
            <a:noAutofit/>
          </a:bodyPr>
          <a:lstStyle/>
          <a:p>
            <a:pPr algn="l">
              <a:buNone/>
              <a:defRPr sz="1650" b="1">
                <a:solidFill>
                  <a:srgbClr val="0B3473"/>
                </a:solidFill>
                <a:latin typeface="Aptos Display"/>
                <a:ea typeface="Aptos Display"/>
                <a:cs typeface="Aptos Display"/>
              </a:defRPr>
            </a:pPr>
            <a:r>
              <a:rPr sz="2500" b="1">
                <a:solidFill>
                  <a:srgbClr val="0B3473"/>
                </a:solidFill>
                <a:latin typeface="Aptos Display"/>
                <a:ea typeface="Aptos Display"/>
                <a:cs typeface="Aptos Display"/>
              </a:rPr>
              <a:t>TECNOLÓGICO NACIONAL DE MÉXICO</a:t>
            </a:r>
          </a:p>
        </p:txBody>
      </p:sp>
      <p:sp>
        <p:nvSpPr>
          <p:cNvPr id="9" name="degree-title">
            <a:extLst>
              <a:ext uri="{FF2B5EF4-FFF2-40B4-BE49-F238E27FC236}">
                <a16:creationId xmlns:a16="http://schemas.microsoft.com/office/drawing/2014/main" id="{897E2AE5-15D9-4AB6-9730-7184F55D8F9A}"/>
              </a:ext>
            </a:extLst>
          </p:cNvPr>
          <p:cNvSpPr>
            <a:spLocks noGrp="1"/>
          </p:cNvSpPr>
          <p:nvPr/>
        </p:nvSpPr>
        <p:spPr>
          <a:xfrm>
            <a:off x="3429000" y="1454252"/>
            <a:ext cx="5524500" cy="742950"/>
          </a:xfrm>
          <a:prstGeom prst="rect">
            <a:avLst/>
          </a:prstGeom>
          <a:noFill/>
          <a:ln w="0">
            <a:noFill/>
            <a:prstDash val="solid"/>
          </a:ln>
        </p:spPr>
        <p:txBody>
          <a:bodyPr wrap="square" lIns="0" tIns="0" rIns="0" bIns="0" anchor="ctr">
            <a:normAutofit/>
          </a:bodyPr>
          <a:lstStyle/>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INGENIERÍA EN</a:t>
            </a:r>
          </a:p>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SISTEMAS COMPUTACIONALES</a:t>
            </a:r>
          </a:p>
        </p:txBody>
      </p:sp>
      <p:sp>
        <p:nvSpPr>
          <p:cNvPr id="10" name="degree-gold-rule-left">
            <a:extLst>
              <a:ext uri="{FF2B5EF4-FFF2-40B4-BE49-F238E27FC236}">
                <a16:creationId xmlns:a16="http://schemas.microsoft.com/office/drawing/2014/main" id="{C8050B62-10E2-4D95-BEEE-6E1978022F99}"/>
              </a:ext>
            </a:extLst>
          </p:cNvPr>
          <p:cNvSpPr>
            <a:spLocks noGrp="1"/>
          </p:cNvSpPr>
          <p:nvPr/>
        </p:nvSpPr>
        <p:spPr>
          <a:xfrm>
            <a:off x="4848225" y="2209800"/>
            <a:ext cx="990600" cy="0"/>
          </a:xfrm>
          <a:prstGeom prst="line">
            <a:avLst/>
          </a:prstGeom>
          <a:noFill/>
          <a:ln w="15240">
            <a:solidFill>
              <a:srgbClr val="C8972C"/>
            </a:solidFill>
            <a:prstDash val="solid"/>
          </a:ln>
        </p:spPr>
      </p:sp>
      <p:sp>
        <p:nvSpPr>
          <p:cNvPr id="11" name="degree-gold-rule-right">
            <a:extLst>
              <a:ext uri="{FF2B5EF4-FFF2-40B4-BE49-F238E27FC236}">
                <a16:creationId xmlns:a16="http://schemas.microsoft.com/office/drawing/2014/main" id="{12397A49-149B-4ECA-A15E-F885934091D1}"/>
              </a:ext>
            </a:extLst>
          </p:cNvPr>
          <p:cNvSpPr>
            <a:spLocks noGrp="1"/>
          </p:cNvSpPr>
          <p:nvPr/>
        </p:nvSpPr>
        <p:spPr>
          <a:xfrm>
            <a:off x="6353175" y="2209800"/>
            <a:ext cx="990600" cy="0"/>
          </a:xfrm>
          <a:prstGeom prst="line">
            <a:avLst/>
          </a:prstGeom>
          <a:noFill/>
          <a:ln w="15240">
            <a:solidFill>
              <a:srgbClr val="C8972C"/>
            </a:solidFill>
            <a:prstDash val="solid"/>
          </a:ln>
        </p:spPr>
      </p:sp>
      <p:sp>
        <p:nvSpPr>
          <p:cNvPr id="13" name="course-title-line-1">
            <a:extLst>
              <a:ext uri="{FF2B5EF4-FFF2-40B4-BE49-F238E27FC236}">
                <a16:creationId xmlns:a16="http://schemas.microsoft.com/office/drawing/2014/main" id="{24A5C187-BE41-45B6-8BF3-A2878D2FD52B}"/>
              </a:ext>
            </a:extLst>
          </p:cNvPr>
          <p:cNvSpPr>
            <a:spLocks noGrp="1"/>
          </p:cNvSpPr>
          <p:nvPr/>
        </p:nvSpPr>
        <p:spPr>
          <a:xfrm>
            <a:off x="2362199" y="2633663"/>
            <a:ext cx="7467600" cy="523875"/>
          </a:xfrm>
          <a:prstGeom prst="rect">
            <a:avLst/>
          </a:prstGeom>
          <a:noFill/>
          <a:ln w="0">
            <a:noFill/>
            <a:prstDash val="solid"/>
          </a:ln>
        </p:spPr>
        <p:txBody>
          <a:bodyPr wrap="square" lIns="0" tIns="0" rIns="0" bIns="0" anchor="ctr">
            <a:normAutofit fontScale="90833" lnSpcReduction="10000"/>
          </a:bodyPr>
          <a:lstStyle/>
          <a:p>
            <a:pPr algn="ctr">
              <a:buNone/>
              <a:defRPr sz="4125" b="1">
                <a:solidFill>
                  <a:srgbClr val="0B3473"/>
                </a:solidFill>
                <a:latin typeface="Aptos Display"/>
                <a:ea typeface="Aptos Display"/>
                <a:cs typeface="Aptos Display"/>
              </a:defRPr>
            </a:pPr>
            <a:r>
              <a:rPr sz="4125" b="1">
                <a:solidFill>
                  <a:srgbClr val="0B3473"/>
                </a:solidFill>
                <a:latin typeface="Aptos Display"/>
                <a:ea typeface="Aptos Display"/>
                <a:cs typeface="Aptos Display"/>
              </a:rPr>
              <a:t>LENGUAJES Y AUTOMATAS II</a:t>
            </a:r>
          </a:p>
        </p:txBody>
      </p:sp>
      <p:sp>
        <p:nvSpPr>
          <p:cNvPr id="15" name="activity-left-trace-1">
            <a:extLst>
              <a:ext uri="{FF2B5EF4-FFF2-40B4-BE49-F238E27FC236}">
                <a16:creationId xmlns:a16="http://schemas.microsoft.com/office/drawing/2014/main" id="{7D063C37-CCC4-4D1E-800C-E1EC27DFD060}"/>
              </a:ext>
            </a:extLst>
          </p:cNvPr>
          <p:cNvSpPr>
            <a:spLocks noGrp="1"/>
          </p:cNvSpPr>
          <p:nvPr/>
        </p:nvSpPr>
        <p:spPr>
          <a:xfrm>
            <a:off x="2038350" y="3771900"/>
            <a:ext cx="514350" cy="0"/>
          </a:xfrm>
          <a:prstGeom prst="line">
            <a:avLst/>
          </a:prstGeom>
          <a:noFill/>
          <a:ln w="13335">
            <a:solidFill>
              <a:srgbClr val="2862AA"/>
            </a:solidFill>
            <a:prstDash val="solid"/>
          </a:ln>
        </p:spPr>
      </p:sp>
      <p:sp>
        <p:nvSpPr>
          <p:cNvPr id="16" name="activity-left-trace-2">
            <a:extLst>
              <a:ext uri="{FF2B5EF4-FFF2-40B4-BE49-F238E27FC236}">
                <a16:creationId xmlns:a16="http://schemas.microsoft.com/office/drawing/2014/main" id="{3CFD8881-ED44-45BD-9DF0-783461E898DA}"/>
              </a:ext>
            </a:extLst>
          </p:cNvPr>
          <p:cNvSpPr>
            <a:spLocks noGrp="1"/>
          </p:cNvSpPr>
          <p:nvPr/>
        </p:nvSpPr>
        <p:spPr>
          <a:xfrm>
            <a:off x="2552700" y="3676650"/>
            <a:ext cx="0" cy="95250"/>
          </a:xfrm>
          <a:prstGeom prst="line">
            <a:avLst/>
          </a:prstGeom>
          <a:noFill/>
          <a:ln w="13335">
            <a:solidFill>
              <a:srgbClr val="2862AA"/>
            </a:solidFill>
            <a:prstDash val="solid"/>
          </a:ln>
        </p:spPr>
      </p:sp>
      <p:sp>
        <p:nvSpPr>
          <p:cNvPr id="17" name="activity-left-trace-3">
            <a:extLst>
              <a:ext uri="{FF2B5EF4-FFF2-40B4-BE49-F238E27FC236}">
                <a16:creationId xmlns:a16="http://schemas.microsoft.com/office/drawing/2014/main" id="{40CE4708-D5C7-40D2-BE07-C709D6A81A4E}"/>
              </a:ext>
            </a:extLst>
          </p:cNvPr>
          <p:cNvSpPr>
            <a:spLocks noGrp="1"/>
          </p:cNvSpPr>
          <p:nvPr/>
        </p:nvSpPr>
        <p:spPr>
          <a:xfrm>
            <a:off x="2552700" y="3676650"/>
            <a:ext cx="514350" cy="0"/>
          </a:xfrm>
          <a:prstGeom prst="line">
            <a:avLst/>
          </a:prstGeom>
          <a:noFill/>
          <a:ln w="13335">
            <a:solidFill>
              <a:srgbClr val="2862AA"/>
            </a:solidFill>
            <a:prstDash val="solid"/>
          </a:ln>
        </p:spPr>
      </p:sp>
      <p:sp>
        <p:nvSpPr>
          <p:cNvPr id="18" name="activity-left-node">
            <a:extLst>
              <a:ext uri="{FF2B5EF4-FFF2-40B4-BE49-F238E27FC236}">
                <a16:creationId xmlns:a16="http://schemas.microsoft.com/office/drawing/2014/main" id="{61DC4950-E910-4AA5-840B-B61E8D5D8C11}"/>
              </a:ext>
            </a:extLst>
          </p:cNvPr>
          <p:cNvSpPr>
            <a:spLocks noGrp="1"/>
          </p:cNvSpPr>
          <p:nvPr/>
        </p:nvSpPr>
        <p:spPr>
          <a:xfrm>
            <a:off x="3086100" y="3638550"/>
            <a:ext cx="85725" cy="85725"/>
          </a:xfrm>
          <a:prstGeom prst="ellipse">
            <a:avLst/>
          </a:prstGeom>
          <a:solidFill>
            <a:srgbClr val="FFFFFF"/>
          </a:solidFill>
          <a:ln w="14288">
            <a:solidFill>
              <a:srgbClr val="C8972C"/>
            </a:solidFill>
            <a:prstDash val="solid"/>
          </a:ln>
        </p:spPr>
      </p:sp>
      <p:sp>
        <p:nvSpPr>
          <p:cNvPr id="19" name="activity-right-node">
            <a:extLst>
              <a:ext uri="{FF2B5EF4-FFF2-40B4-BE49-F238E27FC236}">
                <a16:creationId xmlns:a16="http://schemas.microsoft.com/office/drawing/2014/main" id="{825A2979-FD3A-4780-A5BF-2B891AF31213}"/>
              </a:ext>
            </a:extLst>
          </p:cNvPr>
          <p:cNvSpPr>
            <a:spLocks noGrp="1"/>
          </p:cNvSpPr>
          <p:nvPr/>
        </p:nvSpPr>
        <p:spPr>
          <a:xfrm>
            <a:off x="9020175" y="3638550"/>
            <a:ext cx="85725" cy="85725"/>
          </a:xfrm>
          <a:prstGeom prst="ellipse">
            <a:avLst/>
          </a:prstGeom>
          <a:solidFill>
            <a:srgbClr val="FFFFFF"/>
          </a:solidFill>
          <a:ln w="14288">
            <a:solidFill>
              <a:srgbClr val="C8972C"/>
            </a:solidFill>
            <a:prstDash val="solid"/>
          </a:ln>
        </p:spPr>
      </p:sp>
      <p:sp>
        <p:nvSpPr>
          <p:cNvPr id="20" name="activity-right-trace-1">
            <a:extLst>
              <a:ext uri="{FF2B5EF4-FFF2-40B4-BE49-F238E27FC236}">
                <a16:creationId xmlns:a16="http://schemas.microsoft.com/office/drawing/2014/main" id="{38B16BE7-5C8D-4EAB-B2EE-18E787DD60AA}"/>
              </a:ext>
            </a:extLst>
          </p:cNvPr>
          <p:cNvSpPr>
            <a:spLocks noGrp="1"/>
          </p:cNvSpPr>
          <p:nvPr/>
        </p:nvSpPr>
        <p:spPr>
          <a:xfrm>
            <a:off x="9105900" y="3676650"/>
            <a:ext cx="514350" cy="0"/>
          </a:xfrm>
          <a:prstGeom prst="line">
            <a:avLst/>
          </a:prstGeom>
          <a:noFill/>
          <a:ln w="13335">
            <a:solidFill>
              <a:srgbClr val="2862AA"/>
            </a:solidFill>
            <a:prstDash val="solid"/>
          </a:ln>
        </p:spPr>
      </p:sp>
      <p:sp>
        <p:nvSpPr>
          <p:cNvPr id="21" name="activity-right-trace-2">
            <a:extLst>
              <a:ext uri="{FF2B5EF4-FFF2-40B4-BE49-F238E27FC236}">
                <a16:creationId xmlns:a16="http://schemas.microsoft.com/office/drawing/2014/main" id="{B0073C7F-4C58-47DE-BB0A-AFC31EDFE384}"/>
              </a:ext>
            </a:extLst>
          </p:cNvPr>
          <p:cNvSpPr>
            <a:spLocks noGrp="1"/>
          </p:cNvSpPr>
          <p:nvPr/>
        </p:nvSpPr>
        <p:spPr>
          <a:xfrm>
            <a:off x="9620250" y="3676650"/>
            <a:ext cx="0" cy="95250"/>
          </a:xfrm>
          <a:prstGeom prst="line">
            <a:avLst/>
          </a:prstGeom>
          <a:noFill/>
          <a:ln w="13335">
            <a:solidFill>
              <a:srgbClr val="2862AA"/>
            </a:solidFill>
            <a:prstDash val="solid"/>
          </a:ln>
        </p:spPr>
      </p:sp>
      <p:sp>
        <p:nvSpPr>
          <p:cNvPr id="22" name="activity-right-trace-3">
            <a:extLst>
              <a:ext uri="{FF2B5EF4-FFF2-40B4-BE49-F238E27FC236}">
                <a16:creationId xmlns:a16="http://schemas.microsoft.com/office/drawing/2014/main" id="{0A4D59B6-4962-4FEF-A21B-2AF53EF32F99}"/>
              </a:ext>
            </a:extLst>
          </p:cNvPr>
          <p:cNvSpPr>
            <a:spLocks noGrp="1"/>
          </p:cNvSpPr>
          <p:nvPr/>
        </p:nvSpPr>
        <p:spPr>
          <a:xfrm>
            <a:off x="9620250" y="3771900"/>
            <a:ext cx="514350" cy="0"/>
          </a:xfrm>
          <a:prstGeom prst="line">
            <a:avLst/>
          </a:prstGeom>
          <a:noFill/>
          <a:ln w="13335">
            <a:solidFill>
              <a:srgbClr val="2862AA"/>
            </a:solidFill>
            <a:prstDash val="solid"/>
          </a:ln>
        </p:spPr>
      </p:sp>
      <p:sp>
        <p:nvSpPr>
          <p:cNvPr id="23" name="activity-title">
            <a:extLst>
              <a:ext uri="{FF2B5EF4-FFF2-40B4-BE49-F238E27FC236}">
                <a16:creationId xmlns:a16="http://schemas.microsoft.com/office/drawing/2014/main" id="{F746EC2E-9743-49CF-891C-11DBE19DF422}"/>
              </a:ext>
            </a:extLst>
          </p:cNvPr>
          <p:cNvSpPr>
            <a:spLocks noGrp="1"/>
          </p:cNvSpPr>
          <p:nvPr/>
        </p:nvSpPr>
        <p:spPr>
          <a:xfrm>
            <a:off x="3238500" y="3581400"/>
            <a:ext cx="5715000" cy="381000"/>
          </a:xfrm>
          <a:prstGeom prst="rect">
            <a:avLst/>
          </a:prstGeom>
          <a:noFill/>
          <a:ln w="0">
            <a:noFill/>
            <a:prstDash val="solid"/>
          </a:ln>
        </p:spPr>
        <p:txBody>
          <a:bodyPr wrap="square" lIns="0" tIns="0" rIns="0" bIns="0" anchor="ctr">
            <a:normAutofit fontScale="99498"/>
          </a:bodyPr>
          <a:lstStyle/>
          <a:p>
            <a:pPr algn="ctr">
              <a:buNone/>
              <a:defRPr sz="1875" b="1">
                <a:solidFill>
                  <a:srgbClr val="2862AA"/>
                </a:solidFill>
                <a:latin typeface="Aptos Display"/>
                <a:ea typeface="Aptos Display"/>
                <a:cs typeface="Aptos Display"/>
              </a:defRPr>
            </a:pPr>
            <a:r>
              <a:rPr sz="1875" b="1" dirty="0">
                <a:solidFill>
                  <a:srgbClr val="2862AA"/>
                </a:solidFill>
                <a:latin typeface="Aptos Display"/>
                <a:ea typeface="Aptos Display"/>
                <a:cs typeface="Aptos Display"/>
              </a:rPr>
              <a:t>ACTIVIDAD </a:t>
            </a:r>
            <a:r>
              <a:rPr lang="es-MX" sz="1875" b="1" dirty="0">
                <a:solidFill>
                  <a:srgbClr val="2862AA"/>
                </a:solidFill>
                <a:latin typeface="Aptos Display"/>
                <a:ea typeface="Aptos Display"/>
                <a:cs typeface="Aptos Display"/>
              </a:rPr>
              <a:t>3</a:t>
            </a:r>
            <a:r>
              <a:rPr sz="1875" b="1" dirty="0">
                <a:solidFill>
                  <a:srgbClr val="2862AA"/>
                </a:solidFill>
                <a:latin typeface="Aptos Display"/>
                <a:ea typeface="Aptos Display"/>
                <a:cs typeface="Aptos Display"/>
              </a:rPr>
              <a:t>.2 — </a:t>
            </a:r>
            <a:r>
              <a:rPr b="0" i="0" dirty="0">
                <a:solidFill>
                  <a:srgbClr val="212529"/>
                </a:solidFill>
                <a:latin typeface="-apple-system"/>
                <a:ea typeface="-apple-system"/>
                <a:cs typeface="-apple-system"/>
              </a:rPr>
              <a:t>REPORTE DE PRACTICA</a:t>
            </a:r>
          </a:p>
          <a:p>
            <a:pPr algn="ctr">
              <a:buNone/>
              <a:defRPr sz="1875" b="1">
                <a:solidFill>
                  <a:srgbClr val="2862AA"/>
                </a:solidFill>
                <a:latin typeface="Aptos Display"/>
                <a:ea typeface="Aptos Display"/>
                <a:cs typeface="Aptos Display"/>
              </a:defRPr>
            </a:pPr>
            <a:endParaRPr sz="1875" b="1" dirty="0">
              <a:solidFill>
                <a:srgbClr val="2862AA"/>
              </a:solidFill>
              <a:latin typeface="Aptos Display"/>
              <a:ea typeface="Aptos Display"/>
              <a:cs typeface="Aptos Display"/>
            </a:endParaRPr>
          </a:p>
        </p:txBody>
      </p:sp>
      <p:sp>
        <p:nvSpPr>
          <p:cNvPr id="24" name="students-heading">
            <a:extLst>
              <a:ext uri="{FF2B5EF4-FFF2-40B4-BE49-F238E27FC236}">
                <a16:creationId xmlns:a16="http://schemas.microsoft.com/office/drawing/2014/main" id="{B3090DA1-DD45-4D5A-810A-68C80D1D5495}"/>
              </a:ext>
            </a:extLst>
          </p:cNvPr>
          <p:cNvSpPr>
            <a:spLocks noGrp="1"/>
          </p:cNvSpPr>
          <p:nvPr/>
        </p:nvSpPr>
        <p:spPr>
          <a:xfrm>
            <a:off x="2857500" y="4143375"/>
            <a:ext cx="4667250" cy="219075"/>
          </a:xfrm>
          <a:prstGeom prst="rect">
            <a:avLst/>
          </a:prstGeom>
          <a:noFill/>
          <a:ln w="0">
            <a:noFill/>
            <a:prstDash val="solid"/>
          </a:ln>
        </p:spPr>
        <p:txBody>
          <a:bodyPr wrap="square" lIns="0" tIns="0" rIns="0" bIns="0" anchor="ctr">
            <a:normAutofit/>
          </a:bodyPr>
          <a:lstStyle/>
          <a:p>
            <a:pPr algn="l">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PRESENTA</a:t>
            </a:r>
          </a:p>
        </p:txBody>
      </p:sp>
      <p:sp>
        <p:nvSpPr>
          <p:cNvPr id="25" name="enrollment-heading">
            <a:extLst>
              <a:ext uri="{FF2B5EF4-FFF2-40B4-BE49-F238E27FC236}">
                <a16:creationId xmlns:a16="http://schemas.microsoft.com/office/drawing/2014/main" id="{8497282D-0F32-46CC-9BD6-A908719C1476}"/>
              </a:ext>
            </a:extLst>
          </p:cNvPr>
          <p:cNvSpPr>
            <a:spLocks noGrp="1"/>
          </p:cNvSpPr>
          <p:nvPr/>
        </p:nvSpPr>
        <p:spPr>
          <a:xfrm>
            <a:off x="7715250" y="4143375"/>
            <a:ext cx="1619250" cy="219075"/>
          </a:xfrm>
          <a:prstGeom prst="rect">
            <a:avLst/>
          </a:prstGeom>
          <a:noFill/>
          <a:ln w="0">
            <a:noFill/>
            <a:prstDash val="solid"/>
          </a:ln>
        </p:spPr>
        <p:txBody>
          <a:bodyPr wrap="square" lIns="0" tIns="0" rIns="0" bIns="0" anchor="ctr">
            <a:normAutofit/>
          </a:bodyPr>
          <a:lstStyle/>
          <a:p>
            <a:pPr algn="r">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MATRÍCULA</a:t>
            </a:r>
          </a:p>
        </p:txBody>
      </p:sp>
      <p:sp>
        <p:nvSpPr>
          <p:cNvPr id="26" name="students-top-rule">
            <a:extLst>
              <a:ext uri="{FF2B5EF4-FFF2-40B4-BE49-F238E27FC236}">
                <a16:creationId xmlns:a16="http://schemas.microsoft.com/office/drawing/2014/main" id="{A7922C15-D34B-4B95-9915-A3A8D77C7F79}"/>
              </a:ext>
            </a:extLst>
          </p:cNvPr>
          <p:cNvSpPr>
            <a:spLocks noGrp="1"/>
          </p:cNvSpPr>
          <p:nvPr/>
        </p:nvSpPr>
        <p:spPr>
          <a:xfrm>
            <a:off x="2857500" y="4381500"/>
            <a:ext cx="6477000" cy="0"/>
          </a:xfrm>
          <a:prstGeom prst="line">
            <a:avLst/>
          </a:prstGeom>
          <a:noFill/>
          <a:ln w="14288">
            <a:solidFill>
              <a:srgbClr val="0B3473"/>
            </a:solidFill>
            <a:prstDash val="solid"/>
          </a:ln>
        </p:spPr>
      </p:sp>
      <p:sp>
        <p:nvSpPr>
          <p:cNvPr id="28" name="students-row-divider">
            <a:extLst>
              <a:ext uri="{FF2B5EF4-FFF2-40B4-BE49-F238E27FC236}">
                <a16:creationId xmlns:a16="http://schemas.microsoft.com/office/drawing/2014/main" id="{0EBB92DB-59C3-4BDC-99A0-F2F4D93B78A4}"/>
              </a:ext>
            </a:extLst>
          </p:cNvPr>
          <p:cNvSpPr>
            <a:spLocks noGrp="1"/>
          </p:cNvSpPr>
          <p:nvPr/>
        </p:nvSpPr>
        <p:spPr>
          <a:xfrm>
            <a:off x="2857500" y="4800600"/>
            <a:ext cx="6477000" cy="0"/>
          </a:xfrm>
          <a:prstGeom prst="line">
            <a:avLst/>
          </a:prstGeom>
          <a:noFill/>
          <a:ln w="9525">
            <a:solidFill>
              <a:srgbClr val="DCEBFA"/>
            </a:solidFill>
            <a:prstDash val="solid"/>
          </a:ln>
        </p:spPr>
      </p:sp>
      <p:sp>
        <p:nvSpPr>
          <p:cNvPr id="29" name="students-column-divider">
            <a:extLst>
              <a:ext uri="{FF2B5EF4-FFF2-40B4-BE49-F238E27FC236}">
                <a16:creationId xmlns:a16="http://schemas.microsoft.com/office/drawing/2014/main" id="{D19BD447-A808-4FDA-A54C-331FE02FEA74}"/>
              </a:ext>
            </a:extLst>
          </p:cNvPr>
          <p:cNvSpPr>
            <a:spLocks noGrp="1"/>
          </p:cNvSpPr>
          <p:nvPr/>
        </p:nvSpPr>
        <p:spPr>
          <a:xfrm>
            <a:off x="7639050" y="4476750"/>
            <a:ext cx="0" cy="647700"/>
          </a:xfrm>
          <a:prstGeom prst="line">
            <a:avLst/>
          </a:prstGeom>
          <a:noFill/>
          <a:ln w="9525">
            <a:solidFill>
              <a:srgbClr val="9DB9DB"/>
            </a:solidFill>
            <a:prstDash val="solid"/>
          </a:ln>
        </p:spPr>
      </p:sp>
      <p:sp>
        <p:nvSpPr>
          <p:cNvPr id="30" name="student-row-one-marker">
            <a:extLst>
              <a:ext uri="{FF2B5EF4-FFF2-40B4-BE49-F238E27FC236}">
                <a16:creationId xmlns:a16="http://schemas.microsoft.com/office/drawing/2014/main" id="{4F497FA1-C313-4F3D-9493-840BF4D89598}"/>
              </a:ext>
            </a:extLst>
          </p:cNvPr>
          <p:cNvSpPr>
            <a:spLocks noGrp="1"/>
          </p:cNvSpPr>
          <p:nvPr/>
        </p:nvSpPr>
        <p:spPr>
          <a:xfrm>
            <a:off x="2876550" y="4486275"/>
            <a:ext cx="38100" cy="209550"/>
          </a:xfrm>
          <a:prstGeom prst="rect">
            <a:avLst/>
          </a:prstGeom>
          <a:solidFill>
            <a:srgbClr val="C8972C"/>
          </a:solidFill>
          <a:ln w="0">
            <a:noFill/>
            <a:prstDash val="solid"/>
          </a:ln>
        </p:spPr>
      </p:sp>
      <p:sp>
        <p:nvSpPr>
          <p:cNvPr id="34" name="student-two-name">
            <a:extLst>
              <a:ext uri="{FF2B5EF4-FFF2-40B4-BE49-F238E27FC236}">
                <a16:creationId xmlns:a16="http://schemas.microsoft.com/office/drawing/2014/main" id="{3EF7C761-CF7A-4E70-9E2B-16269734FC91}"/>
              </a:ext>
            </a:extLst>
          </p:cNvPr>
          <p:cNvSpPr>
            <a:spLocks noGrp="1"/>
          </p:cNvSpPr>
          <p:nvPr/>
        </p:nvSpPr>
        <p:spPr>
          <a:xfrm>
            <a:off x="3056554" y="4467225"/>
            <a:ext cx="4333875" cy="266700"/>
          </a:xfrm>
          <a:prstGeom prst="rect">
            <a:avLst/>
          </a:prstGeom>
          <a:noFill/>
          <a:ln w="0">
            <a:noFill/>
            <a:prstDash val="solid"/>
          </a:ln>
        </p:spPr>
        <p:txBody>
          <a:bodyPr wrap="square" lIns="0" tIns="0" rIns="0" bIns="0" anchor="ctr">
            <a:normAutofit/>
          </a:bodyPr>
          <a:lstStyle/>
          <a:p>
            <a:pPr algn="l">
              <a:buNone/>
              <a:defRPr sz="1500" b="0">
                <a:solidFill>
                  <a:srgbClr val="102B5C"/>
                </a:solidFill>
                <a:latin typeface="Aptos"/>
                <a:ea typeface="Aptos"/>
                <a:cs typeface="Aptos"/>
              </a:defRPr>
            </a:pPr>
            <a:r>
              <a:rPr sz="1500" b="0">
                <a:solidFill>
                  <a:srgbClr val="102B5C"/>
                </a:solidFill>
                <a:latin typeface="Aptos"/>
                <a:ea typeface="Aptos"/>
                <a:cs typeface="Aptos"/>
              </a:rPr>
              <a:t>Amaury Jahaziel Gordillo Hernández</a:t>
            </a:r>
          </a:p>
        </p:txBody>
      </p:sp>
      <p:sp>
        <p:nvSpPr>
          <p:cNvPr id="35" name="student-two-id">
            <a:extLst>
              <a:ext uri="{FF2B5EF4-FFF2-40B4-BE49-F238E27FC236}">
                <a16:creationId xmlns:a16="http://schemas.microsoft.com/office/drawing/2014/main" id="{05E44B11-B863-4ECE-A2F6-C9964031DF71}"/>
              </a:ext>
            </a:extLst>
          </p:cNvPr>
          <p:cNvSpPr>
            <a:spLocks noGrp="1"/>
          </p:cNvSpPr>
          <p:nvPr/>
        </p:nvSpPr>
        <p:spPr>
          <a:xfrm>
            <a:off x="7791450" y="4438649"/>
            <a:ext cx="1524000" cy="266700"/>
          </a:xfrm>
          <a:prstGeom prst="rect">
            <a:avLst/>
          </a:prstGeom>
          <a:noFill/>
          <a:ln w="0">
            <a:noFill/>
            <a:prstDash val="solid"/>
          </a:ln>
        </p:spPr>
        <p:txBody>
          <a:bodyPr wrap="square" lIns="0" tIns="0" rIns="0" bIns="0" anchor="ctr">
            <a:normAutofit/>
          </a:bodyPr>
          <a:lstStyle/>
          <a:p>
            <a:pPr algn="r">
              <a:buNone/>
              <a:defRPr sz="1425" b="0">
                <a:solidFill>
                  <a:srgbClr val="102B5C"/>
                </a:solidFill>
                <a:latin typeface="Aptos"/>
                <a:ea typeface="Aptos"/>
                <a:cs typeface="Aptos"/>
              </a:defRPr>
            </a:pPr>
            <a:r>
              <a:rPr sz="1425" b="0">
                <a:solidFill>
                  <a:srgbClr val="102B5C"/>
                </a:solidFill>
                <a:latin typeface="Aptos"/>
                <a:ea typeface="Aptos"/>
                <a:cs typeface="Aptos"/>
              </a:rPr>
              <a:t>231260074</a:t>
            </a:r>
          </a:p>
        </p:txBody>
      </p:sp>
      <p:sp>
        <p:nvSpPr>
          <p:cNvPr id="36" name="teacher-heading">
            <a:extLst>
              <a:ext uri="{FF2B5EF4-FFF2-40B4-BE49-F238E27FC236}">
                <a16:creationId xmlns:a16="http://schemas.microsoft.com/office/drawing/2014/main" id="{F388D88D-A3F7-4DA5-9D23-808A58C08C1E}"/>
              </a:ext>
            </a:extLst>
          </p:cNvPr>
          <p:cNvSpPr>
            <a:spLocks noGrp="1"/>
          </p:cNvSpPr>
          <p:nvPr/>
        </p:nvSpPr>
        <p:spPr>
          <a:xfrm>
            <a:off x="4191000" y="5467350"/>
            <a:ext cx="3810000" cy="219075"/>
          </a:xfrm>
          <a:prstGeom prst="rect">
            <a:avLst/>
          </a:prstGeom>
          <a:noFill/>
          <a:ln w="0">
            <a:noFill/>
            <a:prstDash val="solid"/>
          </a:ln>
        </p:spPr>
        <p:txBody>
          <a:bodyPr wrap="square" lIns="0" tIns="0" rIns="0" bIns="0" anchor="ctr">
            <a:normAutofit/>
          </a:bodyPr>
          <a:lstStyle/>
          <a:p>
            <a:pPr algn="ctr">
              <a:buNone/>
              <a:defRPr sz="1275" b="1">
                <a:solidFill>
                  <a:srgbClr val="55739E"/>
                </a:solidFill>
                <a:latin typeface="Aptos Display"/>
                <a:ea typeface="Aptos Display"/>
                <a:cs typeface="Aptos Display"/>
              </a:defRPr>
            </a:pPr>
            <a:r>
              <a:rPr sz="1275" b="1">
                <a:solidFill>
                  <a:srgbClr val="55739E"/>
                </a:solidFill>
                <a:latin typeface="Aptos Display"/>
                <a:ea typeface="Aptos Display"/>
                <a:cs typeface="Aptos Display"/>
              </a:rPr>
              <a:t>DOCENTE</a:t>
            </a:r>
          </a:p>
        </p:txBody>
      </p:sp>
      <p:sp>
        <p:nvSpPr>
          <p:cNvPr id="37" name="teacher-name">
            <a:extLst>
              <a:ext uri="{FF2B5EF4-FFF2-40B4-BE49-F238E27FC236}">
                <a16:creationId xmlns:a16="http://schemas.microsoft.com/office/drawing/2014/main" id="{AA678B21-6A90-4BCE-8092-FF0E0979DE5C}"/>
              </a:ext>
            </a:extLst>
          </p:cNvPr>
          <p:cNvSpPr>
            <a:spLocks noGrp="1"/>
          </p:cNvSpPr>
          <p:nvPr/>
        </p:nvSpPr>
        <p:spPr>
          <a:xfrm>
            <a:off x="2857500" y="5705475"/>
            <a:ext cx="6477000" cy="295275"/>
          </a:xfrm>
          <a:prstGeom prst="rect">
            <a:avLst/>
          </a:prstGeom>
          <a:noFill/>
          <a:ln w="0">
            <a:noFill/>
            <a:prstDash val="solid"/>
          </a:ln>
        </p:spPr>
        <p:txBody>
          <a:bodyPr wrap="square" lIns="0" tIns="0" rIns="0" bIns="0" anchor="ctr">
            <a:normAutofit/>
          </a:bodyPr>
          <a:lstStyle/>
          <a:p>
            <a:pPr algn="ctr">
              <a:buNone/>
            </a:pPr>
            <a:r>
              <a:rPr sz="1800" b="1" dirty="0">
                <a:latin typeface="Aptos Display"/>
                <a:ea typeface="Aptos Display"/>
                <a:cs typeface="Aptos Display"/>
              </a:rPr>
              <a:t>ING. FRANCISCO JAVIER MINGO VELAZQUEZ</a:t>
            </a:r>
            <a:endParaRPr sz="1800" dirty="0">
              <a:latin typeface="Arial"/>
              <a:ea typeface="Arial"/>
              <a:cs typeface="Arial"/>
            </a:endParaRPr>
          </a:p>
        </p:txBody>
      </p:sp>
      <p:sp>
        <p:nvSpPr>
          <p:cNvPr id="38" name="footer-rule">
            <a:extLst>
              <a:ext uri="{FF2B5EF4-FFF2-40B4-BE49-F238E27FC236}">
                <a16:creationId xmlns:a16="http://schemas.microsoft.com/office/drawing/2014/main" id="{7C40688F-E9E3-4093-9368-ADED90666EB5}"/>
              </a:ext>
            </a:extLst>
          </p:cNvPr>
          <p:cNvSpPr>
            <a:spLocks noGrp="1"/>
          </p:cNvSpPr>
          <p:nvPr/>
        </p:nvSpPr>
        <p:spPr>
          <a:xfrm>
            <a:off x="1943100" y="6191250"/>
            <a:ext cx="8305800" cy="0"/>
          </a:xfrm>
          <a:prstGeom prst="line">
            <a:avLst/>
          </a:prstGeom>
          <a:noFill/>
          <a:ln w="11430">
            <a:solidFill>
              <a:srgbClr val="9DB9DB"/>
            </a:solidFill>
            <a:prstDash val="solid"/>
          </a:ln>
        </p:spPr>
      </p:sp>
      <p:sp>
        <p:nvSpPr>
          <p:cNvPr id="39" name="footer-rule-accent">
            <a:extLst>
              <a:ext uri="{FF2B5EF4-FFF2-40B4-BE49-F238E27FC236}">
                <a16:creationId xmlns:a16="http://schemas.microsoft.com/office/drawing/2014/main" id="{AA9604F1-D818-4EDE-AFC0-507B4EE53347}"/>
              </a:ext>
            </a:extLst>
          </p:cNvPr>
          <p:cNvSpPr>
            <a:spLocks noGrp="1"/>
          </p:cNvSpPr>
          <p:nvPr/>
        </p:nvSpPr>
        <p:spPr>
          <a:xfrm>
            <a:off x="5829300" y="6172200"/>
            <a:ext cx="533400" cy="38100"/>
          </a:xfrm>
          <a:prstGeom prst="rect">
            <a:avLst/>
          </a:prstGeom>
          <a:solidFill>
            <a:srgbClr val="C8972C"/>
          </a:solidFill>
          <a:ln w="0">
            <a:noFill/>
            <a:prstDash val="solid"/>
          </a:ln>
        </p:spPr>
      </p:sp>
      <p:sp>
        <p:nvSpPr>
          <p:cNvPr id="40" name="date-location">
            <a:extLst>
              <a:ext uri="{FF2B5EF4-FFF2-40B4-BE49-F238E27FC236}">
                <a16:creationId xmlns:a16="http://schemas.microsoft.com/office/drawing/2014/main" id="{8EF49A72-4459-4AD1-9919-B580F4EB3D0A}"/>
              </a:ext>
            </a:extLst>
          </p:cNvPr>
          <p:cNvSpPr>
            <a:spLocks noGrp="1"/>
          </p:cNvSpPr>
          <p:nvPr/>
        </p:nvSpPr>
        <p:spPr>
          <a:xfrm>
            <a:off x="2476500" y="6372225"/>
            <a:ext cx="7239000" cy="228600"/>
          </a:xfrm>
          <a:prstGeom prst="rect">
            <a:avLst/>
          </a:prstGeom>
          <a:noFill/>
          <a:ln w="0">
            <a:noFill/>
            <a:prstDash val="solid"/>
          </a:ln>
        </p:spPr>
        <p:txBody>
          <a:bodyPr wrap="square" lIns="0" tIns="0" rIns="0" bIns="0" anchor="ctr">
            <a:normAutofit/>
          </a:bodyPr>
          <a:lstStyle/>
          <a:p>
            <a:pPr algn="ctr">
              <a:buNone/>
              <a:defRPr sz="1350" b="0">
                <a:solidFill>
                  <a:srgbClr val="0B3473"/>
                </a:solidFill>
                <a:latin typeface="Aptos"/>
                <a:ea typeface="Aptos"/>
                <a:cs typeface="Aptos"/>
              </a:defRPr>
            </a:pPr>
            <a:r>
              <a:rPr lang="es-MX" sz="1350" b="0" dirty="0">
                <a:solidFill>
                  <a:srgbClr val="0B3473"/>
                </a:solidFill>
                <a:latin typeface="Aptos"/>
                <a:ea typeface="Aptos"/>
                <a:cs typeface="Aptos"/>
              </a:rPr>
              <a:t>15 DE SEPTIEMBRE</a:t>
            </a:r>
            <a:r>
              <a:rPr sz="1350" b="0" dirty="0">
                <a:solidFill>
                  <a:srgbClr val="0B3473"/>
                </a:solidFill>
                <a:latin typeface="Aptos"/>
                <a:ea typeface="Aptos"/>
                <a:cs typeface="Aptos"/>
              </a:rPr>
              <a:t> DE 2026  ·  VENUSTIANO CARRANZA, CHIAPAS</a:t>
            </a:r>
          </a:p>
        </p:txBody>
      </p:sp>
      <p:pic>
        <p:nvPicPr>
          <p:cNvPr id="75" name="Imagen 41"/>
          <p:cNvPicPr>
            <a:picLocks noChangeAspect="1"/>
          </p:cNvPicPr>
          <p:nvPr/>
        </p:nvPicPr>
        <p:blipFill>
          <a:blip r:embed="rId4"/>
          <a:srcRect/>
          <a:stretch>
            <a:fillRect/>
          </a:stretch>
        </p:blipFill>
        <p:spPr>
          <a:xfrm>
            <a:off x="501576" y="128441"/>
            <a:ext cx="1834529" cy="809723"/>
          </a:xfrm>
          <a:prstGeom prst="rect">
            <a:avLst/>
          </a:prstGeom>
          <a:ln>
            <a:noFill/>
          </a:ln>
        </p:spPr>
      </p:pic>
      <p:pic>
        <p:nvPicPr>
          <p:cNvPr id="76" name="Imagen 42"/>
          <p:cNvPicPr>
            <a:picLocks noChangeAspect="1"/>
          </p:cNvPicPr>
          <p:nvPr/>
        </p:nvPicPr>
        <p:blipFill rotWithShape="1">
          <a:blip r:embed="rId5"/>
          <a:srcRect/>
          <a:stretch/>
        </p:blipFill>
        <p:spPr>
          <a:xfrm>
            <a:off x="10619686" y="11882"/>
            <a:ext cx="1289022" cy="926282"/>
          </a:xfrm>
          <a:prstGeom prst="rect">
            <a:avLst/>
          </a:prstGeom>
          <a:ln>
            <a:noFill/>
          </a:ln>
        </p:spPr>
      </p:pic>
      <p:sp>
        <p:nvSpPr>
          <p:cNvPr id="5" name="activity-left-node">
            <a:extLst>
              <a:ext uri="{FF2B5EF4-FFF2-40B4-BE49-F238E27FC236}">
                <a16:creationId xmlns:a16="http://schemas.microsoft.com/office/drawing/2014/main" id="{AB38A2EA-B133-B170-0BFA-9B5674F0137F}"/>
              </a:ext>
            </a:extLst>
          </p:cNvPr>
          <p:cNvSpPr>
            <a:spLocks noGrp="1"/>
          </p:cNvSpPr>
          <p:nvPr/>
        </p:nvSpPr>
        <p:spPr>
          <a:xfrm>
            <a:off x="6053137" y="2148500"/>
            <a:ext cx="85725" cy="85725"/>
          </a:xfrm>
          <a:prstGeom prst="ellipse">
            <a:avLst/>
          </a:prstGeom>
          <a:solidFill>
            <a:srgbClr val="FFFFFF"/>
          </a:solidFill>
          <a:ln w="14288">
            <a:solidFill>
              <a:srgbClr val="C8972C"/>
            </a:solidFill>
            <a:prstDash val="solid"/>
          </a:ln>
        </p:spPr>
      </p:sp>
    </p:spTree>
    <p:extLst>
      <p:ext uri="{BB962C8B-B14F-4D97-AF65-F5344CB8AC3E}">
        <p14:creationId xmlns:p14="http://schemas.microsoft.com/office/powerpoint/2010/main" val="1524056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Introducción</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Contexto de la actividad</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17320"/>
            <a:ext cx="10881360" cy="4389120"/>
          </a:xfrm>
          <a:prstGeom prst="rect">
            <a:avLst/>
          </a:prstGeom>
          <a:noFill/>
        </p:spPr>
        <p:txBody>
          <a:bodyPr wrap="square" lIns="73152" rIns="73152">
            <a:spAutoFit/>
          </a:bodyPr>
          <a:lstStyle/>
          <a:p>
            <a:pPr algn="l"/>
            <a:r>
              <a:rPr sz="1800" b="0" i="0">
                <a:solidFill>
                  <a:srgbClr val="2D2D2D"/>
                </a:solidFill>
                <a:latin typeface="Aptos"/>
              </a:rPr>
              <a:t>La optimización del código intermedio forma parte del proceso de compilación y tiene como finalidad mejorar la eficiencia del programa sin alterar su comportamiento. En esta actividad se trabajó con un conjunto de pruebas dirigidas para observar cómo el analizador transforma una representación intermedia original en una versión más conveniente.</a:t>
            </a:r>
          </a:p>
          <a:p>
            <a:pPr algn="l"/>
            <a:endParaRPr sz="1800" b="0" i="0">
              <a:solidFill>
                <a:srgbClr val="2D2D2D"/>
              </a:solidFill>
              <a:latin typeface="Aptos"/>
            </a:endParaRPr>
          </a:p>
          <a:p>
            <a:pPr algn="l"/>
            <a:r>
              <a:rPr sz="1800" b="0" i="0">
                <a:solidFill>
                  <a:srgbClr val="2D2D2D"/>
                </a:solidFill>
                <a:latin typeface="Aptos"/>
              </a:rPr>
              <a:t>Las evidencias incluidas en este reporte muestran diferentes casos de optimización: plegado de constantes, simplificación algebraica, propagación de constantes y copias, reducción de fuerza y un caso integrador. Cada prueba se documentó con capturas reales del sistema, destacando tanto el código de tres direcciones como la salida específica de la pestaña de optimización.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877373" cy="446276"/>
          </a:xfrm>
          <a:prstGeom prst="rect">
            <a:avLst/>
          </a:prstGeom>
          <a:noFill/>
        </p:spPr>
        <p:txBody>
          <a:bodyPr wrap="none">
            <a:spAutoFit/>
          </a:bodyPr>
          <a:lstStyle/>
          <a:p>
            <a:r>
              <a:rPr sz="2300" b="1" dirty="0" err="1">
                <a:solidFill>
                  <a:srgbClr val="18304A"/>
                </a:solidFill>
                <a:latin typeface="Aptos"/>
              </a:rPr>
              <a:t>Justificación</a:t>
            </a:r>
            <a:endParaRPr sz="2300" b="1" dirty="0">
              <a:solidFill>
                <a:srgbClr val="18304A"/>
              </a:solidFill>
              <a:latin typeface="Aptos"/>
            </a:endParaRP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17320"/>
            <a:ext cx="10881360" cy="4480560"/>
          </a:xfrm>
          <a:prstGeom prst="rect">
            <a:avLst/>
          </a:prstGeom>
          <a:noFill/>
        </p:spPr>
        <p:txBody>
          <a:bodyPr wrap="square" lIns="73152" rIns="73152">
            <a:spAutoFit/>
          </a:bodyPr>
          <a:lstStyle/>
          <a:p>
            <a:pPr algn="l"/>
            <a:r>
              <a:rPr sz="1800" b="0" i="0" dirty="0">
                <a:solidFill>
                  <a:srgbClr val="2D2D2D"/>
                </a:solidFill>
                <a:latin typeface="Aptos"/>
              </a:rPr>
              <a:t>El </a:t>
            </a:r>
            <a:r>
              <a:rPr sz="1800" b="0" i="0" dirty="0" err="1">
                <a:solidFill>
                  <a:srgbClr val="2D2D2D"/>
                </a:solidFill>
                <a:latin typeface="Aptos"/>
              </a:rPr>
              <a:t>desarrollo</a:t>
            </a:r>
            <a:r>
              <a:rPr sz="1800" b="0" i="0" dirty="0">
                <a:solidFill>
                  <a:srgbClr val="2D2D2D"/>
                </a:solidFill>
                <a:latin typeface="Aptos"/>
              </a:rPr>
              <a:t> de </a:t>
            </a:r>
            <a:r>
              <a:rPr sz="1800" b="0" i="0" dirty="0" err="1">
                <a:solidFill>
                  <a:srgbClr val="2D2D2D"/>
                </a:solidFill>
                <a:latin typeface="Aptos"/>
              </a:rPr>
              <a:t>esta</a:t>
            </a:r>
            <a:r>
              <a:rPr sz="1800" b="0" i="0" dirty="0">
                <a:solidFill>
                  <a:srgbClr val="2D2D2D"/>
                </a:solidFill>
                <a:latin typeface="Aptos"/>
              </a:rPr>
              <a:t> </a:t>
            </a:r>
            <a:r>
              <a:rPr sz="1800" b="0" i="0" dirty="0" err="1">
                <a:solidFill>
                  <a:srgbClr val="2D2D2D"/>
                </a:solidFill>
                <a:latin typeface="Aptos"/>
              </a:rPr>
              <a:t>práctica</a:t>
            </a:r>
            <a:r>
              <a:rPr sz="1800" b="0" i="0" dirty="0">
                <a:solidFill>
                  <a:srgbClr val="2D2D2D"/>
                </a:solidFill>
                <a:latin typeface="Aptos"/>
              </a:rPr>
              <a:t> </a:t>
            </a:r>
            <a:r>
              <a:rPr sz="1800" b="0" i="0" dirty="0" err="1">
                <a:solidFill>
                  <a:srgbClr val="2D2D2D"/>
                </a:solidFill>
                <a:latin typeface="Aptos"/>
              </a:rPr>
              <a:t>permite</a:t>
            </a:r>
            <a:r>
              <a:rPr sz="1800" b="0" i="0" dirty="0">
                <a:solidFill>
                  <a:srgbClr val="2D2D2D"/>
                </a:solidFill>
                <a:latin typeface="Aptos"/>
              </a:rPr>
              <a:t> </a:t>
            </a:r>
            <a:r>
              <a:rPr sz="1800" b="0" i="0" dirty="0" err="1">
                <a:solidFill>
                  <a:srgbClr val="2D2D2D"/>
                </a:solidFill>
                <a:latin typeface="Aptos"/>
              </a:rPr>
              <a:t>comprender</a:t>
            </a:r>
            <a:r>
              <a:rPr sz="1800" b="0" i="0" dirty="0">
                <a:solidFill>
                  <a:srgbClr val="2D2D2D"/>
                </a:solidFill>
                <a:latin typeface="Aptos"/>
              </a:rPr>
              <a:t> que </a:t>
            </a:r>
            <a:r>
              <a:rPr sz="1800" b="0" i="0" dirty="0" err="1">
                <a:solidFill>
                  <a:srgbClr val="2D2D2D"/>
                </a:solidFill>
                <a:latin typeface="Aptos"/>
              </a:rPr>
              <a:t>optimizar</a:t>
            </a:r>
            <a:r>
              <a:rPr sz="1800" b="0" i="0" dirty="0">
                <a:solidFill>
                  <a:srgbClr val="2D2D2D"/>
                </a:solidFill>
                <a:latin typeface="Aptos"/>
              </a:rPr>
              <a:t> no </a:t>
            </a:r>
            <a:r>
              <a:rPr sz="1800" b="0" i="0" dirty="0" err="1">
                <a:solidFill>
                  <a:srgbClr val="2D2D2D"/>
                </a:solidFill>
                <a:latin typeface="Aptos"/>
              </a:rPr>
              <a:t>significa</a:t>
            </a:r>
            <a:r>
              <a:rPr sz="1800" b="0" i="0" dirty="0">
                <a:solidFill>
                  <a:srgbClr val="2D2D2D"/>
                </a:solidFill>
                <a:latin typeface="Aptos"/>
              </a:rPr>
              <a:t> </a:t>
            </a:r>
            <a:r>
              <a:rPr sz="1800" b="0" i="0" dirty="0" err="1">
                <a:solidFill>
                  <a:srgbClr val="2D2D2D"/>
                </a:solidFill>
                <a:latin typeface="Aptos"/>
              </a:rPr>
              <a:t>cambiar</a:t>
            </a:r>
            <a:r>
              <a:rPr sz="1800" b="0" i="0" dirty="0">
                <a:solidFill>
                  <a:srgbClr val="2D2D2D"/>
                </a:solidFill>
                <a:latin typeface="Aptos"/>
              </a:rPr>
              <a:t> </a:t>
            </a:r>
            <a:r>
              <a:rPr sz="1800" b="0" i="0" dirty="0" err="1">
                <a:solidFill>
                  <a:srgbClr val="2D2D2D"/>
                </a:solidFill>
                <a:latin typeface="Aptos"/>
              </a:rPr>
              <a:t>el</a:t>
            </a:r>
            <a:r>
              <a:rPr sz="1800" b="0" i="0" dirty="0">
                <a:solidFill>
                  <a:srgbClr val="2D2D2D"/>
                </a:solidFill>
                <a:latin typeface="Aptos"/>
              </a:rPr>
              <a:t> </a:t>
            </a:r>
            <a:r>
              <a:rPr sz="1800" b="0" i="0" dirty="0" err="1">
                <a:solidFill>
                  <a:srgbClr val="2D2D2D"/>
                </a:solidFill>
                <a:latin typeface="Aptos"/>
              </a:rPr>
              <a:t>resultado</a:t>
            </a:r>
            <a:r>
              <a:rPr sz="1800" b="0" i="0" dirty="0">
                <a:solidFill>
                  <a:srgbClr val="2D2D2D"/>
                </a:solidFill>
                <a:latin typeface="Aptos"/>
              </a:rPr>
              <a:t> del </a:t>
            </a:r>
            <a:r>
              <a:rPr sz="1800" b="0" i="0" dirty="0" err="1">
                <a:solidFill>
                  <a:srgbClr val="2D2D2D"/>
                </a:solidFill>
                <a:latin typeface="Aptos"/>
              </a:rPr>
              <a:t>programa</a:t>
            </a:r>
            <a:r>
              <a:rPr sz="1800" b="0" i="0" dirty="0">
                <a:solidFill>
                  <a:srgbClr val="2D2D2D"/>
                </a:solidFill>
                <a:latin typeface="Aptos"/>
              </a:rPr>
              <a:t>, </a:t>
            </a:r>
            <a:r>
              <a:rPr sz="1800" b="0" i="0" dirty="0" err="1">
                <a:solidFill>
                  <a:srgbClr val="2D2D2D"/>
                </a:solidFill>
                <a:latin typeface="Aptos"/>
              </a:rPr>
              <a:t>sino</a:t>
            </a:r>
            <a:r>
              <a:rPr sz="1800" b="0" i="0" dirty="0">
                <a:solidFill>
                  <a:srgbClr val="2D2D2D"/>
                </a:solidFill>
                <a:latin typeface="Aptos"/>
              </a:rPr>
              <a:t> </a:t>
            </a:r>
            <a:r>
              <a:rPr sz="1800" b="0" i="0" dirty="0" err="1">
                <a:solidFill>
                  <a:srgbClr val="2D2D2D"/>
                </a:solidFill>
                <a:latin typeface="Aptos"/>
              </a:rPr>
              <a:t>reorganizar</a:t>
            </a:r>
            <a:r>
              <a:rPr sz="1800" b="0" i="0" dirty="0">
                <a:solidFill>
                  <a:srgbClr val="2D2D2D"/>
                </a:solidFill>
                <a:latin typeface="Aptos"/>
              </a:rPr>
              <a:t> sus </a:t>
            </a:r>
            <a:r>
              <a:rPr sz="1800" b="0" i="0" dirty="0" err="1">
                <a:solidFill>
                  <a:srgbClr val="2D2D2D"/>
                </a:solidFill>
                <a:latin typeface="Aptos"/>
              </a:rPr>
              <a:t>instrucciones</a:t>
            </a:r>
            <a:r>
              <a:rPr sz="1800" b="0" i="0" dirty="0">
                <a:solidFill>
                  <a:srgbClr val="2D2D2D"/>
                </a:solidFill>
                <a:latin typeface="Aptos"/>
              </a:rPr>
              <a:t> para </a:t>
            </a:r>
            <a:r>
              <a:rPr sz="1800" b="0" i="0" dirty="0" err="1">
                <a:solidFill>
                  <a:srgbClr val="2D2D2D"/>
                </a:solidFill>
                <a:latin typeface="Aptos"/>
              </a:rPr>
              <a:t>reducir</a:t>
            </a:r>
            <a:r>
              <a:rPr sz="1800" b="0" i="0" dirty="0">
                <a:solidFill>
                  <a:srgbClr val="2D2D2D"/>
                </a:solidFill>
                <a:latin typeface="Aptos"/>
              </a:rPr>
              <a:t> </a:t>
            </a:r>
            <a:r>
              <a:rPr sz="1800" b="0" i="0" dirty="0" err="1">
                <a:solidFill>
                  <a:srgbClr val="2D2D2D"/>
                </a:solidFill>
                <a:latin typeface="Aptos"/>
              </a:rPr>
              <a:t>trabajo</a:t>
            </a:r>
            <a:r>
              <a:rPr sz="1800" b="0" i="0" dirty="0">
                <a:solidFill>
                  <a:srgbClr val="2D2D2D"/>
                </a:solidFill>
                <a:latin typeface="Aptos"/>
              </a:rPr>
              <a:t> </a:t>
            </a:r>
            <a:r>
              <a:rPr sz="1800" b="0" i="0" dirty="0" err="1">
                <a:solidFill>
                  <a:srgbClr val="2D2D2D"/>
                </a:solidFill>
                <a:latin typeface="Aptos"/>
              </a:rPr>
              <a:t>innecesario</a:t>
            </a:r>
            <a:r>
              <a:rPr sz="1800" b="0" i="0" dirty="0">
                <a:solidFill>
                  <a:srgbClr val="2D2D2D"/>
                </a:solidFill>
                <a:latin typeface="Aptos"/>
              </a:rPr>
              <a:t>. A </a:t>
            </a:r>
            <a:r>
              <a:rPr sz="1800" b="0" i="0" dirty="0" err="1">
                <a:solidFill>
                  <a:srgbClr val="2D2D2D"/>
                </a:solidFill>
                <a:latin typeface="Aptos"/>
              </a:rPr>
              <a:t>través</a:t>
            </a:r>
            <a:r>
              <a:rPr sz="1800" b="0" i="0" dirty="0">
                <a:solidFill>
                  <a:srgbClr val="2D2D2D"/>
                </a:solidFill>
                <a:latin typeface="Aptos"/>
              </a:rPr>
              <a:t> de </a:t>
            </a:r>
            <a:r>
              <a:rPr sz="1800" b="0" i="0" dirty="0" err="1">
                <a:solidFill>
                  <a:srgbClr val="2D2D2D"/>
                </a:solidFill>
                <a:latin typeface="Aptos"/>
              </a:rPr>
              <a:t>ejemplos</a:t>
            </a:r>
            <a:r>
              <a:rPr sz="1800" b="0" i="0" dirty="0">
                <a:solidFill>
                  <a:srgbClr val="2D2D2D"/>
                </a:solidFill>
                <a:latin typeface="Aptos"/>
              </a:rPr>
              <a:t> </a:t>
            </a:r>
            <a:r>
              <a:rPr sz="1800" b="0" i="0" dirty="0" err="1">
                <a:solidFill>
                  <a:srgbClr val="2D2D2D"/>
                </a:solidFill>
                <a:latin typeface="Aptos"/>
              </a:rPr>
              <a:t>sencillos</a:t>
            </a:r>
            <a:r>
              <a:rPr sz="1800" b="0" i="0" dirty="0">
                <a:solidFill>
                  <a:srgbClr val="2D2D2D"/>
                </a:solidFill>
                <a:latin typeface="Aptos"/>
              </a:rPr>
              <a:t> es </a:t>
            </a:r>
            <a:r>
              <a:rPr sz="1800" b="0" i="0" dirty="0" err="1">
                <a:solidFill>
                  <a:srgbClr val="2D2D2D"/>
                </a:solidFill>
                <a:latin typeface="Aptos"/>
              </a:rPr>
              <a:t>posible</a:t>
            </a:r>
            <a:r>
              <a:rPr sz="1800" b="0" i="0" dirty="0">
                <a:solidFill>
                  <a:srgbClr val="2D2D2D"/>
                </a:solidFill>
                <a:latin typeface="Aptos"/>
              </a:rPr>
              <a:t> </a:t>
            </a:r>
            <a:r>
              <a:rPr sz="1800" b="0" i="0" dirty="0" err="1">
                <a:solidFill>
                  <a:srgbClr val="2D2D2D"/>
                </a:solidFill>
                <a:latin typeface="Aptos"/>
              </a:rPr>
              <a:t>reconocer</a:t>
            </a:r>
            <a:r>
              <a:rPr sz="1800" b="0" i="0" dirty="0">
                <a:solidFill>
                  <a:srgbClr val="2D2D2D"/>
                </a:solidFill>
                <a:latin typeface="Aptos"/>
              </a:rPr>
              <a:t> </a:t>
            </a:r>
            <a:r>
              <a:rPr sz="1800" b="0" i="0" dirty="0" err="1">
                <a:solidFill>
                  <a:srgbClr val="2D2D2D"/>
                </a:solidFill>
                <a:latin typeface="Aptos"/>
              </a:rPr>
              <a:t>cuáles</a:t>
            </a:r>
            <a:r>
              <a:rPr sz="1800" b="0" i="0" dirty="0">
                <a:solidFill>
                  <a:srgbClr val="2D2D2D"/>
                </a:solidFill>
                <a:latin typeface="Aptos"/>
              </a:rPr>
              <a:t> </a:t>
            </a:r>
            <a:r>
              <a:rPr sz="1800" b="0" i="0" dirty="0" err="1">
                <a:solidFill>
                  <a:srgbClr val="2D2D2D"/>
                </a:solidFill>
                <a:latin typeface="Aptos"/>
              </a:rPr>
              <a:t>transformaciones</a:t>
            </a:r>
            <a:r>
              <a:rPr sz="1800" b="0" i="0" dirty="0">
                <a:solidFill>
                  <a:srgbClr val="2D2D2D"/>
                </a:solidFill>
                <a:latin typeface="Aptos"/>
              </a:rPr>
              <a:t> se </a:t>
            </a:r>
            <a:r>
              <a:rPr sz="1800" b="0" i="0" dirty="0" err="1">
                <a:solidFill>
                  <a:srgbClr val="2D2D2D"/>
                </a:solidFill>
                <a:latin typeface="Aptos"/>
              </a:rPr>
              <a:t>pueden</a:t>
            </a:r>
            <a:r>
              <a:rPr sz="1800" b="0" i="0" dirty="0">
                <a:solidFill>
                  <a:srgbClr val="2D2D2D"/>
                </a:solidFill>
                <a:latin typeface="Aptos"/>
              </a:rPr>
              <a:t> </a:t>
            </a:r>
            <a:r>
              <a:rPr sz="1800" b="0" i="0" dirty="0" err="1">
                <a:solidFill>
                  <a:srgbClr val="2D2D2D"/>
                </a:solidFill>
                <a:latin typeface="Aptos"/>
              </a:rPr>
              <a:t>aplicar</a:t>
            </a:r>
            <a:r>
              <a:rPr sz="1800" b="0" i="0" dirty="0">
                <a:solidFill>
                  <a:srgbClr val="2D2D2D"/>
                </a:solidFill>
                <a:latin typeface="Aptos"/>
              </a:rPr>
              <a:t> con </a:t>
            </a:r>
            <a:r>
              <a:rPr sz="1800" b="0" i="0" dirty="0" err="1">
                <a:solidFill>
                  <a:srgbClr val="2D2D2D"/>
                </a:solidFill>
                <a:latin typeface="Aptos"/>
              </a:rPr>
              <a:t>seguridad</a:t>
            </a:r>
            <a:r>
              <a:rPr sz="1800" b="0" i="0" dirty="0">
                <a:solidFill>
                  <a:srgbClr val="2D2D2D"/>
                </a:solidFill>
                <a:latin typeface="Aptos"/>
              </a:rPr>
              <a:t> y </a:t>
            </a:r>
            <a:r>
              <a:rPr sz="1800" b="0" i="0" dirty="0" err="1">
                <a:solidFill>
                  <a:srgbClr val="2D2D2D"/>
                </a:solidFill>
                <a:latin typeface="Aptos"/>
              </a:rPr>
              <a:t>cuáles</a:t>
            </a:r>
            <a:r>
              <a:rPr sz="1800" b="0" i="0" dirty="0">
                <a:solidFill>
                  <a:srgbClr val="2D2D2D"/>
                </a:solidFill>
                <a:latin typeface="Aptos"/>
              </a:rPr>
              <a:t> </a:t>
            </a:r>
            <a:r>
              <a:rPr sz="1800" b="0" i="0" dirty="0" err="1">
                <a:solidFill>
                  <a:srgbClr val="2D2D2D"/>
                </a:solidFill>
                <a:latin typeface="Aptos"/>
              </a:rPr>
              <a:t>beneficios</a:t>
            </a:r>
            <a:r>
              <a:rPr sz="1800" b="0" i="0" dirty="0">
                <a:solidFill>
                  <a:srgbClr val="2D2D2D"/>
                </a:solidFill>
                <a:latin typeface="Aptos"/>
              </a:rPr>
              <a:t> </a:t>
            </a:r>
            <a:r>
              <a:rPr sz="1800" b="0" i="0" dirty="0" err="1">
                <a:solidFill>
                  <a:srgbClr val="2D2D2D"/>
                </a:solidFill>
                <a:latin typeface="Aptos"/>
              </a:rPr>
              <a:t>producen</a:t>
            </a:r>
            <a:r>
              <a:rPr sz="1800" b="0" i="0" dirty="0">
                <a:solidFill>
                  <a:srgbClr val="2D2D2D"/>
                </a:solidFill>
                <a:latin typeface="Aptos"/>
              </a:rPr>
              <a:t>.</a:t>
            </a:r>
          </a:p>
          <a:p>
            <a:pPr algn="l"/>
            <a:endParaRPr sz="1800" b="0" i="0" dirty="0">
              <a:solidFill>
                <a:srgbClr val="2D2D2D"/>
              </a:solidFill>
              <a:latin typeface="Aptos"/>
            </a:endParaRPr>
          </a:p>
          <a:p>
            <a:pPr algn="l"/>
            <a:r>
              <a:rPr sz="1800" b="0" i="0" dirty="0" err="1">
                <a:solidFill>
                  <a:srgbClr val="2D2D2D"/>
                </a:solidFill>
                <a:latin typeface="Aptos"/>
              </a:rPr>
              <a:t>Documentar</a:t>
            </a:r>
            <a:r>
              <a:rPr sz="1800" b="0" i="0" dirty="0">
                <a:solidFill>
                  <a:srgbClr val="2D2D2D"/>
                </a:solidFill>
                <a:latin typeface="Aptos"/>
              </a:rPr>
              <a:t> </a:t>
            </a:r>
            <a:r>
              <a:rPr sz="1800" b="0" i="0" dirty="0" err="1">
                <a:solidFill>
                  <a:srgbClr val="2D2D2D"/>
                </a:solidFill>
                <a:latin typeface="Aptos"/>
              </a:rPr>
              <a:t>cada</a:t>
            </a:r>
            <a:r>
              <a:rPr sz="1800" b="0" i="0" dirty="0">
                <a:solidFill>
                  <a:srgbClr val="2D2D2D"/>
                </a:solidFill>
                <a:latin typeface="Aptos"/>
              </a:rPr>
              <a:t> </a:t>
            </a:r>
            <a:r>
              <a:rPr sz="1800" b="0" i="0" dirty="0" err="1">
                <a:solidFill>
                  <a:srgbClr val="2D2D2D"/>
                </a:solidFill>
                <a:latin typeface="Aptos"/>
              </a:rPr>
              <a:t>prueba</a:t>
            </a:r>
            <a:r>
              <a:rPr sz="1800" b="0" i="0" dirty="0">
                <a:solidFill>
                  <a:srgbClr val="2D2D2D"/>
                </a:solidFill>
                <a:latin typeface="Aptos"/>
              </a:rPr>
              <a:t> con </a:t>
            </a:r>
            <a:r>
              <a:rPr sz="1800" b="0" i="0" dirty="0" err="1">
                <a:solidFill>
                  <a:srgbClr val="2D2D2D"/>
                </a:solidFill>
                <a:latin typeface="Aptos"/>
              </a:rPr>
              <a:t>evidencias</a:t>
            </a:r>
            <a:r>
              <a:rPr sz="1800" b="0" i="0" dirty="0">
                <a:solidFill>
                  <a:srgbClr val="2D2D2D"/>
                </a:solidFill>
                <a:latin typeface="Aptos"/>
              </a:rPr>
              <a:t> </a:t>
            </a:r>
            <a:r>
              <a:rPr sz="1800" b="0" i="0" dirty="0" err="1">
                <a:solidFill>
                  <a:srgbClr val="2D2D2D"/>
                </a:solidFill>
                <a:latin typeface="Aptos"/>
              </a:rPr>
              <a:t>visuales</a:t>
            </a:r>
            <a:r>
              <a:rPr sz="1800" b="0" i="0" dirty="0">
                <a:solidFill>
                  <a:srgbClr val="2D2D2D"/>
                </a:solidFill>
                <a:latin typeface="Aptos"/>
              </a:rPr>
              <a:t> </a:t>
            </a:r>
            <a:r>
              <a:rPr sz="1800" b="0" i="0" dirty="0" err="1">
                <a:solidFill>
                  <a:srgbClr val="2D2D2D"/>
                </a:solidFill>
                <a:latin typeface="Aptos"/>
              </a:rPr>
              <a:t>resulta</a:t>
            </a:r>
            <a:r>
              <a:rPr sz="1800" b="0" i="0" dirty="0">
                <a:solidFill>
                  <a:srgbClr val="2D2D2D"/>
                </a:solidFill>
                <a:latin typeface="Aptos"/>
              </a:rPr>
              <a:t> </a:t>
            </a:r>
            <a:r>
              <a:rPr sz="1800" b="0" i="0" dirty="0" err="1">
                <a:solidFill>
                  <a:srgbClr val="2D2D2D"/>
                </a:solidFill>
                <a:latin typeface="Aptos"/>
              </a:rPr>
              <a:t>útil</a:t>
            </a:r>
            <a:r>
              <a:rPr sz="1800" b="0" i="0" dirty="0">
                <a:solidFill>
                  <a:srgbClr val="2D2D2D"/>
                </a:solidFill>
                <a:latin typeface="Aptos"/>
              </a:rPr>
              <a:t> </a:t>
            </a:r>
            <a:r>
              <a:rPr sz="1800" b="0" i="0" dirty="0" err="1">
                <a:solidFill>
                  <a:srgbClr val="2D2D2D"/>
                </a:solidFill>
                <a:latin typeface="Aptos"/>
              </a:rPr>
              <a:t>porque</a:t>
            </a:r>
            <a:r>
              <a:rPr sz="1800" b="0" i="0" dirty="0">
                <a:solidFill>
                  <a:srgbClr val="2D2D2D"/>
                </a:solidFill>
                <a:latin typeface="Aptos"/>
              </a:rPr>
              <a:t> </a:t>
            </a:r>
            <a:r>
              <a:rPr sz="1800" b="0" i="0" dirty="0" err="1">
                <a:solidFill>
                  <a:srgbClr val="2D2D2D"/>
                </a:solidFill>
                <a:latin typeface="Aptos"/>
              </a:rPr>
              <a:t>permite</a:t>
            </a:r>
            <a:r>
              <a:rPr sz="1800" b="0" i="0" dirty="0">
                <a:solidFill>
                  <a:srgbClr val="2D2D2D"/>
                </a:solidFill>
                <a:latin typeface="Aptos"/>
              </a:rPr>
              <a:t> </a:t>
            </a:r>
            <a:r>
              <a:rPr sz="1800" b="0" i="0" dirty="0" err="1">
                <a:solidFill>
                  <a:srgbClr val="2D2D2D"/>
                </a:solidFill>
                <a:latin typeface="Aptos"/>
              </a:rPr>
              <a:t>comparar</a:t>
            </a:r>
            <a:r>
              <a:rPr sz="1800" b="0" i="0" dirty="0">
                <a:solidFill>
                  <a:srgbClr val="2D2D2D"/>
                </a:solidFill>
                <a:latin typeface="Aptos"/>
              </a:rPr>
              <a:t> </a:t>
            </a:r>
            <a:r>
              <a:rPr sz="1800" b="0" i="0" dirty="0" err="1">
                <a:solidFill>
                  <a:srgbClr val="2D2D2D"/>
                </a:solidFill>
                <a:latin typeface="Aptos"/>
              </a:rPr>
              <a:t>el</a:t>
            </a:r>
            <a:r>
              <a:rPr sz="1800" b="0" i="0" dirty="0">
                <a:solidFill>
                  <a:srgbClr val="2D2D2D"/>
                </a:solidFill>
                <a:latin typeface="Aptos"/>
              </a:rPr>
              <a:t> </a:t>
            </a:r>
            <a:r>
              <a:rPr sz="1800" b="0" i="0" dirty="0" err="1">
                <a:solidFill>
                  <a:srgbClr val="2D2D2D"/>
                </a:solidFill>
                <a:latin typeface="Aptos"/>
              </a:rPr>
              <a:t>estado</a:t>
            </a:r>
            <a:r>
              <a:rPr sz="1800" b="0" i="0" dirty="0">
                <a:solidFill>
                  <a:srgbClr val="2D2D2D"/>
                </a:solidFill>
                <a:latin typeface="Aptos"/>
              </a:rPr>
              <a:t> original del </a:t>
            </a:r>
            <a:r>
              <a:rPr sz="1800" b="0" i="0" dirty="0" err="1">
                <a:solidFill>
                  <a:srgbClr val="2D2D2D"/>
                </a:solidFill>
                <a:latin typeface="Aptos"/>
              </a:rPr>
              <a:t>código</a:t>
            </a:r>
            <a:r>
              <a:rPr sz="1800" b="0" i="0" dirty="0">
                <a:solidFill>
                  <a:srgbClr val="2D2D2D"/>
                </a:solidFill>
                <a:latin typeface="Aptos"/>
              </a:rPr>
              <a:t> </a:t>
            </a:r>
            <a:r>
              <a:rPr sz="1800" b="0" i="0" dirty="0" err="1">
                <a:solidFill>
                  <a:srgbClr val="2D2D2D"/>
                </a:solidFill>
                <a:latin typeface="Aptos"/>
              </a:rPr>
              <a:t>intermedio</a:t>
            </a:r>
            <a:r>
              <a:rPr sz="1800" b="0" i="0" dirty="0">
                <a:solidFill>
                  <a:srgbClr val="2D2D2D"/>
                </a:solidFill>
                <a:latin typeface="Aptos"/>
              </a:rPr>
              <a:t> con </a:t>
            </a:r>
            <a:r>
              <a:rPr sz="1800" b="0" i="0" dirty="0" err="1">
                <a:solidFill>
                  <a:srgbClr val="2D2D2D"/>
                </a:solidFill>
                <a:latin typeface="Aptos"/>
              </a:rPr>
              <a:t>su</a:t>
            </a:r>
            <a:r>
              <a:rPr sz="1800" b="0" i="0" dirty="0">
                <a:solidFill>
                  <a:srgbClr val="2D2D2D"/>
                </a:solidFill>
                <a:latin typeface="Aptos"/>
              </a:rPr>
              <a:t> </a:t>
            </a:r>
            <a:r>
              <a:rPr sz="1800" b="0" i="0" dirty="0" err="1">
                <a:solidFill>
                  <a:srgbClr val="2D2D2D"/>
                </a:solidFill>
                <a:latin typeface="Aptos"/>
              </a:rPr>
              <a:t>versión</a:t>
            </a:r>
            <a:r>
              <a:rPr sz="1800" b="0" i="0" dirty="0">
                <a:solidFill>
                  <a:srgbClr val="2D2D2D"/>
                </a:solidFill>
                <a:latin typeface="Aptos"/>
              </a:rPr>
              <a:t> </a:t>
            </a:r>
            <a:r>
              <a:rPr sz="1800" b="0" i="0" dirty="0" err="1">
                <a:solidFill>
                  <a:srgbClr val="2D2D2D"/>
                </a:solidFill>
                <a:latin typeface="Aptos"/>
              </a:rPr>
              <a:t>optimizada</a:t>
            </a:r>
            <a:r>
              <a:rPr sz="1800" b="0" i="0" dirty="0">
                <a:solidFill>
                  <a:srgbClr val="2D2D2D"/>
                </a:solidFill>
                <a:latin typeface="Aptos"/>
              </a:rPr>
              <a:t>. De </a:t>
            </a:r>
            <a:r>
              <a:rPr sz="1800" b="0" i="0" dirty="0" err="1">
                <a:solidFill>
                  <a:srgbClr val="2D2D2D"/>
                </a:solidFill>
                <a:latin typeface="Aptos"/>
              </a:rPr>
              <a:t>esta</a:t>
            </a:r>
            <a:r>
              <a:rPr sz="1800" b="0" i="0" dirty="0">
                <a:solidFill>
                  <a:srgbClr val="2D2D2D"/>
                </a:solidFill>
                <a:latin typeface="Aptos"/>
              </a:rPr>
              <a:t> </a:t>
            </a:r>
            <a:r>
              <a:rPr sz="1800" b="0" i="0" dirty="0" err="1">
                <a:solidFill>
                  <a:srgbClr val="2D2D2D"/>
                </a:solidFill>
                <a:latin typeface="Aptos"/>
              </a:rPr>
              <a:t>manera</a:t>
            </a:r>
            <a:r>
              <a:rPr sz="1800" b="0" i="0" dirty="0">
                <a:solidFill>
                  <a:srgbClr val="2D2D2D"/>
                </a:solidFill>
                <a:latin typeface="Aptos"/>
              </a:rPr>
              <a:t> se </a:t>
            </a:r>
            <a:r>
              <a:rPr sz="1800" b="0" i="0" dirty="0" err="1">
                <a:solidFill>
                  <a:srgbClr val="2D2D2D"/>
                </a:solidFill>
                <a:latin typeface="Aptos"/>
              </a:rPr>
              <a:t>refuerza</a:t>
            </a:r>
            <a:r>
              <a:rPr sz="1800" b="0" i="0" dirty="0">
                <a:solidFill>
                  <a:srgbClr val="2D2D2D"/>
                </a:solidFill>
                <a:latin typeface="Aptos"/>
              </a:rPr>
              <a:t> </a:t>
            </a:r>
            <a:r>
              <a:rPr sz="1800" b="0" i="0" dirty="0" err="1">
                <a:solidFill>
                  <a:srgbClr val="2D2D2D"/>
                </a:solidFill>
                <a:latin typeface="Aptos"/>
              </a:rPr>
              <a:t>el</a:t>
            </a:r>
            <a:r>
              <a:rPr sz="1800" b="0" i="0" dirty="0">
                <a:solidFill>
                  <a:srgbClr val="2D2D2D"/>
                </a:solidFill>
                <a:latin typeface="Aptos"/>
              </a:rPr>
              <a:t> </a:t>
            </a:r>
            <a:r>
              <a:rPr sz="1800" b="0" i="0" dirty="0" err="1">
                <a:solidFill>
                  <a:srgbClr val="2D2D2D"/>
                </a:solidFill>
                <a:latin typeface="Aptos"/>
              </a:rPr>
              <a:t>aprendizaje</a:t>
            </a:r>
            <a:r>
              <a:rPr sz="1800" b="0" i="0" dirty="0">
                <a:solidFill>
                  <a:srgbClr val="2D2D2D"/>
                </a:solidFill>
                <a:latin typeface="Aptos"/>
              </a:rPr>
              <a:t> de las </a:t>
            </a:r>
            <a:r>
              <a:rPr sz="1800" b="0" i="0" dirty="0" err="1">
                <a:solidFill>
                  <a:srgbClr val="2D2D2D"/>
                </a:solidFill>
                <a:latin typeface="Aptos"/>
              </a:rPr>
              <a:t>técnicas</a:t>
            </a:r>
            <a:r>
              <a:rPr sz="1800" b="0" i="0" dirty="0">
                <a:solidFill>
                  <a:srgbClr val="2D2D2D"/>
                </a:solidFill>
                <a:latin typeface="Aptos"/>
              </a:rPr>
              <a:t> vistas </a:t>
            </a:r>
            <a:r>
              <a:rPr sz="1800" b="0" i="0" dirty="0" err="1">
                <a:solidFill>
                  <a:srgbClr val="2D2D2D"/>
                </a:solidFill>
                <a:latin typeface="Aptos"/>
              </a:rPr>
              <a:t>en</a:t>
            </a:r>
            <a:r>
              <a:rPr sz="1800" b="0" i="0" dirty="0">
                <a:solidFill>
                  <a:srgbClr val="2D2D2D"/>
                </a:solidFill>
                <a:latin typeface="Aptos"/>
              </a:rPr>
              <a:t> la Unidad 3 y se </a:t>
            </a:r>
            <a:r>
              <a:rPr sz="1800" b="0" i="0" dirty="0" err="1">
                <a:solidFill>
                  <a:srgbClr val="2D2D2D"/>
                </a:solidFill>
                <a:latin typeface="Aptos"/>
              </a:rPr>
              <a:t>obtiene</a:t>
            </a:r>
            <a:r>
              <a:rPr sz="1800" b="0" i="0" dirty="0">
                <a:solidFill>
                  <a:srgbClr val="2D2D2D"/>
                </a:solidFill>
                <a:latin typeface="Aptos"/>
              </a:rPr>
              <a:t> </a:t>
            </a:r>
            <a:r>
              <a:rPr sz="1800" b="0" i="0" dirty="0" err="1">
                <a:solidFill>
                  <a:srgbClr val="2D2D2D"/>
                </a:solidFill>
                <a:latin typeface="Aptos"/>
              </a:rPr>
              <a:t>una</a:t>
            </a:r>
            <a:r>
              <a:rPr sz="1800" b="0" i="0" dirty="0">
                <a:solidFill>
                  <a:srgbClr val="2D2D2D"/>
                </a:solidFill>
                <a:latin typeface="Aptos"/>
              </a:rPr>
              <a:t> base </a:t>
            </a:r>
            <a:r>
              <a:rPr sz="1800" b="0" i="0" dirty="0" err="1">
                <a:solidFill>
                  <a:srgbClr val="2D2D2D"/>
                </a:solidFill>
                <a:latin typeface="Aptos"/>
              </a:rPr>
              <a:t>clara</a:t>
            </a:r>
            <a:r>
              <a:rPr sz="1800" b="0" i="0" dirty="0">
                <a:solidFill>
                  <a:srgbClr val="2D2D2D"/>
                </a:solidFill>
                <a:latin typeface="Aptos"/>
              </a:rPr>
              <a:t> para </a:t>
            </a:r>
            <a:r>
              <a:rPr sz="1800" b="0" i="0" dirty="0" err="1">
                <a:solidFill>
                  <a:srgbClr val="2D2D2D"/>
                </a:solidFill>
                <a:latin typeface="Aptos"/>
              </a:rPr>
              <a:t>interpretar</a:t>
            </a:r>
            <a:r>
              <a:rPr sz="1800" b="0" i="0" dirty="0">
                <a:solidFill>
                  <a:srgbClr val="2D2D2D"/>
                </a:solidFill>
                <a:latin typeface="Aptos"/>
              </a:rPr>
              <a:t> </a:t>
            </a:r>
            <a:r>
              <a:rPr sz="1800" b="0" i="0" dirty="0" err="1">
                <a:solidFill>
                  <a:srgbClr val="2D2D2D"/>
                </a:solidFill>
                <a:latin typeface="Aptos"/>
              </a:rPr>
              <a:t>cambios</a:t>
            </a:r>
            <a:r>
              <a:rPr sz="1800" b="0" i="0" dirty="0">
                <a:solidFill>
                  <a:srgbClr val="2D2D2D"/>
                </a:solidFill>
                <a:latin typeface="Aptos"/>
              </a:rPr>
              <a:t>, </a:t>
            </a:r>
            <a:r>
              <a:rPr sz="1800" b="0" i="0" dirty="0" err="1">
                <a:solidFill>
                  <a:srgbClr val="2D2D2D"/>
                </a:solidFill>
                <a:latin typeface="Aptos"/>
              </a:rPr>
              <a:t>reducciones</a:t>
            </a:r>
            <a:r>
              <a:rPr sz="1800" b="0" i="0" dirty="0">
                <a:solidFill>
                  <a:srgbClr val="2D2D2D"/>
                </a:solidFill>
                <a:latin typeface="Aptos"/>
              </a:rPr>
              <a:t> y </a:t>
            </a:r>
            <a:r>
              <a:rPr sz="1800" b="0" i="0" dirty="0" err="1">
                <a:solidFill>
                  <a:srgbClr val="2D2D2D"/>
                </a:solidFill>
                <a:latin typeface="Aptos"/>
              </a:rPr>
              <a:t>criterios</a:t>
            </a:r>
            <a:r>
              <a:rPr sz="1800" b="0" i="0" dirty="0">
                <a:solidFill>
                  <a:srgbClr val="2D2D2D"/>
                </a:solidFill>
                <a:latin typeface="Aptos"/>
              </a:rPr>
              <a:t> de </a:t>
            </a:r>
            <a:r>
              <a:rPr sz="1800" b="0" i="0" dirty="0" err="1">
                <a:solidFill>
                  <a:srgbClr val="2D2D2D"/>
                </a:solidFill>
                <a:latin typeface="Aptos"/>
              </a:rPr>
              <a:t>mejora</a:t>
            </a:r>
            <a:r>
              <a:rPr sz="1800" b="0" i="0" dirty="0">
                <a:solidFill>
                  <a:srgbClr val="2D2D2D"/>
                </a:solidFill>
                <a:latin typeface="Apto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Desarrollo de la práctica</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Procedimiento seguido</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17320"/>
            <a:ext cx="5029200" cy="320040"/>
          </a:xfrm>
          <a:prstGeom prst="rect">
            <a:avLst/>
          </a:prstGeom>
          <a:noFill/>
        </p:spPr>
        <p:txBody>
          <a:bodyPr wrap="square" lIns="73152" rIns="73152">
            <a:spAutoFit/>
          </a:bodyPr>
          <a:lstStyle/>
          <a:p>
            <a:pPr algn="l"/>
            <a:r>
              <a:rPr sz="1500" b="1" i="0">
                <a:solidFill>
                  <a:srgbClr val="2A5587"/>
                </a:solidFill>
                <a:latin typeface="Aptos"/>
              </a:rPr>
              <a:t>Pasos realizados</a:t>
            </a:r>
          </a:p>
        </p:txBody>
      </p:sp>
      <p:sp>
        <p:nvSpPr>
          <p:cNvPr id="6" name="TextBox 5"/>
          <p:cNvSpPr txBox="1"/>
          <p:nvPr/>
        </p:nvSpPr>
        <p:spPr>
          <a:xfrm>
            <a:off x="777240" y="1737360"/>
            <a:ext cx="5029200" cy="2423160"/>
          </a:xfrm>
          <a:prstGeom prst="rect">
            <a:avLst/>
          </a:prstGeom>
          <a:noFill/>
        </p:spPr>
        <p:txBody>
          <a:bodyPr wrap="square" lIns="73152" rIns="73152">
            <a:spAutoFit/>
          </a:bodyPr>
          <a:lstStyle/>
          <a:p>
            <a:pPr>
              <a:spcAft>
                <a:spcPts val="500"/>
              </a:spcAft>
            </a:pPr>
            <a:r>
              <a:rPr sz="1400">
                <a:solidFill>
                  <a:srgbClr val="2D2D2D"/>
                </a:solidFill>
                <a:latin typeface="Aptos"/>
              </a:rPr>
              <a:t>Se seleccionó cada prueba de la Actividad 3.2 dentro del analizador semántico.</a:t>
            </a:r>
          </a:p>
          <a:p>
            <a:pPr>
              <a:spcAft>
                <a:spcPts val="500"/>
              </a:spcAft>
            </a:pPr>
            <a:r>
              <a:rPr sz="1400">
                <a:solidFill>
                  <a:srgbClr val="2D2D2D"/>
                </a:solidFill>
                <a:latin typeface="Aptos"/>
              </a:rPr>
              <a:t>Primero se revisó la pestaña U2 · Tres direcciones para identificar la representación intermedia original.</a:t>
            </a:r>
          </a:p>
          <a:p>
            <a:pPr>
              <a:spcAft>
                <a:spcPts val="500"/>
              </a:spcAft>
            </a:pPr>
            <a:r>
              <a:rPr sz="1400">
                <a:solidFill>
                  <a:srgbClr val="2D2D2D"/>
                </a:solidFill>
                <a:latin typeface="Aptos"/>
              </a:rPr>
              <a:t>Después se abrió la pestaña U3 · Optimización para comparar el código antes y después de la mejora aplicada.</a:t>
            </a:r>
          </a:p>
          <a:p>
            <a:pPr>
              <a:spcAft>
                <a:spcPts val="500"/>
              </a:spcAft>
            </a:pPr>
            <a:r>
              <a:rPr sz="1400">
                <a:solidFill>
                  <a:srgbClr val="2D2D2D"/>
                </a:solidFill>
                <a:latin typeface="Aptos"/>
              </a:rPr>
              <a:t>En el caso integrador se añadieron capturas complementarias para mostrar el detalle de los cambios y el resumen final.</a:t>
            </a:r>
          </a:p>
        </p:txBody>
      </p:sp>
      <p:sp>
        <p:nvSpPr>
          <p:cNvPr id="9" name="Rectangle 8"/>
          <p:cNvSpPr/>
          <p:nvPr/>
        </p:nvSpPr>
        <p:spPr>
          <a:xfrm>
            <a:off x="6263640" y="1417320"/>
            <a:ext cx="5120640" cy="182880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1-U2 #U00b7 Tres direcciones.png"/>
          <p:cNvPicPr>
            <a:picLocks noChangeAspect="1"/>
          </p:cNvPicPr>
          <p:nvPr/>
        </p:nvPicPr>
        <p:blipFill>
          <a:blip r:embed="rId2"/>
          <a:stretch>
            <a:fillRect/>
          </a:stretch>
        </p:blipFill>
        <p:spPr>
          <a:xfrm>
            <a:off x="6563303" y="1453896"/>
            <a:ext cx="4521313" cy="1755648"/>
          </a:xfrm>
          <a:prstGeom prst="rect">
            <a:avLst/>
          </a:prstGeom>
        </p:spPr>
      </p:pic>
      <p:sp>
        <p:nvSpPr>
          <p:cNvPr id="11" name="Rectangle 10"/>
          <p:cNvSpPr/>
          <p:nvPr/>
        </p:nvSpPr>
        <p:spPr>
          <a:xfrm>
            <a:off x="6263640" y="3493008"/>
            <a:ext cx="5120640" cy="210312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1-U3 #U00b7 Optimizaci#U00f3n.png"/>
          <p:cNvPicPr>
            <a:picLocks noChangeAspect="1"/>
          </p:cNvPicPr>
          <p:nvPr/>
        </p:nvPicPr>
        <p:blipFill>
          <a:blip r:embed="rId3"/>
          <a:stretch>
            <a:fillRect/>
          </a:stretch>
        </p:blipFill>
        <p:spPr>
          <a:xfrm>
            <a:off x="6959478" y="3529584"/>
            <a:ext cx="3728962" cy="20299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Prueba 1. Plegado de constantes</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Caso de optimización local sobre expresiones constantes</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225296"/>
            <a:ext cx="10972800" cy="475488"/>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225296"/>
            <a:ext cx="10972800" cy="475488"/>
          </a:xfrm>
          <a:prstGeom prst="rect">
            <a:avLst/>
          </a:prstGeom>
          <a:noFill/>
        </p:spPr>
        <p:txBody>
          <a:bodyPr wrap="square" lIns="73152" rIns="73152">
            <a:spAutoFit/>
          </a:bodyPr>
          <a:lstStyle/>
          <a:p>
            <a:pPr algn="l"/>
            <a:r>
              <a:rPr sz="1220" b="0" i="0">
                <a:solidFill>
                  <a:srgbClr val="2D2D2D"/>
                </a:solidFill>
                <a:latin typeface="Aptos"/>
              </a:rPr>
              <a:t>Programa analizado: int x = 2 + 3 * 4; mostrar(x);</a:t>
            </a:r>
          </a:p>
        </p:txBody>
      </p:sp>
      <p:sp>
        <p:nvSpPr>
          <p:cNvPr id="7" name="Rectangle 6"/>
          <p:cNvSpPr/>
          <p:nvPr/>
        </p:nvSpPr>
        <p:spPr>
          <a:xfrm>
            <a:off x="566928"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1-U2 #U00b7 Tres direcciones.png"/>
          <p:cNvPicPr>
            <a:picLocks noChangeAspect="1"/>
          </p:cNvPicPr>
          <p:nvPr/>
        </p:nvPicPr>
        <p:blipFill>
          <a:blip r:embed="rId2"/>
          <a:stretch>
            <a:fillRect/>
          </a:stretch>
        </p:blipFill>
        <p:spPr>
          <a:xfrm>
            <a:off x="603504" y="2375913"/>
            <a:ext cx="5212080" cy="2023876"/>
          </a:xfrm>
          <a:prstGeom prst="rect">
            <a:avLst/>
          </a:prstGeom>
        </p:spPr>
      </p:pic>
      <p:sp>
        <p:nvSpPr>
          <p:cNvPr id="9" name="Rectangle 8"/>
          <p:cNvSpPr/>
          <p:nvPr/>
        </p:nvSpPr>
        <p:spPr>
          <a:xfrm>
            <a:off x="6336792"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1-U3 #U00b7 Optimizaci#U00f3n.png"/>
          <p:cNvPicPr>
            <a:picLocks noChangeAspect="1"/>
          </p:cNvPicPr>
          <p:nvPr/>
        </p:nvPicPr>
        <p:blipFill>
          <a:blip r:embed="rId3"/>
          <a:stretch>
            <a:fillRect/>
          </a:stretch>
        </p:blipFill>
        <p:spPr>
          <a:xfrm>
            <a:off x="6373368" y="1969179"/>
            <a:ext cx="5212080" cy="2837345"/>
          </a:xfrm>
          <a:prstGeom prst="rect">
            <a:avLst/>
          </a:prstGeom>
        </p:spPr>
      </p:pic>
      <p:sp>
        <p:nvSpPr>
          <p:cNvPr id="11" name="Rectangle 10"/>
          <p:cNvSpPr/>
          <p:nvPr/>
        </p:nvSpPr>
        <p:spPr>
          <a:xfrm>
            <a:off x="566928"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5056632"/>
            <a:ext cx="5285232" cy="822960"/>
          </a:xfrm>
          <a:prstGeom prst="rect">
            <a:avLst/>
          </a:prstGeom>
          <a:noFill/>
        </p:spPr>
        <p:txBody>
          <a:bodyPr wrap="square" lIns="73152" rIns="73152">
            <a:spAutoFit/>
          </a:bodyPr>
          <a:lstStyle/>
          <a:p>
            <a:pPr algn="l"/>
            <a:r>
              <a:rPr sz="1120" b="0" i="0">
                <a:solidFill>
                  <a:srgbClr val="2D2D2D"/>
                </a:solidFill>
                <a:latin typeface="Aptos"/>
              </a:rPr>
              <a:t>Código intermedio original: la expresión se descompone en instrucciones de tres direcciones antes de optimizarse.</a:t>
            </a:r>
          </a:p>
        </p:txBody>
      </p:sp>
      <p:sp>
        <p:nvSpPr>
          <p:cNvPr id="13" name="Rectangle 12"/>
          <p:cNvSpPr/>
          <p:nvPr/>
        </p:nvSpPr>
        <p:spPr>
          <a:xfrm>
            <a:off x="6336792"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5056632"/>
            <a:ext cx="5285232" cy="822960"/>
          </a:xfrm>
          <a:prstGeom prst="rect">
            <a:avLst/>
          </a:prstGeom>
          <a:noFill/>
        </p:spPr>
        <p:txBody>
          <a:bodyPr wrap="square" lIns="73152" rIns="73152">
            <a:spAutoFit/>
          </a:bodyPr>
          <a:lstStyle/>
          <a:p>
            <a:pPr algn="l"/>
            <a:r>
              <a:rPr sz="1120" b="0" i="0">
                <a:solidFill>
                  <a:srgbClr val="2D2D2D"/>
                </a:solidFill>
                <a:latin typeface="Aptos"/>
              </a:rPr>
              <a:t>Optimización aplicada: la pestaña muestra cómo los valores constantes pueden resolverse previamente, reduciendo pasos de ejecución.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Prueba 2. Simplificación algebraica</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Eliminación de operaciones que no aportan cambios reales</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225296"/>
            <a:ext cx="10972800" cy="475488"/>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225296"/>
            <a:ext cx="10972800" cy="475488"/>
          </a:xfrm>
          <a:prstGeom prst="rect">
            <a:avLst/>
          </a:prstGeom>
          <a:noFill/>
        </p:spPr>
        <p:txBody>
          <a:bodyPr wrap="square" lIns="73152" rIns="73152">
            <a:spAutoFit/>
          </a:bodyPr>
          <a:lstStyle/>
          <a:p>
            <a:pPr algn="l"/>
            <a:r>
              <a:rPr sz="1220" b="0" i="0">
                <a:solidFill>
                  <a:srgbClr val="2D2D2D"/>
                </a:solidFill>
                <a:latin typeface="Aptos"/>
              </a:rPr>
              <a:t>Programa analizado: int a = 9; int x = a + 0; int y = x * 1; mostrar(y);</a:t>
            </a:r>
          </a:p>
        </p:txBody>
      </p:sp>
      <p:sp>
        <p:nvSpPr>
          <p:cNvPr id="7" name="Rectangle 6"/>
          <p:cNvSpPr/>
          <p:nvPr/>
        </p:nvSpPr>
        <p:spPr>
          <a:xfrm>
            <a:off x="566928"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2-U2 #U00b7 Tres direcciones.png"/>
          <p:cNvPicPr>
            <a:picLocks noChangeAspect="1"/>
          </p:cNvPicPr>
          <p:nvPr/>
        </p:nvPicPr>
        <p:blipFill>
          <a:blip r:embed="rId2"/>
          <a:stretch>
            <a:fillRect/>
          </a:stretch>
        </p:blipFill>
        <p:spPr>
          <a:xfrm>
            <a:off x="603504" y="2492934"/>
            <a:ext cx="5212080" cy="1789834"/>
          </a:xfrm>
          <a:prstGeom prst="rect">
            <a:avLst/>
          </a:prstGeom>
        </p:spPr>
      </p:pic>
      <p:sp>
        <p:nvSpPr>
          <p:cNvPr id="9" name="Rectangle 8"/>
          <p:cNvSpPr/>
          <p:nvPr/>
        </p:nvSpPr>
        <p:spPr>
          <a:xfrm>
            <a:off x="6336792"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2-U3 #U00b7 Optimizaci#U00f3n.png"/>
          <p:cNvPicPr>
            <a:picLocks noChangeAspect="1"/>
          </p:cNvPicPr>
          <p:nvPr/>
        </p:nvPicPr>
        <p:blipFill>
          <a:blip r:embed="rId3"/>
          <a:stretch>
            <a:fillRect/>
          </a:stretch>
        </p:blipFill>
        <p:spPr>
          <a:xfrm>
            <a:off x="6457420" y="1847088"/>
            <a:ext cx="5043974" cy="3081528"/>
          </a:xfrm>
          <a:prstGeom prst="rect">
            <a:avLst/>
          </a:prstGeom>
        </p:spPr>
      </p:pic>
      <p:sp>
        <p:nvSpPr>
          <p:cNvPr id="11" name="Rectangle 10"/>
          <p:cNvSpPr/>
          <p:nvPr/>
        </p:nvSpPr>
        <p:spPr>
          <a:xfrm>
            <a:off x="566928"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5056632"/>
            <a:ext cx="5285232" cy="822960"/>
          </a:xfrm>
          <a:prstGeom prst="rect">
            <a:avLst/>
          </a:prstGeom>
          <a:noFill/>
        </p:spPr>
        <p:txBody>
          <a:bodyPr wrap="square" lIns="73152" rIns="73152">
            <a:spAutoFit/>
          </a:bodyPr>
          <a:lstStyle/>
          <a:p>
            <a:pPr algn="l"/>
            <a:r>
              <a:rPr sz="1120" b="0" i="0">
                <a:solidFill>
                  <a:srgbClr val="2D2D2D"/>
                </a:solidFill>
                <a:latin typeface="Aptos"/>
              </a:rPr>
              <a:t>Código intermedio original: se observan operaciones como suma con cero y multiplicación por uno.</a:t>
            </a:r>
          </a:p>
        </p:txBody>
      </p:sp>
      <p:sp>
        <p:nvSpPr>
          <p:cNvPr id="13" name="Rectangle 12"/>
          <p:cNvSpPr/>
          <p:nvPr/>
        </p:nvSpPr>
        <p:spPr>
          <a:xfrm>
            <a:off x="6336792"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5056632"/>
            <a:ext cx="5285232" cy="822960"/>
          </a:xfrm>
          <a:prstGeom prst="rect">
            <a:avLst/>
          </a:prstGeom>
          <a:noFill/>
        </p:spPr>
        <p:txBody>
          <a:bodyPr wrap="square" lIns="73152" rIns="73152">
            <a:spAutoFit/>
          </a:bodyPr>
          <a:lstStyle/>
          <a:p>
            <a:pPr algn="l"/>
            <a:r>
              <a:rPr sz="1120" b="0" i="0">
                <a:solidFill>
                  <a:srgbClr val="2D2D2D"/>
                </a:solidFill>
                <a:latin typeface="Aptos"/>
              </a:rPr>
              <a:t>Optimización aplicada: se sustituyen operaciones redundantes por formas equivalentes más simples, sin cambiar el resultado del programa.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Prueba 3. Propagación de constantes y copias</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Aprovechamiento de valores ya conocidos durante el flujo del programa</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225296"/>
            <a:ext cx="10972800" cy="475488"/>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225296"/>
            <a:ext cx="10972800" cy="475488"/>
          </a:xfrm>
          <a:prstGeom prst="rect">
            <a:avLst/>
          </a:prstGeom>
          <a:noFill/>
        </p:spPr>
        <p:txBody>
          <a:bodyPr wrap="square" lIns="73152" rIns="73152">
            <a:spAutoFit/>
          </a:bodyPr>
          <a:lstStyle/>
          <a:p>
            <a:pPr algn="l"/>
            <a:r>
              <a:rPr sz="1220" b="0" i="0">
                <a:solidFill>
                  <a:srgbClr val="2D2D2D"/>
                </a:solidFill>
                <a:latin typeface="Aptos"/>
              </a:rPr>
              <a:t>Programa analizado: int a = 5; int b = a; int c = b; int r = c + 3; mostrar(r);</a:t>
            </a:r>
          </a:p>
        </p:txBody>
      </p:sp>
      <p:sp>
        <p:nvSpPr>
          <p:cNvPr id="7" name="Rectangle 6"/>
          <p:cNvSpPr/>
          <p:nvPr/>
        </p:nvSpPr>
        <p:spPr>
          <a:xfrm>
            <a:off x="566928"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3-U2 #U00b7 Tres direcciones.png"/>
          <p:cNvPicPr>
            <a:picLocks noChangeAspect="1"/>
          </p:cNvPicPr>
          <p:nvPr/>
        </p:nvPicPr>
        <p:blipFill>
          <a:blip r:embed="rId2"/>
          <a:stretch>
            <a:fillRect/>
          </a:stretch>
        </p:blipFill>
        <p:spPr>
          <a:xfrm>
            <a:off x="603504" y="2360815"/>
            <a:ext cx="5212080" cy="2054072"/>
          </a:xfrm>
          <a:prstGeom prst="rect">
            <a:avLst/>
          </a:prstGeom>
        </p:spPr>
      </p:pic>
      <p:sp>
        <p:nvSpPr>
          <p:cNvPr id="9" name="Rectangle 8"/>
          <p:cNvSpPr/>
          <p:nvPr/>
        </p:nvSpPr>
        <p:spPr>
          <a:xfrm>
            <a:off x="6336792"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3-U3 #U00b7 Optimizaci#U00f3n.png"/>
          <p:cNvPicPr>
            <a:picLocks noChangeAspect="1"/>
          </p:cNvPicPr>
          <p:nvPr/>
        </p:nvPicPr>
        <p:blipFill>
          <a:blip r:embed="rId3"/>
          <a:stretch>
            <a:fillRect/>
          </a:stretch>
        </p:blipFill>
        <p:spPr>
          <a:xfrm>
            <a:off x="6373368" y="1935276"/>
            <a:ext cx="5212080" cy="2905150"/>
          </a:xfrm>
          <a:prstGeom prst="rect">
            <a:avLst/>
          </a:prstGeom>
        </p:spPr>
      </p:pic>
      <p:sp>
        <p:nvSpPr>
          <p:cNvPr id="11" name="Rectangle 10"/>
          <p:cNvSpPr/>
          <p:nvPr/>
        </p:nvSpPr>
        <p:spPr>
          <a:xfrm>
            <a:off x="566928"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5056632"/>
            <a:ext cx="5285232" cy="822960"/>
          </a:xfrm>
          <a:prstGeom prst="rect">
            <a:avLst/>
          </a:prstGeom>
          <a:noFill/>
        </p:spPr>
        <p:txBody>
          <a:bodyPr wrap="square" lIns="73152" rIns="73152">
            <a:spAutoFit/>
          </a:bodyPr>
          <a:lstStyle/>
          <a:p>
            <a:pPr algn="l"/>
            <a:r>
              <a:rPr sz="1120" b="0" i="0">
                <a:solidFill>
                  <a:srgbClr val="2D2D2D"/>
                </a:solidFill>
                <a:latin typeface="Aptos"/>
              </a:rPr>
              <a:t>Código intermedio original: una cadena de asignaciones transfiere el mismo valor entre varias variables.</a:t>
            </a:r>
          </a:p>
        </p:txBody>
      </p:sp>
      <p:sp>
        <p:nvSpPr>
          <p:cNvPr id="13" name="Rectangle 12"/>
          <p:cNvSpPr/>
          <p:nvPr/>
        </p:nvSpPr>
        <p:spPr>
          <a:xfrm>
            <a:off x="6336792"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5056632"/>
            <a:ext cx="5285232" cy="822960"/>
          </a:xfrm>
          <a:prstGeom prst="rect">
            <a:avLst/>
          </a:prstGeom>
          <a:noFill/>
        </p:spPr>
        <p:txBody>
          <a:bodyPr wrap="square" lIns="73152" rIns="73152">
            <a:spAutoFit/>
          </a:bodyPr>
          <a:lstStyle/>
          <a:p>
            <a:pPr algn="l"/>
            <a:r>
              <a:rPr sz="1120" b="0" i="0">
                <a:solidFill>
                  <a:srgbClr val="2D2D2D"/>
                </a:solidFill>
                <a:latin typeface="Aptos"/>
              </a:rPr>
              <a:t>Optimización aplicada: el analizador propaga constantes y copias para evitar asignaciones innecesarias y simplificar el cálculo final.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Prueba 4. Reducción de fuerza</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Sustitución de operaciones costosas por equivalentes más simples</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225296"/>
            <a:ext cx="10972800" cy="475488"/>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225296"/>
            <a:ext cx="10972800" cy="475488"/>
          </a:xfrm>
          <a:prstGeom prst="rect">
            <a:avLst/>
          </a:prstGeom>
          <a:noFill/>
        </p:spPr>
        <p:txBody>
          <a:bodyPr wrap="square" lIns="73152" rIns="73152">
            <a:spAutoFit/>
          </a:bodyPr>
          <a:lstStyle/>
          <a:p>
            <a:pPr algn="l"/>
            <a:r>
              <a:rPr sz="1220" b="0" i="0">
                <a:solidFill>
                  <a:srgbClr val="2D2D2D"/>
                </a:solidFill>
                <a:latin typeface="Aptos"/>
              </a:rPr>
              <a:t>Programa analizado: int a = 7; int x = a * 2; mostrar(x);</a:t>
            </a:r>
          </a:p>
        </p:txBody>
      </p:sp>
      <p:sp>
        <p:nvSpPr>
          <p:cNvPr id="7" name="Rectangle 6"/>
          <p:cNvSpPr/>
          <p:nvPr/>
        </p:nvSpPr>
        <p:spPr>
          <a:xfrm>
            <a:off x="566928"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4-U2 #U00b7 Tres direcciones.png"/>
          <p:cNvPicPr>
            <a:picLocks noChangeAspect="1"/>
          </p:cNvPicPr>
          <p:nvPr/>
        </p:nvPicPr>
        <p:blipFill>
          <a:blip r:embed="rId2"/>
          <a:stretch>
            <a:fillRect/>
          </a:stretch>
        </p:blipFill>
        <p:spPr>
          <a:xfrm>
            <a:off x="603504" y="2539742"/>
            <a:ext cx="5212080" cy="1696218"/>
          </a:xfrm>
          <a:prstGeom prst="rect">
            <a:avLst/>
          </a:prstGeom>
        </p:spPr>
      </p:pic>
      <p:sp>
        <p:nvSpPr>
          <p:cNvPr id="9" name="Rectangle 8"/>
          <p:cNvSpPr/>
          <p:nvPr/>
        </p:nvSpPr>
        <p:spPr>
          <a:xfrm>
            <a:off x="6336792"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4-U3 #U00b7 Optimizaci#U00f3n.png"/>
          <p:cNvPicPr>
            <a:picLocks noChangeAspect="1"/>
          </p:cNvPicPr>
          <p:nvPr/>
        </p:nvPicPr>
        <p:blipFill>
          <a:blip r:embed="rId3"/>
          <a:stretch>
            <a:fillRect/>
          </a:stretch>
        </p:blipFill>
        <p:spPr>
          <a:xfrm>
            <a:off x="6373368" y="2044461"/>
            <a:ext cx="5212080" cy="2686780"/>
          </a:xfrm>
          <a:prstGeom prst="rect">
            <a:avLst/>
          </a:prstGeom>
        </p:spPr>
      </p:pic>
      <p:sp>
        <p:nvSpPr>
          <p:cNvPr id="11" name="Rectangle 10"/>
          <p:cNvSpPr/>
          <p:nvPr/>
        </p:nvSpPr>
        <p:spPr>
          <a:xfrm>
            <a:off x="566928"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5056632"/>
            <a:ext cx="5285232" cy="822960"/>
          </a:xfrm>
          <a:prstGeom prst="rect">
            <a:avLst/>
          </a:prstGeom>
          <a:noFill/>
        </p:spPr>
        <p:txBody>
          <a:bodyPr wrap="square" lIns="73152" rIns="73152">
            <a:spAutoFit/>
          </a:bodyPr>
          <a:lstStyle/>
          <a:p>
            <a:pPr algn="l"/>
            <a:r>
              <a:rPr sz="1120" b="0" i="0">
                <a:solidFill>
                  <a:srgbClr val="2D2D2D"/>
                </a:solidFill>
                <a:latin typeface="Aptos"/>
              </a:rPr>
              <a:t>Código intermedio original: se parte de una multiplicación simple sobre la variable a.</a:t>
            </a:r>
          </a:p>
        </p:txBody>
      </p:sp>
      <p:sp>
        <p:nvSpPr>
          <p:cNvPr id="13" name="Rectangle 12"/>
          <p:cNvSpPr/>
          <p:nvPr/>
        </p:nvSpPr>
        <p:spPr>
          <a:xfrm>
            <a:off x="6336792"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5056632"/>
            <a:ext cx="5285232" cy="822960"/>
          </a:xfrm>
          <a:prstGeom prst="rect">
            <a:avLst/>
          </a:prstGeom>
          <a:noFill/>
        </p:spPr>
        <p:txBody>
          <a:bodyPr wrap="square" lIns="73152" rIns="73152">
            <a:spAutoFit/>
          </a:bodyPr>
          <a:lstStyle/>
          <a:p>
            <a:pPr algn="l"/>
            <a:r>
              <a:rPr sz="1120" b="0" i="0">
                <a:solidFill>
                  <a:srgbClr val="2D2D2D"/>
                </a:solidFill>
                <a:latin typeface="Aptos"/>
              </a:rPr>
              <a:t>Optimización aplicada: la operación puede reescribirse mediante una alternativa menos costosa, manteniendo exactamente el mismo valor calculado.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Prueba 5. Caso integrador — parte 1</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Combinación de varias optimizaciones en un mismo programa</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225296"/>
            <a:ext cx="10972800" cy="475488"/>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225296"/>
            <a:ext cx="10972800" cy="475488"/>
          </a:xfrm>
          <a:prstGeom prst="rect">
            <a:avLst/>
          </a:prstGeom>
          <a:noFill/>
        </p:spPr>
        <p:txBody>
          <a:bodyPr wrap="square" lIns="73152" rIns="73152">
            <a:spAutoFit/>
          </a:bodyPr>
          <a:lstStyle/>
          <a:p>
            <a:pPr algn="l"/>
            <a:r>
              <a:rPr sz="1220" b="0" i="0">
                <a:solidFill>
                  <a:srgbClr val="2D2D2D"/>
                </a:solidFill>
                <a:latin typeface="Aptos"/>
              </a:rPr>
              <a:t>Programa analizado: int x = a + 0; int y = b * 2; int z = 2 + 3 * 4; int r = x + y + z; mostrar(r);</a:t>
            </a:r>
          </a:p>
        </p:txBody>
      </p:sp>
      <p:sp>
        <p:nvSpPr>
          <p:cNvPr id="7" name="Rectangle 6"/>
          <p:cNvSpPr/>
          <p:nvPr/>
        </p:nvSpPr>
        <p:spPr>
          <a:xfrm>
            <a:off x="566928"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5-U2 #U00b7 Tres direcciones.png"/>
          <p:cNvPicPr>
            <a:picLocks noChangeAspect="1"/>
          </p:cNvPicPr>
          <p:nvPr/>
        </p:nvPicPr>
        <p:blipFill>
          <a:blip r:embed="rId2"/>
          <a:stretch>
            <a:fillRect/>
          </a:stretch>
        </p:blipFill>
        <p:spPr>
          <a:xfrm>
            <a:off x="603504" y="1927987"/>
            <a:ext cx="5212080" cy="2919730"/>
          </a:xfrm>
          <a:prstGeom prst="rect">
            <a:avLst/>
          </a:prstGeom>
        </p:spPr>
      </p:pic>
      <p:sp>
        <p:nvSpPr>
          <p:cNvPr id="9" name="Rectangle 8"/>
          <p:cNvSpPr/>
          <p:nvPr/>
        </p:nvSpPr>
        <p:spPr>
          <a:xfrm>
            <a:off x="6336792" y="1810512"/>
            <a:ext cx="5285232" cy="315468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5-U3 #U00b7 Optimizaci#U00f3n, y aqu#U00ed conviene una tercera captura del final de la pesta#U00f1a-cap1.png"/>
          <p:cNvPicPr>
            <a:picLocks noChangeAspect="1"/>
          </p:cNvPicPr>
          <p:nvPr/>
        </p:nvPicPr>
        <p:blipFill>
          <a:blip r:embed="rId3"/>
          <a:stretch>
            <a:fillRect/>
          </a:stretch>
        </p:blipFill>
        <p:spPr>
          <a:xfrm>
            <a:off x="6373368" y="1934584"/>
            <a:ext cx="5212080" cy="2906534"/>
          </a:xfrm>
          <a:prstGeom prst="rect">
            <a:avLst/>
          </a:prstGeom>
        </p:spPr>
      </p:pic>
      <p:sp>
        <p:nvSpPr>
          <p:cNvPr id="11" name="Rectangle 10"/>
          <p:cNvSpPr/>
          <p:nvPr/>
        </p:nvSpPr>
        <p:spPr>
          <a:xfrm>
            <a:off x="566928"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5056632"/>
            <a:ext cx="5285232" cy="822960"/>
          </a:xfrm>
          <a:prstGeom prst="rect">
            <a:avLst/>
          </a:prstGeom>
          <a:noFill/>
        </p:spPr>
        <p:txBody>
          <a:bodyPr wrap="square" lIns="73152" rIns="73152">
            <a:spAutoFit/>
          </a:bodyPr>
          <a:lstStyle/>
          <a:p>
            <a:pPr algn="l"/>
            <a:r>
              <a:rPr sz="1120" b="0" i="0">
                <a:solidFill>
                  <a:srgbClr val="2D2D2D"/>
                </a:solidFill>
                <a:latin typeface="Aptos"/>
              </a:rPr>
              <a:t>Código intermedio original: el programa reúne simplificación algebraica, reducción de fuerza y evaluación de constantes.</a:t>
            </a:r>
          </a:p>
        </p:txBody>
      </p:sp>
      <p:sp>
        <p:nvSpPr>
          <p:cNvPr id="13" name="Rectangle 12"/>
          <p:cNvSpPr/>
          <p:nvPr/>
        </p:nvSpPr>
        <p:spPr>
          <a:xfrm>
            <a:off x="6336792" y="5056632"/>
            <a:ext cx="5285232" cy="82296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5056632"/>
            <a:ext cx="5285232" cy="822960"/>
          </a:xfrm>
          <a:prstGeom prst="rect">
            <a:avLst/>
          </a:prstGeom>
          <a:noFill/>
        </p:spPr>
        <p:txBody>
          <a:bodyPr wrap="square" lIns="73152" rIns="73152">
            <a:spAutoFit/>
          </a:bodyPr>
          <a:lstStyle/>
          <a:p>
            <a:pPr algn="l"/>
            <a:r>
              <a:rPr sz="1120" b="0" i="0">
                <a:solidFill>
                  <a:srgbClr val="2D2D2D"/>
                </a:solidFill>
                <a:latin typeface="Aptos"/>
              </a:rPr>
              <a:t>Primera vista de optimización: se muestra la comparación general entre el código intermedio original y la versión mejorada.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Prueba 5. Caso integrador — parte 2</a:t>
            </a:r>
          </a:p>
        </p:txBody>
      </p:sp>
      <p:sp>
        <p:nvSpPr>
          <p:cNvPr id="3" name="TextBox 2"/>
          <p:cNvSpPr txBox="1"/>
          <p:nvPr/>
        </p:nvSpPr>
        <p:spPr>
          <a:xfrm>
            <a:off x="566928" y="804672"/>
            <a:ext cx="7315200" cy="228600"/>
          </a:xfrm>
          <a:prstGeom prst="rect">
            <a:avLst/>
          </a:prstGeom>
          <a:noFill/>
        </p:spPr>
        <p:txBody>
          <a:bodyPr wrap="none">
            <a:spAutoFit/>
          </a:bodyPr>
          <a:lstStyle/>
          <a:p>
            <a:r>
              <a:rPr sz="1050">
                <a:solidFill>
                  <a:srgbClr val="5F5F5F"/>
                </a:solidFill>
                <a:latin typeface="Aptos"/>
              </a:rPr>
              <a:t>Detalle de cambios y resumen de la optimización</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225296"/>
            <a:ext cx="10972800" cy="475488"/>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225296"/>
            <a:ext cx="10972800" cy="475488"/>
          </a:xfrm>
          <a:prstGeom prst="rect">
            <a:avLst/>
          </a:prstGeom>
          <a:noFill/>
        </p:spPr>
        <p:txBody>
          <a:bodyPr wrap="square" lIns="73152" rIns="73152">
            <a:spAutoFit/>
          </a:bodyPr>
          <a:lstStyle/>
          <a:p>
            <a:pPr algn="l"/>
            <a:r>
              <a:rPr sz="1220" b="0" i="0">
                <a:solidFill>
                  <a:srgbClr val="2D2D2D"/>
                </a:solidFill>
                <a:latin typeface="Aptos"/>
              </a:rPr>
              <a:t>En esta segunda parte se presentan capturas adicionales del mismo caso para mostrar los cambios aplicados y el resumen cuantitativo de la optimización.</a:t>
            </a:r>
          </a:p>
        </p:txBody>
      </p:sp>
      <p:sp>
        <p:nvSpPr>
          <p:cNvPr id="7" name="Rectangle 6"/>
          <p:cNvSpPr/>
          <p:nvPr/>
        </p:nvSpPr>
        <p:spPr>
          <a:xfrm>
            <a:off x="566928" y="1810512"/>
            <a:ext cx="5285232" cy="214884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5-U3 #U00b7 Optimizaci#U00f3n, y aqu#U00ed conviene una tercera captura del final de la pesta#U00f1a-cap2.png"/>
          <p:cNvPicPr>
            <a:picLocks noChangeAspect="1"/>
          </p:cNvPicPr>
          <p:nvPr/>
        </p:nvPicPr>
        <p:blipFill>
          <a:blip r:embed="rId2"/>
          <a:stretch>
            <a:fillRect/>
          </a:stretch>
        </p:blipFill>
        <p:spPr>
          <a:xfrm>
            <a:off x="1332193" y="1847088"/>
            <a:ext cx="3754700" cy="2075688"/>
          </a:xfrm>
          <a:prstGeom prst="rect">
            <a:avLst/>
          </a:prstGeom>
        </p:spPr>
      </p:pic>
      <p:sp>
        <p:nvSpPr>
          <p:cNvPr id="9" name="Rectangle 8"/>
          <p:cNvSpPr/>
          <p:nvPr/>
        </p:nvSpPr>
        <p:spPr>
          <a:xfrm>
            <a:off x="6336792" y="1810512"/>
            <a:ext cx="5285232" cy="2148840"/>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5-U3 #U00b7 Optimizaci#U00f3n, y aqu#U00ed conviene una tercera captura del final de la pesta#U00f1a-cap3.png"/>
          <p:cNvPicPr>
            <a:picLocks noChangeAspect="1"/>
          </p:cNvPicPr>
          <p:nvPr/>
        </p:nvPicPr>
        <p:blipFill>
          <a:blip r:embed="rId3"/>
          <a:stretch>
            <a:fillRect/>
          </a:stretch>
        </p:blipFill>
        <p:spPr>
          <a:xfrm>
            <a:off x="6373368" y="1893709"/>
            <a:ext cx="5212080" cy="1982445"/>
          </a:xfrm>
          <a:prstGeom prst="rect">
            <a:avLst/>
          </a:prstGeom>
        </p:spPr>
      </p:pic>
      <p:sp>
        <p:nvSpPr>
          <p:cNvPr id="11" name="Rectangle 10"/>
          <p:cNvSpPr/>
          <p:nvPr/>
        </p:nvSpPr>
        <p:spPr>
          <a:xfrm>
            <a:off x="566928" y="4005072"/>
            <a:ext cx="5285232" cy="658368"/>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4005072"/>
            <a:ext cx="5285232" cy="658368"/>
          </a:xfrm>
          <a:prstGeom prst="rect">
            <a:avLst/>
          </a:prstGeom>
          <a:noFill/>
        </p:spPr>
        <p:txBody>
          <a:bodyPr wrap="square" lIns="73152" rIns="73152">
            <a:spAutoFit/>
          </a:bodyPr>
          <a:lstStyle/>
          <a:p>
            <a:pPr algn="l"/>
            <a:r>
              <a:rPr sz="1120" b="0" i="0">
                <a:solidFill>
                  <a:srgbClr val="2D2D2D"/>
                </a:solidFill>
                <a:latin typeface="Aptos"/>
              </a:rPr>
              <a:t>Detalle complementario: se observan otras secciones de la pestaña de optimización correspondientes al mismo ejercicio integrador.</a:t>
            </a:r>
          </a:p>
        </p:txBody>
      </p:sp>
      <p:sp>
        <p:nvSpPr>
          <p:cNvPr id="13" name="Rectangle 12"/>
          <p:cNvSpPr/>
          <p:nvPr/>
        </p:nvSpPr>
        <p:spPr>
          <a:xfrm>
            <a:off x="6336792" y="4005072"/>
            <a:ext cx="5285232" cy="658368"/>
          </a:xfrm>
          <a:prstGeom prst="rect">
            <a:avLst/>
          </a:prstGeom>
          <a:solidFill>
            <a:srgbClr val="FFFFFF"/>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4005072"/>
            <a:ext cx="5285232" cy="658368"/>
          </a:xfrm>
          <a:prstGeom prst="rect">
            <a:avLst/>
          </a:prstGeom>
          <a:noFill/>
        </p:spPr>
        <p:txBody>
          <a:bodyPr wrap="square" lIns="73152" rIns="73152">
            <a:spAutoFit/>
          </a:bodyPr>
          <a:lstStyle/>
          <a:p>
            <a:pPr algn="l"/>
            <a:r>
              <a:rPr sz="1120" b="0" i="0">
                <a:solidFill>
                  <a:srgbClr val="2D2D2D"/>
                </a:solidFill>
                <a:latin typeface="Aptos"/>
              </a:rPr>
              <a:t>Resumen final: esta evidencia resulta útil para explicar el número de instrucciones antes y después, así como la reducción obtenida.</a:t>
            </a:r>
          </a:p>
        </p:txBody>
      </p:sp>
      <p:sp>
        <p:nvSpPr>
          <p:cNvPr id="15" name="Rectangle 14"/>
          <p:cNvSpPr/>
          <p:nvPr/>
        </p:nvSpPr>
        <p:spPr>
          <a:xfrm>
            <a:off x="566928" y="4846320"/>
            <a:ext cx="11064240" cy="1188720"/>
          </a:xfrm>
          <a:prstGeom prst="rect">
            <a:avLst/>
          </a:prstGeom>
          <a:solidFill>
            <a:srgbClr val="EFF3F8"/>
          </a:solidFill>
          <a:ln w="10160">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8" y="4846320"/>
            <a:ext cx="11064240" cy="1188720"/>
          </a:xfrm>
          <a:prstGeom prst="rect">
            <a:avLst/>
          </a:prstGeom>
          <a:noFill/>
        </p:spPr>
        <p:txBody>
          <a:bodyPr wrap="square" lIns="73152" rIns="73152">
            <a:spAutoFit/>
          </a:bodyPr>
          <a:lstStyle/>
          <a:p>
            <a:pPr algn="l"/>
            <a:r>
              <a:rPr sz="1150" b="0" i="0">
                <a:solidFill>
                  <a:srgbClr val="2D2D2D"/>
                </a:solidFill>
                <a:latin typeface="Aptos"/>
              </a:rPr>
              <a:t>Interpretación general: el caso integrador confirma que varias técnicas de optimización pueden actuar de manera conjunta sobre un mismo código. La información mostrada en la pestaña permite justificar no solo el tipo de cambio aplicado, sino también el impacto que tuvo sobre la cantidad total de instrucciones.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784080" cy="548640"/>
          </a:xfrm>
          <a:prstGeom prst="rect">
            <a:avLst/>
          </a:prstGeom>
          <a:noFill/>
        </p:spPr>
        <p:txBody>
          <a:bodyPr wrap="none">
            <a:spAutoFit/>
          </a:bodyPr>
          <a:lstStyle/>
          <a:p>
            <a:r>
              <a:rPr sz="2300" b="1">
                <a:solidFill>
                  <a:srgbClr val="18304A"/>
                </a:solidFill>
                <a:latin typeface="Aptos"/>
              </a:rPr>
              <a:t>Conclusión</a:t>
            </a: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881360" cy="4023360"/>
          </a:xfrm>
          <a:prstGeom prst="rect">
            <a:avLst/>
          </a:prstGeom>
          <a:noFill/>
        </p:spPr>
        <p:txBody>
          <a:bodyPr wrap="square" lIns="73152" rIns="73152">
            <a:spAutoFit/>
          </a:bodyPr>
          <a:lstStyle/>
          <a:p>
            <a:pPr algn="l"/>
            <a:r>
              <a:rPr sz="1700" b="0" i="0">
                <a:solidFill>
                  <a:srgbClr val="2D2D2D"/>
                </a:solidFill>
                <a:latin typeface="Aptos"/>
              </a:rPr>
              <a:t>Las evidencias presentadas muestran que la optimización del código intermedio puede aplicarse de diferentes maneras según la estructura del programa y el tipo de expresión que se analice. A lo largo de las cinco pruebas fue posible observar cómo el analizador identifica oportunidades de mejora y transforma el código original en una versión más eficiente.</a:t>
            </a:r>
          </a:p>
          <a:p>
            <a:pPr algn="l"/>
            <a:endParaRPr sz="1700" b="0" i="0">
              <a:solidFill>
                <a:srgbClr val="2D2D2D"/>
              </a:solidFill>
              <a:latin typeface="Aptos"/>
            </a:endParaRPr>
          </a:p>
          <a:p>
            <a:pPr algn="l"/>
            <a:r>
              <a:rPr sz="1700" b="0" i="0">
                <a:solidFill>
                  <a:srgbClr val="2D2D2D"/>
                </a:solidFill>
                <a:latin typeface="Aptos"/>
              </a:rPr>
              <a:t>El comparativo entre la representación inicial y la optimizada permitió comprender con mayor claridad el sentido de cada técnica: resolver constantes con anticipación, simplificar identidades algebraicas, propagar valores conocidos y sustituir operaciones costosas por equivalentes más simples.</a:t>
            </a:r>
          </a:p>
          <a:p>
            <a:pPr algn="l"/>
            <a:endParaRPr sz="1700" b="0" i="0">
              <a:solidFill>
                <a:srgbClr val="2D2D2D"/>
              </a:solidFill>
              <a:latin typeface="Aptos"/>
            </a:endParaRPr>
          </a:p>
          <a:p>
            <a:pPr algn="l"/>
            <a:r>
              <a:rPr sz="1700" b="0" i="0">
                <a:solidFill>
                  <a:srgbClr val="2D2D2D"/>
                </a:solidFill>
                <a:latin typeface="Aptos"/>
              </a:rPr>
              <a:t>En conjunto, la práctica reafirma que optimizar consiste en conservar el comportamiento del programa mientras se reduce trabajo innecesario, lo cual constituye una base importante para el estudio de compiladores y procesamiento de código.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762021" cy="446276"/>
          </a:xfrm>
          <a:prstGeom prst="rect">
            <a:avLst/>
          </a:prstGeom>
          <a:noFill/>
        </p:spPr>
        <p:txBody>
          <a:bodyPr wrap="none">
            <a:spAutoFit/>
          </a:bodyPr>
          <a:lstStyle/>
          <a:p>
            <a:r>
              <a:rPr lang="es-MX" sz="2300" b="1" dirty="0">
                <a:solidFill>
                  <a:srgbClr val="18304A"/>
                </a:solidFill>
                <a:latin typeface="Aptos"/>
              </a:rPr>
              <a:t>LINK DE GIT</a:t>
            </a:r>
            <a:endParaRPr sz="2300" b="1" dirty="0">
              <a:solidFill>
                <a:srgbClr val="18304A"/>
              </a:solidFill>
              <a:latin typeface="Aptos"/>
            </a:endParaRPr>
          </a:p>
        </p:txBody>
      </p:sp>
      <p:sp>
        <p:nvSpPr>
          <p:cNvPr id="4" name="Rectangle 3"/>
          <p:cNvSpPr/>
          <p:nvPr/>
        </p:nvSpPr>
        <p:spPr>
          <a:xfrm>
            <a:off x="548640" y="1078992"/>
            <a:ext cx="11109960" cy="36576"/>
          </a:xfrm>
          <a:prstGeom prst="rect">
            <a:avLst/>
          </a:prstGeom>
          <a:solidFill>
            <a:srgbClr val="2A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28800"/>
            <a:ext cx="10789920" cy="802784"/>
          </a:xfrm>
          <a:prstGeom prst="rect">
            <a:avLst/>
          </a:prstGeom>
          <a:noFill/>
        </p:spPr>
        <p:txBody>
          <a:bodyPr wrap="square" lIns="73152" rIns="73152">
            <a:spAutoFit/>
          </a:bodyPr>
          <a:lstStyle/>
          <a:p>
            <a:pPr>
              <a:spcAft>
                <a:spcPts val="500"/>
              </a:spcAft>
            </a:pPr>
            <a:r>
              <a:rPr lang="es-MX" sz="1400" dirty="0">
                <a:solidFill>
                  <a:srgbClr val="2D2D2D"/>
                </a:solidFill>
                <a:latin typeface="Aptos"/>
                <a:hlinkClick r:id="rId2"/>
              </a:rPr>
              <a:t>https://github.com/amaurycolochos-cpu/LENGUAJES-Y-AUTOMATAS-II/tree/main/LYA-ll-Tema-2/AnalizadorSemantico-Unidades-1-2-3-JavaFX</a:t>
            </a:r>
            <a:endParaRPr lang="es-MX" sz="1400" dirty="0">
              <a:solidFill>
                <a:srgbClr val="2D2D2D"/>
              </a:solidFill>
              <a:latin typeface="Aptos"/>
            </a:endParaRPr>
          </a:p>
          <a:p>
            <a:pPr>
              <a:spcAft>
                <a:spcPts val="500"/>
              </a:spcAft>
            </a:pPr>
            <a:endParaRPr sz="1400" dirty="0">
              <a:solidFill>
                <a:srgbClr val="2D2D2D"/>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1008</Words>
  <Application>Microsoft Office PowerPoint</Application>
  <PresentationFormat>Panorámica</PresentationFormat>
  <Paragraphs>67</Paragraphs>
  <Slides>12</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-apple-system</vt:lpstr>
      <vt:lpstr>Aptos</vt:lpstr>
      <vt:lpstr>Aptos Display</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AMAURY JAHAZIEL GORDILLO HERNANDEZ</cp:lastModifiedBy>
  <cp:revision>3</cp:revision>
  <dcterms:created xsi:type="dcterms:W3CDTF">2013-01-27T09:14:16Z</dcterms:created>
  <dcterms:modified xsi:type="dcterms:W3CDTF">2026-09-22T06:39:51Z</dcterms:modified>
  <cp:category/>
</cp:coreProperties>
</file>