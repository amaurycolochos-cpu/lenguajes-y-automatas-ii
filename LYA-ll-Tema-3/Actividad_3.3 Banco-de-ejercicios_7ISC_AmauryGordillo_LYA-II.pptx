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75"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0D8A3F-249E-48D6-A370-AD4BF6E3FEDD}" type="datetimeFigureOut">
              <a:rPr lang="es-MX" smtClean="0"/>
              <a:t>22/09/2026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F2528F-B399-4B56-9D8F-B2EFD07AA7F2}" type="slidenum">
              <a:rPr lang="es-MX" smtClean="0"/>
              <a:t>‹Nº›</a:t>
            </a:fld>
            <a:endParaRPr lang="es-MX"/>
          </a:p>
        </p:txBody>
      </p:sp>
    </p:spTree>
    <p:extLst>
      <p:ext uri="{BB962C8B-B14F-4D97-AF65-F5344CB8AC3E}">
        <p14:creationId xmlns:p14="http://schemas.microsoft.com/office/powerpoint/2010/main" val="3218487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5374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amaurycolochos-cpu/LENGUAJES-Y-AUTOMATAS-II/tree/main/LYA-ll-Tema-2/AnalizadorSemantico-Unidades-1-2-3-JavaFX"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Imagen 40"/>
          <p:cNvPicPr>
            <a:picLocks noChangeAspect="1"/>
          </p:cNvPicPr>
          <p:nvPr/>
        </p:nvPicPr>
        <p:blipFill>
          <a:blip r:embed="rId3"/>
          <a:srcRect t="27" b="27"/>
          <a:stretch>
            <a:fillRect/>
          </a:stretch>
        </p:blipFill>
        <p:spPr>
          <a:xfrm>
            <a:off x="280834" y="0"/>
            <a:ext cx="11911166" cy="6858000"/>
          </a:xfrm>
          <a:prstGeom prst="rect">
            <a:avLst/>
          </a:prstGeom>
        </p:spPr>
      </p:pic>
      <p:sp>
        <p:nvSpPr>
          <p:cNvPr id="2" name="institutional-navy-band">
            <a:extLst>
              <a:ext uri="{FF2B5EF4-FFF2-40B4-BE49-F238E27FC236}">
                <a16:creationId xmlns:a16="http://schemas.microsoft.com/office/drawing/2014/main" id="{3AE6E076-F470-4AFA-B05E-BB577D99A602}"/>
              </a:ext>
            </a:extLst>
          </p:cNvPr>
          <p:cNvSpPr>
            <a:spLocks noGrp="1"/>
          </p:cNvSpPr>
          <p:nvPr/>
        </p:nvSpPr>
        <p:spPr>
          <a:xfrm>
            <a:off x="-47626" y="0"/>
            <a:ext cx="328459" cy="6858000"/>
          </a:xfrm>
          <a:prstGeom prst="rect">
            <a:avLst/>
          </a:prstGeom>
          <a:solidFill>
            <a:srgbClr val="082958"/>
          </a:solidFill>
          <a:ln w="0">
            <a:noFill/>
            <a:prstDash val="solid"/>
          </a:ln>
        </p:spPr>
      </p:sp>
      <p:sp>
        <p:nvSpPr>
          <p:cNvPr id="3" name="institutional-gold-accent">
            <a:extLst>
              <a:ext uri="{FF2B5EF4-FFF2-40B4-BE49-F238E27FC236}">
                <a16:creationId xmlns:a16="http://schemas.microsoft.com/office/drawing/2014/main" id="{511065C0-35AD-4DAE-B610-DF6B7F488372}"/>
              </a:ext>
            </a:extLst>
          </p:cNvPr>
          <p:cNvSpPr>
            <a:spLocks noGrp="1"/>
          </p:cNvSpPr>
          <p:nvPr/>
        </p:nvSpPr>
        <p:spPr>
          <a:xfrm>
            <a:off x="280987" y="47625"/>
            <a:ext cx="28575" cy="6438900"/>
          </a:xfrm>
          <a:prstGeom prst="rect">
            <a:avLst/>
          </a:prstGeom>
          <a:solidFill>
            <a:srgbClr val="C8972C"/>
          </a:solidFill>
          <a:ln w="0">
            <a:noFill/>
            <a:prstDash val="solid"/>
          </a:ln>
        </p:spPr>
      </p:sp>
      <p:sp>
        <p:nvSpPr>
          <p:cNvPr id="4" name="top-rule">
            <a:extLst>
              <a:ext uri="{FF2B5EF4-FFF2-40B4-BE49-F238E27FC236}">
                <a16:creationId xmlns:a16="http://schemas.microsoft.com/office/drawing/2014/main" id="{A402DA1E-9E80-4154-8892-48887862CA94}"/>
              </a:ext>
            </a:extLst>
          </p:cNvPr>
          <p:cNvSpPr>
            <a:spLocks noGrp="1"/>
          </p:cNvSpPr>
          <p:nvPr/>
        </p:nvSpPr>
        <p:spPr>
          <a:xfrm>
            <a:off x="838200" y="1009650"/>
            <a:ext cx="10515600" cy="0"/>
          </a:xfrm>
          <a:prstGeom prst="line">
            <a:avLst/>
          </a:prstGeom>
          <a:noFill/>
          <a:ln w="11430">
            <a:solidFill>
              <a:srgbClr val="DCEBFA"/>
            </a:solidFill>
            <a:prstDash val="solid"/>
          </a:ln>
        </p:spPr>
      </p:sp>
      <p:sp>
        <p:nvSpPr>
          <p:cNvPr id="6" name="institution-name">
            <a:extLst>
              <a:ext uri="{FF2B5EF4-FFF2-40B4-BE49-F238E27FC236}">
                <a16:creationId xmlns:a16="http://schemas.microsoft.com/office/drawing/2014/main" id="{E0E92947-86F7-4A12-A128-7B0159F83BDC}"/>
              </a:ext>
            </a:extLst>
          </p:cNvPr>
          <p:cNvSpPr>
            <a:spLocks noGrp="1"/>
          </p:cNvSpPr>
          <p:nvPr/>
        </p:nvSpPr>
        <p:spPr>
          <a:xfrm>
            <a:off x="3641008" y="892277"/>
            <a:ext cx="5464892" cy="666749"/>
          </a:xfrm>
          <a:prstGeom prst="rect">
            <a:avLst/>
          </a:prstGeom>
          <a:noFill/>
          <a:ln w="0">
            <a:noFill/>
            <a:prstDash val="solid"/>
          </a:ln>
        </p:spPr>
        <p:txBody>
          <a:bodyPr wrap="square" lIns="0" tIns="0" rIns="0" bIns="0" anchor="ctr">
            <a:noAutofit/>
          </a:bodyPr>
          <a:lstStyle/>
          <a:p>
            <a:pPr algn="l">
              <a:buNone/>
              <a:defRPr sz="1650" b="1">
                <a:solidFill>
                  <a:srgbClr val="0B3473"/>
                </a:solidFill>
                <a:latin typeface="Aptos Display"/>
                <a:ea typeface="Aptos Display"/>
                <a:cs typeface="Aptos Display"/>
              </a:defRPr>
            </a:pPr>
            <a:r>
              <a:rPr sz="2500" b="1">
                <a:solidFill>
                  <a:srgbClr val="0B3473"/>
                </a:solidFill>
                <a:latin typeface="Aptos Display"/>
                <a:ea typeface="Aptos Display"/>
                <a:cs typeface="Aptos Display"/>
              </a:rPr>
              <a:t>TECNOLÓGICO NACIONAL DE MÉXICO</a:t>
            </a:r>
          </a:p>
        </p:txBody>
      </p:sp>
      <p:sp>
        <p:nvSpPr>
          <p:cNvPr id="9" name="degree-title">
            <a:extLst>
              <a:ext uri="{FF2B5EF4-FFF2-40B4-BE49-F238E27FC236}">
                <a16:creationId xmlns:a16="http://schemas.microsoft.com/office/drawing/2014/main" id="{897E2AE5-15D9-4AB6-9730-7184F55D8F9A}"/>
              </a:ext>
            </a:extLst>
          </p:cNvPr>
          <p:cNvSpPr>
            <a:spLocks noGrp="1"/>
          </p:cNvSpPr>
          <p:nvPr/>
        </p:nvSpPr>
        <p:spPr>
          <a:xfrm>
            <a:off x="3429000" y="1454252"/>
            <a:ext cx="5524500" cy="742950"/>
          </a:xfrm>
          <a:prstGeom prst="rect">
            <a:avLst/>
          </a:prstGeom>
          <a:noFill/>
          <a:ln w="0">
            <a:noFill/>
            <a:prstDash val="solid"/>
          </a:ln>
        </p:spPr>
        <p:txBody>
          <a:bodyPr wrap="square" lIns="0" tIns="0" rIns="0" bIns="0" anchor="ctr">
            <a:normAutofit/>
          </a:bodyPr>
          <a:lstStyle/>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INGENIERÍA EN</a:t>
            </a:r>
          </a:p>
          <a:p>
            <a:pPr algn="ctr">
              <a:lnSpc>
                <a:spcPct val="92000"/>
              </a:lnSpc>
              <a:buNone/>
              <a:defRPr sz="2325" b="1">
                <a:solidFill>
                  <a:srgbClr val="0B3473"/>
                </a:solidFill>
                <a:latin typeface="Aptos Display"/>
                <a:ea typeface="Aptos Display"/>
                <a:cs typeface="Aptos Display"/>
              </a:defRPr>
            </a:pPr>
            <a:r>
              <a:rPr sz="2000" b="1">
                <a:solidFill>
                  <a:srgbClr val="0B3473"/>
                </a:solidFill>
                <a:latin typeface="Aptos Display"/>
                <a:ea typeface="Aptos Display"/>
                <a:cs typeface="Aptos Display"/>
              </a:rPr>
              <a:t>SISTEMAS COMPUTACIONALES</a:t>
            </a:r>
          </a:p>
        </p:txBody>
      </p:sp>
      <p:sp>
        <p:nvSpPr>
          <p:cNvPr id="10" name="degree-gold-rule-left">
            <a:extLst>
              <a:ext uri="{FF2B5EF4-FFF2-40B4-BE49-F238E27FC236}">
                <a16:creationId xmlns:a16="http://schemas.microsoft.com/office/drawing/2014/main" id="{C8050B62-10E2-4D95-BEEE-6E1978022F99}"/>
              </a:ext>
            </a:extLst>
          </p:cNvPr>
          <p:cNvSpPr>
            <a:spLocks noGrp="1"/>
          </p:cNvSpPr>
          <p:nvPr/>
        </p:nvSpPr>
        <p:spPr>
          <a:xfrm>
            <a:off x="4848225" y="2209800"/>
            <a:ext cx="990600" cy="0"/>
          </a:xfrm>
          <a:prstGeom prst="line">
            <a:avLst/>
          </a:prstGeom>
          <a:noFill/>
          <a:ln w="15240">
            <a:solidFill>
              <a:srgbClr val="C8972C"/>
            </a:solidFill>
            <a:prstDash val="solid"/>
          </a:ln>
        </p:spPr>
      </p:sp>
      <p:sp>
        <p:nvSpPr>
          <p:cNvPr id="11" name="degree-gold-rule-right">
            <a:extLst>
              <a:ext uri="{FF2B5EF4-FFF2-40B4-BE49-F238E27FC236}">
                <a16:creationId xmlns:a16="http://schemas.microsoft.com/office/drawing/2014/main" id="{12397A49-149B-4ECA-A15E-F885934091D1}"/>
              </a:ext>
            </a:extLst>
          </p:cNvPr>
          <p:cNvSpPr>
            <a:spLocks noGrp="1"/>
          </p:cNvSpPr>
          <p:nvPr/>
        </p:nvSpPr>
        <p:spPr>
          <a:xfrm>
            <a:off x="6353175" y="2209800"/>
            <a:ext cx="990600" cy="0"/>
          </a:xfrm>
          <a:prstGeom prst="line">
            <a:avLst/>
          </a:prstGeom>
          <a:noFill/>
          <a:ln w="15240">
            <a:solidFill>
              <a:srgbClr val="C8972C"/>
            </a:solidFill>
            <a:prstDash val="solid"/>
          </a:ln>
        </p:spPr>
      </p:sp>
      <p:sp>
        <p:nvSpPr>
          <p:cNvPr id="13" name="course-title-line-1">
            <a:extLst>
              <a:ext uri="{FF2B5EF4-FFF2-40B4-BE49-F238E27FC236}">
                <a16:creationId xmlns:a16="http://schemas.microsoft.com/office/drawing/2014/main" id="{24A5C187-BE41-45B6-8BF3-A2878D2FD52B}"/>
              </a:ext>
            </a:extLst>
          </p:cNvPr>
          <p:cNvSpPr>
            <a:spLocks noGrp="1"/>
          </p:cNvSpPr>
          <p:nvPr/>
        </p:nvSpPr>
        <p:spPr>
          <a:xfrm>
            <a:off x="2362199" y="2633663"/>
            <a:ext cx="7467600" cy="523875"/>
          </a:xfrm>
          <a:prstGeom prst="rect">
            <a:avLst/>
          </a:prstGeom>
          <a:noFill/>
          <a:ln w="0">
            <a:noFill/>
            <a:prstDash val="solid"/>
          </a:ln>
        </p:spPr>
        <p:txBody>
          <a:bodyPr wrap="square" lIns="0" tIns="0" rIns="0" bIns="0" anchor="ctr">
            <a:normAutofit fontScale="90833" lnSpcReduction="10000"/>
          </a:bodyPr>
          <a:lstStyle/>
          <a:p>
            <a:pPr algn="ctr">
              <a:buNone/>
              <a:defRPr sz="4125" b="1">
                <a:solidFill>
                  <a:srgbClr val="0B3473"/>
                </a:solidFill>
                <a:latin typeface="Aptos Display"/>
                <a:ea typeface="Aptos Display"/>
                <a:cs typeface="Aptos Display"/>
              </a:defRPr>
            </a:pPr>
            <a:r>
              <a:rPr sz="4125" b="1">
                <a:solidFill>
                  <a:srgbClr val="0B3473"/>
                </a:solidFill>
                <a:latin typeface="Aptos Display"/>
                <a:ea typeface="Aptos Display"/>
                <a:cs typeface="Aptos Display"/>
              </a:rPr>
              <a:t>LENGUAJES Y AUTOMATAS II</a:t>
            </a:r>
          </a:p>
        </p:txBody>
      </p:sp>
      <p:sp>
        <p:nvSpPr>
          <p:cNvPr id="15" name="activity-left-trace-1">
            <a:extLst>
              <a:ext uri="{FF2B5EF4-FFF2-40B4-BE49-F238E27FC236}">
                <a16:creationId xmlns:a16="http://schemas.microsoft.com/office/drawing/2014/main" id="{7D063C37-CCC4-4D1E-800C-E1EC27DFD060}"/>
              </a:ext>
            </a:extLst>
          </p:cNvPr>
          <p:cNvSpPr>
            <a:spLocks noGrp="1"/>
          </p:cNvSpPr>
          <p:nvPr/>
        </p:nvSpPr>
        <p:spPr>
          <a:xfrm>
            <a:off x="2038350" y="3771900"/>
            <a:ext cx="514350" cy="0"/>
          </a:xfrm>
          <a:prstGeom prst="line">
            <a:avLst/>
          </a:prstGeom>
          <a:noFill/>
          <a:ln w="13335">
            <a:solidFill>
              <a:srgbClr val="2862AA"/>
            </a:solidFill>
            <a:prstDash val="solid"/>
          </a:ln>
        </p:spPr>
      </p:sp>
      <p:sp>
        <p:nvSpPr>
          <p:cNvPr id="16" name="activity-left-trace-2">
            <a:extLst>
              <a:ext uri="{FF2B5EF4-FFF2-40B4-BE49-F238E27FC236}">
                <a16:creationId xmlns:a16="http://schemas.microsoft.com/office/drawing/2014/main" id="{3CFD8881-ED44-45BD-9DF0-783461E898DA}"/>
              </a:ext>
            </a:extLst>
          </p:cNvPr>
          <p:cNvSpPr>
            <a:spLocks noGrp="1"/>
          </p:cNvSpPr>
          <p:nvPr/>
        </p:nvSpPr>
        <p:spPr>
          <a:xfrm>
            <a:off x="2552700" y="3676650"/>
            <a:ext cx="0" cy="95250"/>
          </a:xfrm>
          <a:prstGeom prst="line">
            <a:avLst/>
          </a:prstGeom>
          <a:noFill/>
          <a:ln w="13335">
            <a:solidFill>
              <a:srgbClr val="2862AA"/>
            </a:solidFill>
            <a:prstDash val="solid"/>
          </a:ln>
        </p:spPr>
      </p:sp>
      <p:sp>
        <p:nvSpPr>
          <p:cNvPr id="17" name="activity-left-trace-3">
            <a:extLst>
              <a:ext uri="{FF2B5EF4-FFF2-40B4-BE49-F238E27FC236}">
                <a16:creationId xmlns:a16="http://schemas.microsoft.com/office/drawing/2014/main" id="{40CE4708-D5C7-40D2-BE07-C709D6A81A4E}"/>
              </a:ext>
            </a:extLst>
          </p:cNvPr>
          <p:cNvSpPr>
            <a:spLocks noGrp="1"/>
          </p:cNvSpPr>
          <p:nvPr/>
        </p:nvSpPr>
        <p:spPr>
          <a:xfrm>
            <a:off x="2552700" y="3676650"/>
            <a:ext cx="514350" cy="0"/>
          </a:xfrm>
          <a:prstGeom prst="line">
            <a:avLst/>
          </a:prstGeom>
          <a:noFill/>
          <a:ln w="13335">
            <a:solidFill>
              <a:srgbClr val="2862AA"/>
            </a:solidFill>
            <a:prstDash val="solid"/>
          </a:ln>
        </p:spPr>
      </p:sp>
      <p:sp>
        <p:nvSpPr>
          <p:cNvPr id="18" name="activity-left-node">
            <a:extLst>
              <a:ext uri="{FF2B5EF4-FFF2-40B4-BE49-F238E27FC236}">
                <a16:creationId xmlns:a16="http://schemas.microsoft.com/office/drawing/2014/main" id="{61DC4950-E910-4AA5-840B-B61E8D5D8C11}"/>
              </a:ext>
            </a:extLst>
          </p:cNvPr>
          <p:cNvSpPr>
            <a:spLocks noGrp="1"/>
          </p:cNvSpPr>
          <p:nvPr/>
        </p:nvSpPr>
        <p:spPr>
          <a:xfrm>
            <a:off x="3086100" y="3638550"/>
            <a:ext cx="85725" cy="85725"/>
          </a:xfrm>
          <a:prstGeom prst="ellipse">
            <a:avLst/>
          </a:prstGeom>
          <a:solidFill>
            <a:srgbClr val="FFFFFF"/>
          </a:solidFill>
          <a:ln w="14288">
            <a:solidFill>
              <a:srgbClr val="C8972C"/>
            </a:solidFill>
            <a:prstDash val="solid"/>
          </a:ln>
        </p:spPr>
      </p:sp>
      <p:sp>
        <p:nvSpPr>
          <p:cNvPr id="19" name="activity-right-node">
            <a:extLst>
              <a:ext uri="{FF2B5EF4-FFF2-40B4-BE49-F238E27FC236}">
                <a16:creationId xmlns:a16="http://schemas.microsoft.com/office/drawing/2014/main" id="{825A2979-FD3A-4780-A5BF-2B891AF31213}"/>
              </a:ext>
            </a:extLst>
          </p:cNvPr>
          <p:cNvSpPr>
            <a:spLocks noGrp="1"/>
          </p:cNvSpPr>
          <p:nvPr/>
        </p:nvSpPr>
        <p:spPr>
          <a:xfrm>
            <a:off x="9020175" y="3638550"/>
            <a:ext cx="85725" cy="85725"/>
          </a:xfrm>
          <a:prstGeom prst="ellipse">
            <a:avLst/>
          </a:prstGeom>
          <a:solidFill>
            <a:srgbClr val="FFFFFF"/>
          </a:solidFill>
          <a:ln w="14288">
            <a:solidFill>
              <a:srgbClr val="C8972C"/>
            </a:solidFill>
            <a:prstDash val="solid"/>
          </a:ln>
        </p:spPr>
      </p:sp>
      <p:sp>
        <p:nvSpPr>
          <p:cNvPr id="20" name="activity-right-trace-1">
            <a:extLst>
              <a:ext uri="{FF2B5EF4-FFF2-40B4-BE49-F238E27FC236}">
                <a16:creationId xmlns:a16="http://schemas.microsoft.com/office/drawing/2014/main" id="{38B16BE7-5C8D-4EAB-B2EE-18E787DD60AA}"/>
              </a:ext>
            </a:extLst>
          </p:cNvPr>
          <p:cNvSpPr>
            <a:spLocks noGrp="1"/>
          </p:cNvSpPr>
          <p:nvPr/>
        </p:nvSpPr>
        <p:spPr>
          <a:xfrm>
            <a:off x="9105900" y="3676650"/>
            <a:ext cx="514350" cy="0"/>
          </a:xfrm>
          <a:prstGeom prst="line">
            <a:avLst/>
          </a:prstGeom>
          <a:noFill/>
          <a:ln w="13335">
            <a:solidFill>
              <a:srgbClr val="2862AA"/>
            </a:solidFill>
            <a:prstDash val="solid"/>
          </a:ln>
        </p:spPr>
      </p:sp>
      <p:sp>
        <p:nvSpPr>
          <p:cNvPr id="21" name="activity-right-trace-2">
            <a:extLst>
              <a:ext uri="{FF2B5EF4-FFF2-40B4-BE49-F238E27FC236}">
                <a16:creationId xmlns:a16="http://schemas.microsoft.com/office/drawing/2014/main" id="{B0073C7F-4C58-47DE-BB0A-AFC31EDFE384}"/>
              </a:ext>
            </a:extLst>
          </p:cNvPr>
          <p:cNvSpPr>
            <a:spLocks noGrp="1"/>
          </p:cNvSpPr>
          <p:nvPr/>
        </p:nvSpPr>
        <p:spPr>
          <a:xfrm>
            <a:off x="9620250" y="3676650"/>
            <a:ext cx="0" cy="95250"/>
          </a:xfrm>
          <a:prstGeom prst="line">
            <a:avLst/>
          </a:prstGeom>
          <a:noFill/>
          <a:ln w="13335">
            <a:solidFill>
              <a:srgbClr val="2862AA"/>
            </a:solidFill>
            <a:prstDash val="solid"/>
          </a:ln>
        </p:spPr>
      </p:sp>
      <p:sp>
        <p:nvSpPr>
          <p:cNvPr id="22" name="activity-right-trace-3">
            <a:extLst>
              <a:ext uri="{FF2B5EF4-FFF2-40B4-BE49-F238E27FC236}">
                <a16:creationId xmlns:a16="http://schemas.microsoft.com/office/drawing/2014/main" id="{0A4D59B6-4962-4FEF-A21B-2AF53EF32F99}"/>
              </a:ext>
            </a:extLst>
          </p:cNvPr>
          <p:cNvSpPr>
            <a:spLocks noGrp="1"/>
          </p:cNvSpPr>
          <p:nvPr/>
        </p:nvSpPr>
        <p:spPr>
          <a:xfrm>
            <a:off x="9620250" y="3771900"/>
            <a:ext cx="514350" cy="0"/>
          </a:xfrm>
          <a:prstGeom prst="line">
            <a:avLst/>
          </a:prstGeom>
          <a:noFill/>
          <a:ln w="13335">
            <a:solidFill>
              <a:srgbClr val="2862AA"/>
            </a:solidFill>
            <a:prstDash val="solid"/>
          </a:ln>
        </p:spPr>
      </p:sp>
      <p:sp>
        <p:nvSpPr>
          <p:cNvPr id="23" name="activity-title">
            <a:extLst>
              <a:ext uri="{FF2B5EF4-FFF2-40B4-BE49-F238E27FC236}">
                <a16:creationId xmlns:a16="http://schemas.microsoft.com/office/drawing/2014/main" id="{F746EC2E-9743-49CF-891C-11DBE19DF422}"/>
              </a:ext>
            </a:extLst>
          </p:cNvPr>
          <p:cNvSpPr>
            <a:spLocks noGrp="1"/>
          </p:cNvSpPr>
          <p:nvPr/>
        </p:nvSpPr>
        <p:spPr>
          <a:xfrm>
            <a:off x="3238500" y="3581400"/>
            <a:ext cx="5715000" cy="381000"/>
          </a:xfrm>
          <a:prstGeom prst="rect">
            <a:avLst/>
          </a:prstGeom>
          <a:noFill/>
          <a:ln w="0">
            <a:noFill/>
            <a:prstDash val="solid"/>
          </a:ln>
        </p:spPr>
        <p:txBody>
          <a:bodyPr wrap="square" lIns="0" tIns="0" rIns="0" bIns="0" anchor="ctr">
            <a:normAutofit fontScale="99498"/>
          </a:bodyPr>
          <a:lstStyle/>
          <a:p>
            <a:pPr algn="ctr">
              <a:buNone/>
              <a:defRPr sz="1875" b="1">
                <a:solidFill>
                  <a:srgbClr val="2862AA"/>
                </a:solidFill>
                <a:latin typeface="Aptos Display"/>
                <a:ea typeface="Aptos Display"/>
                <a:cs typeface="Aptos Display"/>
              </a:defRPr>
            </a:pPr>
            <a:r>
              <a:rPr sz="1875" b="1" dirty="0">
                <a:solidFill>
                  <a:srgbClr val="2862AA"/>
                </a:solidFill>
                <a:latin typeface="Aptos Display"/>
                <a:ea typeface="Aptos Display"/>
                <a:cs typeface="Aptos Display"/>
              </a:rPr>
              <a:t>ACTIVIDAD </a:t>
            </a:r>
            <a:r>
              <a:rPr lang="es-MX" sz="1875" b="1" dirty="0">
                <a:solidFill>
                  <a:srgbClr val="2862AA"/>
                </a:solidFill>
                <a:latin typeface="Aptos Display"/>
                <a:ea typeface="Aptos Display"/>
                <a:cs typeface="Aptos Display"/>
              </a:rPr>
              <a:t>3</a:t>
            </a:r>
            <a:r>
              <a:rPr sz="1875" b="1" dirty="0">
                <a:solidFill>
                  <a:srgbClr val="2862AA"/>
                </a:solidFill>
                <a:latin typeface="Aptos Display"/>
                <a:ea typeface="Aptos Display"/>
                <a:cs typeface="Aptos Display"/>
              </a:rPr>
              <a:t>.</a:t>
            </a:r>
            <a:r>
              <a:rPr lang="es-MX" sz="1875" b="1" dirty="0">
                <a:solidFill>
                  <a:srgbClr val="2862AA"/>
                </a:solidFill>
                <a:latin typeface="Aptos Display"/>
                <a:ea typeface="Aptos Display"/>
                <a:cs typeface="Aptos Display"/>
              </a:rPr>
              <a:t>3</a:t>
            </a:r>
            <a:r>
              <a:rPr sz="1875" b="1" dirty="0">
                <a:solidFill>
                  <a:srgbClr val="2862AA"/>
                </a:solidFill>
                <a:latin typeface="Aptos Display"/>
                <a:ea typeface="Aptos Display"/>
                <a:cs typeface="Aptos Display"/>
              </a:rPr>
              <a:t> — </a:t>
            </a:r>
            <a:r>
              <a:rPr lang="es-MX" sz="1875" dirty="0">
                <a:solidFill>
                  <a:srgbClr val="212529"/>
                </a:solidFill>
                <a:latin typeface="-apple-system"/>
                <a:ea typeface="Aptos Display"/>
                <a:cs typeface="Aptos Display"/>
              </a:rPr>
              <a:t>BANCO DE EJERCICIOS</a:t>
            </a:r>
            <a:endParaRPr b="0" i="0" dirty="0">
              <a:solidFill>
                <a:srgbClr val="212529"/>
              </a:solidFill>
              <a:latin typeface="-apple-system"/>
              <a:ea typeface="-apple-system"/>
              <a:cs typeface="-apple-system"/>
            </a:endParaRPr>
          </a:p>
          <a:p>
            <a:pPr algn="ctr">
              <a:buNone/>
              <a:defRPr sz="1875" b="1">
                <a:solidFill>
                  <a:srgbClr val="2862AA"/>
                </a:solidFill>
                <a:latin typeface="Aptos Display"/>
                <a:ea typeface="Aptos Display"/>
                <a:cs typeface="Aptos Display"/>
              </a:defRPr>
            </a:pPr>
            <a:endParaRPr sz="1875" b="1" dirty="0">
              <a:solidFill>
                <a:srgbClr val="2862AA"/>
              </a:solidFill>
              <a:latin typeface="Aptos Display"/>
              <a:ea typeface="Aptos Display"/>
              <a:cs typeface="Aptos Display"/>
            </a:endParaRPr>
          </a:p>
        </p:txBody>
      </p:sp>
      <p:sp>
        <p:nvSpPr>
          <p:cNvPr id="24" name="students-heading">
            <a:extLst>
              <a:ext uri="{FF2B5EF4-FFF2-40B4-BE49-F238E27FC236}">
                <a16:creationId xmlns:a16="http://schemas.microsoft.com/office/drawing/2014/main" id="{B3090DA1-DD45-4D5A-810A-68C80D1D5495}"/>
              </a:ext>
            </a:extLst>
          </p:cNvPr>
          <p:cNvSpPr>
            <a:spLocks noGrp="1"/>
          </p:cNvSpPr>
          <p:nvPr/>
        </p:nvSpPr>
        <p:spPr>
          <a:xfrm>
            <a:off x="2857500" y="4143375"/>
            <a:ext cx="4667250" cy="219075"/>
          </a:xfrm>
          <a:prstGeom prst="rect">
            <a:avLst/>
          </a:prstGeom>
          <a:noFill/>
          <a:ln w="0">
            <a:noFill/>
            <a:prstDash val="solid"/>
          </a:ln>
        </p:spPr>
        <p:txBody>
          <a:bodyPr wrap="square" lIns="0" tIns="0" rIns="0" bIns="0" anchor="ctr">
            <a:normAutofit/>
          </a:bodyPr>
          <a:lstStyle/>
          <a:p>
            <a:pPr algn="l">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PRESENTA</a:t>
            </a:r>
          </a:p>
        </p:txBody>
      </p:sp>
      <p:sp>
        <p:nvSpPr>
          <p:cNvPr id="25" name="enrollment-heading">
            <a:extLst>
              <a:ext uri="{FF2B5EF4-FFF2-40B4-BE49-F238E27FC236}">
                <a16:creationId xmlns:a16="http://schemas.microsoft.com/office/drawing/2014/main" id="{8497282D-0F32-46CC-9BD6-A908719C1476}"/>
              </a:ext>
            </a:extLst>
          </p:cNvPr>
          <p:cNvSpPr>
            <a:spLocks noGrp="1"/>
          </p:cNvSpPr>
          <p:nvPr/>
        </p:nvSpPr>
        <p:spPr>
          <a:xfrm>
            <a:off x="7715250" y="4143375"/>
            <a:ext cx="1619250" cy="219075"/>
          </a:xfrm>
          <a:prstGeom prst="rect">
            <a:avLst/>
          </a:prstGeom>
          <a:noFill/>
          <a:ln w="0">
            <a:noFill/>
            <a:prstDash val="solid"/>
          </a:ln>
        </p:spPr>
        <p:txBody>
          <a:bodyPr wrap="square" lIns="0" tIns="0" rIns="0" bIns="0" anchor="ctr">
            <a:normAutofit/>
          </a:bodyPr>
          <a:lstStyle/>
          <a:p>
            <a:pPr algn="r">
              <a:buNone/>
              <a:defRPr sz="1275" b="1">
                <a:solidFill>
                  <a:srgbClr val="0B3473"/>
                </a:solidFill>
                <a:latin typeface="Aptos Display"/>
                <a:ea typeface="Aptos Display"/>
                <a:cs typeface="Aptos Display"/>
              </a:defRPr>
            </a:pPr>
            <a:r>
              <a:rPr sz="1275" b="1">
                <a:solidFill>
                  <a:srgbClr val="0B3473"/>
                </a:solidFill>
                <a:latin typeface="Aptos Display"/>
                <a:ea typeface="Aptos Display"/>
                <a:cs typeface="Aptos Display"/>
              </a:rPr>
              <a:t>MATRÍCULA</a:t>
            </a:r>
          </a:p>
        </p:txBody>
      </p:sp>
      <p:sp>
        <p:nvSpPr>
          <p:cNvPr id="26" name="students-top-rule">
            <a:extLst>
              <a:ext uri="{FF2B5EF4-FFF2-40B4-BE49-F238E27FC236}">
                <a16:creationId xmlns:a16="http://schemas.microsoft.com/office/drawing/2014/main" id="{A7922C15-D34B-4B95-9915-A3A8D77C7F79}"/>
              </a:ext>
            </a:extLst>
          </p:cNvPr>
          <p:cNvSpPr>
            <a:spLocks noGrp="1"/>
          </p:cNvSpPr>
          <p:nvPr/>
        </p:nvSpPr>
        <p:spPr>
          <a:xfrm>
            <a:off x="2857500" y="4381500"/>
            <a:ext cx="6477000" cy="0"/>
          </a:xfrm>
          <a:prstGeom prst="line">
            <a:avLst/>
          </a:prstGeom>
          <a:noFill/>
          <a:ln w="14288">
            <a:solidFill>
              <a:srgbClr val="0B3473"/>
            </a:solidFill>
            <a:prstDash val="solid"/>
          </a:ln>
        </p:spPr>
      </p:sp>
      <p:sp>
        <p:nvSpPr>
          <p:cNvPr id="28" name="students-row-divider">
            <a:extLst>
              <a:ext uri="{FF2B5EF4-FFF2-40B4-BE49-F238E27FC236}">
                <a16:creationId xmlns:a16="http://schemas.microsoft.com/office/drawing/2014/main" id="{0EBB92DB-59C3-4BDC-99A0-F2F4D93B78A4}"/>
              </a:ext>
            </a:extLst>
          </p:cNvPr>
          <p:cNvSpPr>
            <a:spLocks noGrp="1"/>
          </p:cNvSpPr>
          <p:nvPr/>
        </p:nvSpPr>
        <p:spPr>
          <a:xfrm>
            <a:off x="2857500" y="4800600"/>
            <a:ext cx="6477000" cy="0"/>
          </a:xfrm>
          <a:prstGeom prst="line">
            <a:avLst/>
          </a:prstGeom>
          <a:noFill/>
          <a:ln w="9525">
            <a:solidFill>
              <a:srgbClr val="DCEBFA"/>
            </a:solidFill>
            <a:prstDash val="solid"/>
          </a:ln>
        </p:spPr>
      </p:sp>
      <p:sp>
        <p:nvSpPr>
          <p:cNvPr id="29" name="students-column-divider">
            <a:extLst>
              <a:ext uri="{FF2B5EF4-FFF2-40B4-BE49-F238E27FC236}">
                <a16:creationId xmlns:a16="http://schemas.microsoft.com/office/drawing/2014/main" id="{D19BD447-A808-4FDA-A54C-331FE02FEA74}"/>
              </a:ext>
            </a:extLst>
          </p:cNvPr>
          <p:cNvSpPr>
            <a:spLocks noGrp="1"/>
          </p:cNvSpPr>
          <p:nvPr/>
        </p:nvSpPr>
        <p:spPr>
          <a:xfrm>
            <a:off x="7639050" y="4476750"/>
            <a:ext cx="0" cy="647700"/>
          </a:xfrm>
          <a:prstGeom prst="line">
            <a:avLst/>
          </a:prstGeom>
          <a:noFill/>
          <a:ln w="9525">
            <a:solidFill>
              <a:srgbClr val="9DB9DB"/>
            </a:solidFill>
            <a:prstDash val="solid"/>
          </a:ln>
        </p:spPr>
      </p:sp>
      <p:sp>
        <p:nvSpPr>
          <p:cNvPr id="30" name="student-row-one-marker">
            <a:extLst>
              <a:ext uri="{FF2B5EF4-FFF2-40B4-BE49-F238E27FC236}">
                <a16:creationId xmlns:a16="http://schemas.microsoft.com/office/drawing/2014/main" id="{4F497FA1-C313-4F3D-9493-840BF4D89598}"/>
              </a:ext>
            </a:extLst>
          </p:cNvPr>
          <p:cNvSpPr>
            <a:spLocks noGrp="1"/>
          </p:cNvSpPr>
          <p:nvPr/>
        </p:nvSpPr>
        <p:spPr>
          <a:xfrm>
            <a:off x="2876550" y="4486275"/>
            <a:ext cx="38100" cy="209550"/>
          </a:xfrm>
          <a:prstGeom prst="rect">
            <a:avLst/>
          </a:prstGeom>
          <a:solidFill>
            <a:srgbClr val="C8972C"/>
          </a:solidFill>
          <a:ln w="0">
            <a:noFill/>
            <a:prstDash val="solid"/>
          </a:ln>
        </p:spPr>
      </p:sp>
      <p:sp>
        <p:nvSpPr>
          <p:cNvPr id="34" name="student-two-name">
            <a:extLst>
              <a:ext uri="{FF2B5EF4-FFF2-40B4-BE49-F238E27FC236}">
                <a16:creationId xmlns:a16="http://schemas.microsoft.com/office/drawing/2014/main" id="{3EF7C761-CF7A-4E70-9E2B-16269734FC91}"/>
              </a:ext>
            </a:extLst>
          </p:cNvPr>
          <p:cNvSpPr>
            <a:spLocks noGrp="1"/>
          </p:cNvSpPr>
          <p:nvPr/>
        </p:nvSpPr>
        <p:spPr>
          <a:xfrm>
            <a:off x="3056554" y="4467225"/>
            <a:ext cx="4333875" cy="266700"/>
          </a:xfrm>
          <a:prstGeom prst="rect">
            <a:avLst/>
          </a:prstGeom>
          <a:noFill/>
          <a:ln w="0">
            <a:noFill/>
            <a:prstDash val="solid"/>
          </a:ln>
        </p:spPr>
        <p:txBody>
          <a:bodyPr wrap="square" lIns="0" tIns="0" rIns="0" bIns="0" anchor="ctr">
            <a:normAutofit/>
          </a:bodyPr>
          <a:lstStyle/>
          <a:p>
            <a:pPr algn="l">
              <a:buNone/>
              <a:defRPr sz="1500" b="0">
                <a:solidFill>
                  <a:srgbClr val="102B5C"/>
                </a:solidFill>
                <a:latin typeface="Aptos"/>
                <a:ea typeface="Aptos"/>
                <a:cs typeface="Aptos"/>
              </a:defRPr>
            </a:pPr>
            <a:r>
              <a:rPr sz="1500" b="0">
                <a:solidFill>
                  <a:srgbClr val="102B5C"/>
                </a:solidFill>
                <a:latin typeface="Aptos"/>
                <a:ea typeface="Aptos"/>
                <a:cs typeface="Aptos"/>
              </a:rPr>
              <a:t>Amaury Jahaziel Gordillo Hernández</a:t>
            </a:r>
          </a:p>
        </p:txBody>
      </p:sp>
      <p:sp>
        <p:nvSpPr>
          <p:cNvPr id="35" name="student-two-id">
            <a:extLst>
              <a:ext uri="{FF2B5EF4-FFF2-40B4-BE49-F238E27FC236}">
                <a16:creationId xmlns:a16="http://schemas.microsoft.com/office/drawing/2014/main" id="{05E44B11-B863-4ECE-A2F6-C9964031DF71}"/>
              </a:ext>
            </a:extLst>
          </p:cNvPr>
          <p:cNvSpPr>
            <a:spLocks noGrp="1"/>
          </p:cNvSpPr>
          <p:nvPr/>
        </p:nvSpPr>
        <p:spPr>
          <a:xfrm>
            <a:off x="7791450" y="4438649"/>
            <a:ext cx="1524000" cy="266700"/>
          </a:xfrm>
          <a:prstGeom prst="rect">
            <a:avLst/>
          </a:prstGeom>
          <a:noFill/>
          <a:ln w="0">
            <a:noFill/>
            <a:prstDash val="solid"/>
          </a:ln>
        </p:spPr>
        <p:txBody>
          <a:bodyPr wrap="square" lIns="0" tIns="0" rIns="0" bIns="0" anchor="ctr">
            <a:normAutofit/>
          </a:bodyPr>
          <a:lstStyle/>
          <a:p>
            <a:pPr algn="r">
              <a:buNone/>
              <a:defRPr sz="1425" b="0">
                <a:solidFill>
                  <a:srgbClr val="102B5C"/>
                </a:solidFill>
                <a:latin typeface="Aptos"/>
                <a:ea typeface="Aptos"/>
                <a:cs typeface="Aptos"/>
              </a:defRPr>
            </a:pPr>
            <a:r>
              <a:rPr sz="1425" b="0">
                <a:solidFill>
                  <a:srgbClr val="102B5C"/>
                </a:solidFill>
                <a:latin typeface="Aptos"/>
                <a:ea typeface="Aptos"/>
                <a:cs typeface="Aptos"/>
              </a:rPr>
              <a:t>231260074</a:t>
            </a:r>
          </a:p>
        </p:txBody>
      </p:sp>
      <p:sp>
        <p:nvSpPr>
          <p:cNvPr id="36" name="teacher-heading">
            <a:extLst>
              <a:ext uri="{FF2B5EF4-FFF2-40B4-BE49-F238E27FC236}">
                <a16:creationId xmlns:a16="http://schemas.microsoft.com/office/drawing/2014/main" id="{F388D88D-A3F7-4DA5-9D23-808A58C08C1E}"/>
              </a:ext>
            </a:extLst>
          </p:cNvPr>
          <p:cNvSpPr>
            <a:spLocks noGrp="1"/>
          </p:cNvSpPr>
          <p:nvPr/>
        </p:nvSpPr>
        <p:spPr>
          <a:xfrm>
            <a:off x="4191000" y="5467350"/>
            <a:ext cx="3810000" cy="219075"/>
          </a:xfrm>
          <a:prstGeom prst="rect">
            <a:avLst/>
          </a:prstGeom>
          <a:noFill/>
          <a:ln w="0">
            <a:noFill/>
            <a:prstDash val="solid"/>
          </a:ln>
        </p:spPr>
        <p:txBody>
          <a:bodyPr wrap="square" lIns="0" tIns="0" rIns="0" bIns="0" anchor="ctr">
            <a:normAutofit/>
          </a:bodyPr>
          <a:lstStyle/>
          <a:p>
            <a:pPr algn="ctr">
              <a:buNone/>
              <a:defRPr sz="1275" b="1">
                <a:solidFill>
                  <a:srgbClr val="55739E"/>
                </a:solidFill>
                <a:latin typeface="Aptos Display"/>
                <a:ea typeface="Aptos Display"/>
                <a:cs typeface="Aptos Display"/>
              </a:defRPr>
            </a:pPr>
            <a:r>
              <a:rPr sz="1275" b="1">
                <a:solidFill>
                  <a:srgbClr val="55739E"/>
                </a:solidFill>
                <a:latin typeface="Aptos Display"/>
                <a:ea typeface="Aptos Display"/>
                <a:cs typeface="Aptos Display"/>
              </a:rPr>
              <a:t>DOCENTE</a:t>
            </a:r>
          </a:p>
        </p:txBody>
      </p:sp>
      <p:sp>
        <p:nvSpPr>
          <p:cNvPr id="37" name="teacher-name">
            <a:extLst>
              <a:ext uri="{FF2B5EF4-FFF2-40B4-BE49-F238E27FC236}">
                <a16:creationId xmlns:a16="http://schemas.microsoft.com/office/drawing/2014/main" id="{AA678B21-6A90-4BCE-8092-FF0E0979DE5C}"/>
              </a:ext>
            </a:extLst>
          </p:cNvPr>
          <p:cNvSpPr>
            <a:spLocks noGrp="1"/>
          </p:cNvSpPr>
          <p:nvPr/>
        </p:nvSpPr>
        <p:spPr>
          <a:xfrm>
            <a:off x="2857500" y="5705475"/>
            <a:ext cx="6477000" cy="295275"/>
          </a:xfrm>
          <a:prstGeom prst="rect">
            <a:avLst/>
          </a:prstGeom>
          <a:noFill/>
          <a:ln w="0">
            <a:noFill/>
            <a:prstDash val="solid"/>
          </a:ln>
        </p:spPr>
        <p:txBody>
          <a:bodyPr wrap="square" lIns="0" tIns="0" rIns="0" bIns="0" anchor="ctr">
            <a:normAutofit/>
          </a:bodyPr>
          <a:lstStyle/>
          <a:p>
            <a:pPr algn="ctr">
              <a:buNone/>
            </a:pPr>
            <a:r>
              <a:rPr sz="1800" b="1">
                <a:latin typeface="Aptos Display"/>
                <a:ea typeface="Aptos Display"/>
                <a:cs typeface="Aptos Display"/>
              </a:rPr>
              <a:t>ING. FRANCISCO JAVIER MINGO VELAZQUEZ</a:t>
            </a:r>
            <a:endParaRPr sz="1800">
              <a:latin typeface="Arial"/>
              <a:ea typeface="Arial"/>
              <a:cs typeface="Arial"/>
            </a:endParaRPr>
          </a:p>
        </p:txBody>
      </p:sp>
      <p:sp>
        <p:nvSpPr>
          <p:cNvPr id="38" name="footer-rule">
            <a:extLst>
              <a:ext uri="{FF2B5EF4-FFF2-40B4-BE49-F238E27FC236}">
                <a16:creationId xmlns:a16="http://schemas.microsoft.com/office/drawing/2014/main" id="{7C40688F-E9E3-4093-9368-ADED90666EB5}"/>
              </a:ext>
            </a:extLst>
          </p:cNvPr>
          <p:cNvSpPr>
            <a:spLocks noGrp="1"/>
          </p:cNvSpPr>
          <p:nvPr/>
        </p:nvSpPr>
        <p:spPr>
          <a:xfrm>
            <a:off x="1943100" y="6191250"/>
            <a:ext cx="8305800" cy="0"/>
          </a:xfrm>
          <a:prstGeom prst="line">
            <a:avLst/>
          </a:prstGeom>
          <a:noFill/>
          <a:ln w="11430">
            <a:solidFill>
              <a:srgbClr val="9DB9DB"/>
            </a:solidFill>
            <a:prstDash val="solid"/>
          </a:ln>
        </p:spPr>
      </p:sp>
      <p:sp>
        <p:nvSpPr>
          <p:cNvPr id="39" name="footer-rule-accent">
            <a:extLst>
              <a:ext uri="{FF2B5EF4-FFF2-40B4-BE49-F238E27FC236}">
                <a16:creationId xmlns:a16="http://schemas.microsoft.com/office/drawing/2014/main" id="{AA9604F1-D818-4EDE-AFC0-507B4EE53347}"/>
              </a:ext>
            </a:extLst>
          </p:cNvPr>
          <p:cNvSpPr>
            <a:spLocks noGrp="1"/>
          </p:cNvSpPr>
          <p:nvPr/>
        </p:nvSpPr>
        <p:spPr>
          <a:xfrm>
            <a:off x="5829300" y="6172200"/>
            <a:ext cx="533400" cy="38100"/>
          </a:xfrm>
          <a:prstGeom prst="rect">
            <a:avLst/>
          </a:prstGeom>
          <a:solidFill>
            <a:srgbClr val="C8972C"/>
          </a:solidFill>
          <a:ln w="0">
            <a:noFill/>
            <a:prstDash val="solid"/>
          </a:ln>
        </p:spPr>
      </p:sp>
      <p:sp>
        <p:nvSpPr>
          <p:cNvPr id="40" name="date-location">
            <a:extLst>
              <a:ext uri="{FF2B5EF4-FFF2-40B4-BE49-F238E27FC236}">
                <a16:creationId xmlns:a16="http://schemas.microsoft.com/office/drawing/2014/main" id="{8EF49A72-4459-4AD1-9919-B580F4EB3D0A}"/>
              </a:ext>
            </a:extLst>
          </p:cNvPr>
          <p:cNvSpPr>
            <a:spLocks noGrp="1"/>
          </p:cNvSpPr>
          <p:nvPr/>
        </p:nvSpPr>
        <p:spPr>
          <a:xfrm>
            <a:off x="2476500" y="6372225"/>
            <a:ext cx="7239000" cy="228600"/>
          </a:xfrm>
          <a:prstGeom prst="rect">
            <a:avLst/>
          </a:prstGeom>
          <a:noFill/>
          <a:ln w="0">
            <a:noFill/>
            <a:prstDash val="solid"/>
          </a:ln>
        </p:spPr>
        <p:txBody>
          <a:bodyPr wrap="square" lIns="0" tIns="0" rIns="0" bIns="0" anchor="ctr">
            <a:normAutofit/>
          </a:bodyPr>
          <a:lstStyle/>
          <a:p>
            <a:pPr algn="ctr">
              <a:buNone/>
              <a:defRPr sz="1350" b="0">
                <a:solidFill>
                  <a:srgbClr val="0B3473"/>
                </a:solidFill>
                <a:latin typeface="Aptos"/>
                <a:ea typeface="Aptos"/>
                <a:cs typeface="Aptos"/>
              </a:defRPr>
            </a:pPr>
            <a:r>
              <a:rPr lang="es-MX" sz="1350" b="0" dirty="0">
                <a:solidFill>
                  <a:srgbClr val="0B3473"/>
                </a:solidFill>
                <a:latin typeface="Aptos"/>
                <a:ea typeface="Aptos"/>
                <a:cs typeface="Aptos"/>
              </a:rPr>
              <a:t>22 DE SEPTIEMBRE </a:t>
            </a:r>
            <a:r>
              <a:rPr sz="1350" b="0" dirty="0">
                <a:solidFill>
                  <a:srgbClr val="0B3473"/>
                </a:solidFill>
                <a:latin typeface="Aptos"/>
                <a:ea typeface="Aptos"/>
                <a:cs typeface="Aptos"/>
              </a:rPr>
              <a:t>DE 2026  ·  VENUSTIANO CARRANZA, CHIAPAS</a:t>
            </a:r>
          </a:p>
        </p:txBody>
      </p:sp>
      <p:pic>
        <p:nvPicPr>
          <p:cNvPr id="75" name="Imagen 41"/>
          <p:cNvPicPr>
            <a:picLocks noChangeAspect="1"/>
          </p:cNvPicPr>
          <p:nvPr/>
        </p:nvPicPr>
        <p:blipFill>
          <a:blip r:embed="rId4"/>
          <a:srcRect/>
          <a:stretch>
            <a:fillRect/>
          </a:stretch>
        </p:blipFill>
        <p:spPr>
          <a:xfrm>
            <a:off x="501576" y="128441"/>
            <a:ext cx="1834529" cy="809723"/>
          </a:xfrm>
          <a:prstGeom prst="rect">
            <a:avLst/>
          </a:prstGeom>
          <a:ln>
            <a:noFill/>
          </a:ln>
        </p:spPr>
      </p:pic>
      <p:pic>
        <p:nvPicPr>
          <p:cNvPr id="76" name="Imagen 42"/>
          <p:cNvPicPr>
            <a:picLocks noChangeAspect="1"/>
          </p:cNvPicPr>
          <p:nvPr/>
        </p:nvPicPr>
        <p:blipFill rotWithShape="1">
          <a:blip r:embed="rId5"/>
          <a:srcRect/>
          <a:stretch/>
        </p:blipFill>
        <p:spPr>
          <a:xfrm>
            <a:off x="10619686" y="11882"/>
            <a:ext cx="1289022" cy="926282"/>
          </a:xfrm>
          <a:prstGeom prst="rect">
            <a:avLst/>
          </a:prstGeom>
          <a:ln>
            <a:noFill/>
          </a:ln>
        </p:spPr>
      </p:pic>
      <p:sp>
        <p:nvSpPr>
          <p:cNvPr id="5" name="activity-left-node">
            <a:extLst>
              <a:ext uri="{FF2B5EF4-FFF2-40B4-BE49-F238E27FC236}">
                <a16:creationId xmlns:a16="http://schemas.microsoft.com/office/drawing/2014/main" id="{AB38A2EA-B133-B170-0BFA-9B5674F0137F}"/>
              </a:ext>
            </a:extLst>
          </p:cNvPr>
          <p:cNvSpPr>
            <a:spLocks noGrp="1"/>
          </p:cNvSpPr>
          <p:nvPr/>
        </p:nvSpPr>
        <p:spPr>
          <a:xfrm>
            <a:off x="6053137" y="2148500"/>
            <a:ext cx="85725" cy="85725"/>
          </a:xfrm>
          <a:prstGeom prst="ellipse">
            <a:avLst/>
          </a:prstGeom>
          <a:solidFill>
            <a:srgbClr val="FFFFFF"/>
          </a:solidFill>
          <a:ln w="14288">
            <a:solidFill>
              <a:srgbClr val="C8972C"/>
            </a:solidFill>
            <a:prstDash val="solid"/>
          </a:ln>
        </p:spPr>
      </p:sp>
    </p:spTree>
    <p:extLst>
      <p:ext uri="{BB962C8B-B14F-4D97-AF65-F5344CB8AC3E}">
        <p14:creationId xmlns:p14="http://schemas.microsoft.com/office/powerpoint/2010/main" val="1524056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Introducción</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463040"/>
            <a:ext cx="10789920" cy="4480560"/>
          </a:xfrm>
          <a:prstGeom prst="rect">
            <a:avLst/>
          </a:prstGeom>
          <a:noFill/>
        </p:spPr>
        <p:txBody>
          <a:bodyPr wrap="square" lIns="73152" rIns="73152" anchor="t">
            <a:spAutoFit/>
          </a:bodyPr>
          <a:lstStyle/>
          <a:p>
            <a:pPr algn="l"/>
            <a:r>
              <a:rPr sz="1800" b="0" i="0">
                <a:solidFill>
                  <a:srgbClr val="2D3033"/>
                </a:solidFill>
                <a:latin typeface="Aptos"/>
              </a:rPr>
              <a:t>La Actividad 3.3 corresponde al banco de ejercicios de optimización, donde se revisan distintos casos para observar cómo el código intermedio puede mejorarse sin modificar el resultado del programa. Cada ejercicio permite identificar una técnica o situación específica, como plegado de constantes, identidades algebraicas, propagación de valores, subexpresiones comunes, reducción de fuerza y optimización de mirilla.</a:t>
            </a:r>
          </a:p>
          <a:p>
            <a:pPr algn="l"/>
            <a:endParaRPr sz="1800" b="0" i="0">
              <a:solidFill>
                <a:srgbClr val="2D3033"/>
              </a:solidFill>
              <a:latin typeface="Aptos"/>
            </a:endParaRPr>
          </a:p>
          <a:p>
            <a:pPr algn="l"/>
            <a:r>
              <a:rPr sz="1800" b="0" i="0">
                <a:solidFill>
                  <a:srgbClr val="2D3033"/>
                </a:solidFill>
                <a:latin typeface="Aptos"/>
              </a:rPr>
              <a:t>En este reporte se presentan las evidencias obtenidas directamente desde el analizador semántico. Las imágenes se ordenaron por ejercicio, primero mostrando el código de tres direcciones y después la pestaña de optimización, de manera que pueda compararse el estado original con la versión mejorada.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46276"/>
          </a:xfrm>
          <a:prstGeom prst="rect">
            <a:avLst/>
          </a:prstGeom>
          <a:noFill/>
        </p:spPr>
        <p:txBody>
          <a:bodyPr wrap="square" lIns="73152" rIns="73152" anchor="t">
            <a:spAutoFit/>
          </a:bodyPr>
          <a:lstStyle/>
          <a:p>
            <a:pPr algn="l"/>
            <a:r>
              <a:rPr sz="2300" b="1" i="0" dirty="0" err="1">
                <a:solidFill>
                  <a:srgbClr val="1E2F44"/>
                </a:solidFill>
                <a:latin typeface="Aptos"/>
              </a:rPr>
              <a:t>Justificación</a:t>
            </a:r>
            <a:endParaRPr sz="2300" b="1" i="0" dirty="0">
              <a:solidFill>
                <a:srgbClr val="1E2F44"/>
              </a:solidFill>
              <a:latin typeface="Aptos"/>
            </a:endParaRP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444752"/>
            <a:ext cx="10789920" cy="4617720"/>
          </a:xfrm>
          <a:prstGeom prst="rect">
            <a:avLst/>
          </a:prstGeom>
          <a:noFill/>
        </p:spPr>
        <p:txBody>
          <a:bodyPr wrap="square" lIns="73152" rIns="73152" anchor="t">
            <a:spAutoFit/>
          </a:bodyPr>
          <a:lstStyle/>
          <a:p>
            <a:pPr algn="l"/>
            <a:r>
              <a:rPr sz="1800" b="0" i="0">
                <a:solidFill>
                  <a:srgbClr val="2D3033"/>
                </a:solidFill>
                <a:latin typeface="Aptos"/>
              </a:rPr>
              <a:t>El banco de ejercicios permite practicar la optimización con casos breves y controlados. Esto facilita reconocer qué instrucciones son realmente necesarias y cuáles pueden reemplazarse, simplificarse o eliminarse.</a:t>
            </a:r>
          </a:p>
          <a:p>
            <a:pPr algn="l"/>
            <a:endParaRPr sz="1800" b="0" i="0">
              <a:solidFill>
                <a:srgbClr val="2D3033"/>
              </a:solidFill>
              <a:latin typeface="Aptos"/>
            </a:endParaRPr>
          </a:p>
          <a:p>
            <a:pPr algn="l"/>
            <a:r>
              <a:rPr sz="1800" b="0" i="0">
                <a:solidFill>
                  <a:srgbClr val="2D3033"/>
                </a:solidFill>
                <a:latin typeface="Aptos"/>
              </a:rPr>
              <a:t>La comparación entre el código intermedio original y el código optimizado es importante porque demuestra que una mejora no debe alterar el comportamiento del programa. Por eso, cada evidencia se acompaña de una breve descripción que explica qué se observa en la captura y cuál es la intención del ejercicio.</a:t>
            </a:r>
          </a:p>
          <a:p>
            <a:pPr algn="l"/>
            <a:endParaRPr sz="1800" b="0" i="0">
              <a:solidFill>
                <a:srgbClr val="2D3033"/>
              </a:solidFill>
              <a:latin typeface="Aptos"/>
            </a:endParaRPr>
          </a:p>
          <a:p>
            <a:pPr algn="l"/>
            <a:r>
              <a:rPr sz="1800" b="0" i="0">
                <a:solidFill>
                  <a:srgbClr val="2D3033"/>
                </a:solidFill>
                <a:latin typeface="Aptos"/>
              </a:rPr>
              <a:t>Esta actividad también sirve como preparación para interpretar optimizaciones más complejas, ya que relaciona el análisis de expresiones con criterios de eficiencia, reducción de instrucciones y uso más ordenado de los resultados temporales.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Desarrollo de la práctica</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Procedimiento seguido para obtener las evidencias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417320"/>
            <a:ext cx="5166360" cy="320040"/>
          </a:xfrm>
          <a:prstGeom prst="rect">
            <a:avLst/>
          </a:prstGeom>
          <a:noFill/>
        </p:spPr>
        <p:txBody>
          <a:bodyPr wrap="square" lIns="73152" rIns="73152" anchor="t">
            <a:spAutoFit/>
          </a:bodyPr>
          <a:lstStyle/>
          <a:p>
            <a:pPr algn="l"/>
            <a:r>
              <a:rPr sz="1500" b="1" i="0">
                <a:solidFill>
                  <a:srgbClr val="295B8F"/>
                </a:solidFill>
                <a:latin typeface="Aptos"/>
              </a:rPr>
              <a:t>Método de trabajo</a:t>
            </a:r>
          </a:p>
        </p:txBody>
      </p:sp>
      <p:sp>
        <p:nvSpPr>
          <p:cNvPr id="6" name="TextBox 5"/>
          <p:cNvSpPr txBox="1"/>
          <p:nvPr/>
        </p:nvSpPr>
        <p:spPr>
          <a:xfrm>
            <a:off x="777240" y="1764792"/>
            <a:ext cx="5166360" cy="2761488"/>
          </a:xfrm>
          <a:prstGeom prst="rect">
            <a:avLst/>
          </a:prstGeom>
          <a:noFill/>
        </p:spPr>
        <p:txBody>
          <a:bodyPr wrap="square" lIns="73152" rIns="73152">
            <a:spAutoFit/>
          </a:bodyPr>
          <a:lstStyle/>
          <a:p>
            <a:pPr>
              <a:spcAft>
                <a:spcPts val="500"/>
              </a:spcAft>
            </a:pPr>
            <a:r>
              <a:rPr sz="1400">
                <a:solidFill>
                  <a:srgbClr val="2D3033"/>
                </a:solidFill>
                <a:latin typeface="Aptos"/>
              </a:rPr>
              <a:t>Se seleccionó cada ejercicio de la Actividad 3.3 dentro del analizador.</a:t>
            </a:r>
          </a:p>
          <a:p>
            <a:pPr>
              <a:spcAft>
                <a:spcPts val="500"/>
              </a:spcAft>
            </a:pPr>
            <a:r>
              <a:rPr sz="1400">
                <a:solidFill>
                  <a:srgbClr val="2D3033"/>
                </a:solidFill>
                <a:latin typeface="Aptos"/>
              </a:rPr>
              <a:t>Primero se revisó U2 · Tres direcciones para observar la representación intermedia original.</a:t>
            </a:r>
          </a:p>
          <a:p>
            <a:pPr>
              <a:spcAft>
                <a:spcPts val="500"/>
              </a:spcAft>
            </a:pPr>
            <a:r>
              <a:rPr sz="1400">
                <a:solidFill>
                  <a:srgbClr val="2D3033"/>
                </a:solidFill>
                <a:latin typeface="Aptos"/>
              </a:rPr>
              <a:t>Después se revisó U3 · Optimización para comparar el código original con el optimizado.</a:t>
            </a:r>
          </a:p>
          <a:p>
            <a:pPr>
              <a:spcAft>
                <a:spcPts val="500"/>
              </a:spcAft>
            </a:pPr>
            <a:r>
              <a:rPr sz="1400">
                <a:solidFill>
                  <a:srgbClr val="2D3033"/>
                </a:solidFill>
                <a:latin typeface="Aptos"/>
              </a:rPr>
              <a:t>En ejercicios con varias capturas se respetó el orden del archivo: CAP1, CAP2 y CAP3.</a:t>
            </a:r>
          </a:p>
          <a:p>
            <a:pPr>
              <a:spcAft>
                <a:spcPts val="500"/>
              </a:spcAft>
            </a:pPr>
            <a:r>
              <a:rPr sz="1400">
                <a:solidFill>
                  <a:srgbClr val="2D3033"/>
                </a:solidFill>
                <a:latin typeface="Aptos"/>
              </a:rPr>
              <a:t>No se incluyeron pestañas ajenas al objetivo de optimización.</a:t>
            </a:r>
          </a:p>
        </p:txBody>
      </p:sp>
      <p:sp>
        <p:nvSpPr>
          <p:cNvPr id="7" name="Rectangle 6"/>
          <p:cNvSpPr/>
          <p:nvPr/>
        </p:nvSpPr>
        <p:spPr>
          <a:xfrm>
            <a:off x="822960" y="4709160"/>
            <a:ext cx="5120640" cy="84124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4709160"/>
            <a:ext cx="5120640" cy="841248"/>
          </a:xfrm>
          <a:prstGeom prst="rect">
            <a:avLst/>
          </a:prstGeom>
          <a:noFill/>
        </p:spPr>
        <p:txBody>
          <a:bodyPr wrap="square" lIns="73152" rIns="73152" anchor="t">
            <a:spAutoFit/>
          </a:bodyPr>
          <a:lstStyle/>
          <a:p>
            <a:pPr algn="l"/>
            <a:r>
              <a:rPr sz="1220" b="0" i="0">
                <a:solidFill>
                  <a:srgbClr val="2D3033"/>
                </a:solidFill>
                <a:latin typeface="Aptos"/>
              </a:rPr>
              <a:t>Las imágenes se acomodaron sin formas redondas y dentro de márgenes amplios para conservar un formato formal y legible.</a:t>
            </a:r>
          </a:p>
        </p:txBody>
      </p:sp>
      <p:sp>
        <p:nvSpPr>
          <p:cNvPr id="9" name="Rectangle 8"/>
          <p:cNvSpPr/>
          <p:nvPr/>
        </p:nvSpPr>
        <p:spPr>
          <a:xfrm>
            <a:off x="6327648" y="1417320"/>
            <a:ext cx="5230368" cy="1993392"/>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1-U2 #U00b7 Tres direcciones.png"/>
          <p:cNvPicPr>
            <a:picLocks noChangeAspect="1"/>
          </p:cNvPicPr>
          <p:nvPr/>
        </p:nvPicPr>
        <p:blipFill>
          <a:blip r:embed="rId2"/>
          <a:stretch>
            <a:fillRect/>
          </a:stretch>
        </p:blipFill>
        <p:spPr>
          <a:xfrm>
            <a:off x="6382512" y="1506005"/>
            <a:ext cx="5120640" cy="1816021"/>
          </a:xfrm>
          <a:prstGeom prst="rect">
            <a:avLst/>
          </a:prstGeom>
        </p:spPr>
      </p:pic>
      <p:sp>
        <p:nvSpPr>
          <p:cNvPr id="11" name="Rectangle 10"/>
          <p:cNvSpPr/>
          <p:nvPr/>
        </p:nvSpPr>
        <p:spPr>
          <a:xfrm>
            <a:off x="6327648" y="3611880"/>
            <a:ext cx="5230368" cy="210312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EJ1-U3 #U00b7 Optimizaci#U00f3n.png"/>
          <p:cNvPicPr>
            <a:picLocks noChangeAspect="1"/>
          </p:cNvPicPr>
          <p:nvPr/>
        </p:nvPicPr>
        <p:blipFill>
          <a:blip r:embed="rId3"/>
          <a:stretch>
            <a:fillRect/>
          </a:stretch>
        </p:blipFill>
        <p:spPr>
          <a:xfrm>
            <a:off x="6893690" y="3666744"/>
            <a:ext cx="4098283" cy="19933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1. Optimización local</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Plegado de constantes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El ejercicio trabaja una expresión constante que puede simplificarse sin cambiar el resultado del programa.</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1-U2 #U00b7 Tres direcciones.png"/>
          <p:cNvPicPr>
            <a:picLocks noChangeAspect="1"/>
          </p:cNvPicPr>
          <p:nvPr/>
        </p:nvPicPr>
        <p:blipFill>
          <a:blip r:embed="rId2"/>
          <a:stretch>
            <a:fillRect/>
          </a:stretch>
        </p:blipFill>
        <p:spPr>
          <a:xfrm>
            <a:off x="649224" y="2445923"/>
            <a:ext cx="5157216" cy="1828992"/>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1-U3 #U00b7 Optimizaci#U00f3n.png"/>
          <p:cNvPicPr>
            <a:picLocks noChangeAspect="1"/>
          </p:cNvPicPr>
          <p:nvPr/>
        </p:nvPicPr>
        <p:blipFill>
          <a:blip r:embed="rId3"/>
          <a:stretch>
            <a:fillRect/>
          </a:stretch>
        </p:blipFill>
        <p:spPr>
          <a:xfrm>
            <a:off x="6382512" y="2106193"/>
            <a:ext cx="5157216" cy="2508453"/>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Código de tres direcciones: muestra la expresión original antes de aplicar mejoras.</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se evidencia el plegado de constantes para resolver operaciones conocidas de forma anticipada.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2. Identidades algebraicas — parte 1</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Eliminación de operaciones neutras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El ejercicio demuestra que algunas operaciones no modifican el valor y pueden sustituirse por una forma directa.</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2-U2 #U00b7 Tres direcciones.png"/>
          <p:cNvPicPr>
            <a:picLocks noChangeAspect="1"/>
          </p:cNvPicPr>
          <p:nvPr/>
        </p:nvPicPr>
        <p:blipFill>
          <a:blip r:embed="rId2"/>
          <a:stretch>
            <a:fillRect/>
          </a:stretch>
        </p:blipFill>
        <p:spPr>
          <a:xfrm>
            <a:off x="649224" y="2356011"/>
            <a:ext cx="5157216" cy="2008816"/>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2-U3 #U00b7 Optimizaci#U00f3n-CAP1.png"/>
          <p:cNvPicPr>
            <a:picLocks noChangeAspect="1"/>
          </p:cNvPicPr>
          <p:nvPr/>
        </p:nvPicPr>
        <p:blipFill>
          <a:blip r:embed="rId3"/>
          <a:stretch>
            <a:fillRect/>
          </a:stretch>
        </p:blipFill>
        <p:spPr>
          <a:xfrm>
            <a:off x="6382512" y="1910687"/>
            <a:ext cx="5157216" cy="2899464"/>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Código de tres direcciones: aparecen operaciones como suma o resta con cero y multiplicación por uno.</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CAP1: se compara la versión original contra el código simplificado.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2. Identidades algebraicas — parte 2</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Continuación de la optimización</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261872"/>
            <a:ext cx="1062532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261872"/>
            <a:ext cx="10625328" cy="475488"/>
          </a:xfrm>
          <a:prstGeom prst="rect">
            <a:avLst/>
          </a:prstGeom>
          <a:noFill/>
        </p:spPr>
        <p:txBody>
          <a:bodyPr wrap="square" lIns="73152" rIns="73152" anchor="t">
            <a:spAutoFit/>
          </a:bodyPr>
          <a:lstStyle/>
          <a:p>
            <a:pPr algn="l"/>
            <a:r>
              <a:rPr sz="1240" b="0" i="0">
                <a:solidFill>
                  <a:srgbClr val="2D3033"/>
                </a:solidFill>
                <a:latin typeface="Aptos"/>
              </a:rPr>
              <a:t>La segunda captura se incluyó porque el ejercicio contiene más información de optimización que no cabía en una sola vista.</a:t>
            </a:r>
          </a:p>
        </p:txBody>
      </p:sp>
      <p:sp>
        <p:nvSpPr>
          <p:cNvPr id="7" name="Rectangle 6"/>
          <p:cNvSpPr/>
          <p:nvPr/>
        </p:nvSpPr>
        <p:spPr>
          <a:xfrm>
            <a:off x="1097280" y="1847088"/>
            <a:ext cx="9966960" cy="324612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2-U3 #U00b7 Optimizaci#U00f3n-CAP2.png"/>
          <p:cNvPicPr>
            <a:picLocks noChangeAspect="1"/>
          </p:cNvPicPr>
          <p:nvPr/>
        </p:nvPicPr>
        <p:blipFill>
          <a:blip r:embed="rId2"/>
          <a:stretch>
            <a:fillRect/>
          </a:stretch>
        </p:blipFill>
        <p:spPr>
          <a:xfrm>
            <a:off x="2212373" y="1901952"/>
            <a:ext cx="7736772" cy="3136392"/>
          </a:xfrm>
          <a:prstGeom prst="rect">
            <a:avLst/>
          </a:prstGeom>
        </p:spPr>
      </p:pic>
      <p:sp>
        <p:nvSpPr>
          <p:cNvPr id="9" name="Rectangle 8"/>
          <p:cNvSpPr/>
          <p:nvPr/>
        </p:nvSpPr>
        <p:spPr>
          <a:xfrm>
            <a:off x="1097280" y="5230368"/>
            <a:ext cx="9966960" cy="713232"/>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230368"/>
            <a:ext cx="9966960" cy="713232"/>
          </a:xfrm>
          <a:prstGeom prst="rect">
            <a:avLst/>
          </a:prstGeom>
          <a:noFill/>
        </p:spPr>
        <p:txBody>
          <a:bodyPr wrap="square" lIns="73152" rIns="73152" anchor="t">
            <a:spAutoFit/>
          </a:bodyPr>
          <a:lstStyle/>
          <a:p>
            <a:pPr algn="l"/>
            <a:r>
              <a:rPr sz="1150" b="0" i="0">
                <a:solidFill>
                  <a:srgbClr val="2D3033"/>
                </a:solidFill>
                <a:latin typeface="Aptos"/>
              </a:rPr>
              <a:t>Optimización CAP2: complementa la evidencia del ejercicio y permite observar más detalle de los cambios aplicados.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3. Propagación de constantes</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Uso de valores conocidos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La propagación de constantes permite evitar cálculos repetidos cuando el valor de una variable ya se conoce.</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3-U2 #U00b7 Tres direcciones.png"/>
          <p:cNvPicPr>
            <a:picLocks noChangeAspect="1"/>
          </p:cNvPicPr>
          <p:nvPr/>
        </p:nvPicPr>
        <p:blipFill>
          <a:blip r:embed="rId2"/>
          <a:stretch>
            <a:fillRect/>
          </a:stretch>
        </p:blipFill>
        <p:spPr>
          <a:xfrm>
            <a:off x="649224" y="2471891"/>
            <a:ext cx="5157216" cy="1777056"/>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3-U3 #U00b7 Optimizaci#U00f3n.png"/>
          <p:cNvPicPr>
            <a:picLocks noChangeAspect="1"/>
          </p:cNvPicPr>
          <p:nvPr/>
        </p:nvPicPr>
        <p:blipFill>
          <a:blip r:embed="rId3"/>
          <a:stretch>
            <a:fillRect/>
          </a:stretch>
        </p:blipFill>
        <p:spPr>
          <a:xfrm>
            <a:off x="6382512" y="1973377"/>
            <a:ext cx="5157216" cy="2774085"/>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Código de tres direcciones: se observa una asignación y una operación posterior con el valor propagado.</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el analizador aprovecha valores ya conocidos para reducir instrucciones innecesarias.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4. Propagación de copias</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Sustitución de referencias intermedias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Este ejercicio muestra cómo una cadena de copias puede reducirse cuando varias variables conservan el mismo valor.</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4-U2 #U00b7 Tres direcciones.png"/>
          <p:cNvPicPr>
            <a:picLocks noChangeAspect="1"/>
          </p:cNvPicPr>
          <p:nvPr/>
        </p:nvPicPr>
        <p:blipFill>
          <a:blip r:embed="rId2"/>
          <a:stretch>
            <a:fillRect/>
          </a:stretch>
        </p:blipFill>
        <p:spPr>
          <a:xfrm>
            <a:off x="649224" y="2517283"/>
            <a:ext cx="5157216" cy="1686273"/>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4-U3 #U00b7 Optimizaci#U00f3n.png"/>
          <p:cNvPicPr>
            <a:picLocks noChangeAspect="1"/>
          </p:cNvPicPr>
          <p:nvPr/>
        </p:nvPicPr>
        <p:blipFill>
          <a:blip r:embed="rId3"/>
          <a:stretch>
            <a:fillRect/>
          </a:stretch>
        </p:blipFill>
        <p:spPr>
          <a:xfrm>
            <a:off x="6382512" y="1921357"/>
            <a:ext cx="5157216" cy="2878125"/>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Código de tres direcciones: se muestra una cadena de asignaciones entre variables.</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se simplifican copias sucesivas para evitar referencias redundantes.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5. Subexpresiones comunes — parte 1</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Reutilización de resultados calculados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Las subexpresiones comunes permiten reutilizar un resultado ya calculado cuando aparece la misma operación.</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5-U2 #U00b7 Tres direcciones.png"/>
          <p:cNvPicPr>
            <a:picLocks noChangeAspect="1"/>
          </p:cNvPicPr>
          <p:nvPr/>
        </p:nvPicPr>
        <p:blipFill>
          <a:blip r:embed="rId2"/>
          <a:stretch>
            <a:fillRect/>
          </a:stretch>
        </p:blipFill>
        <p:spPr>
          <a:xfrm>
            <a:off x="649224" y="2396215"/>
            <a:ext cx="5157216" cy="1928409"/>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5-U3 #U00b7 Optimizaci#U00f3n.png"/>
          <p:cNvPicPr>
            <a:picLocks noChangeAspect="1"/>
          </p:cNvPicPr>
          <p:nvPr/>
        </p:nvPicPr>
        <p:blipFill>
          <a:blip r:embed="rId3"/>
          <a:stretch>
            <a:fillRect/>
          </a:stretch>
        </p:blipFill>
        <p:spPr>
          <a:xfrm>
            <a:off x="6382512" y="1946998"/>
            <a:ext cx="5157216" cy="2826843"/>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Código de tres direcciones: se observa una expresión que puede repetirse en el programa.</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CAP1: se identifica la oportunidad de evitar cálculos duplicados.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5. Subexpresiones comunes — parte 2</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Complemento de la evidencia</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261872"/>
            <a:ext cx="1062532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261872"/>
            <a:ext cx="10625328" cy="475488"/>
          </a:xfrm>
          <a:prstGeom prst="rect">
            <a:avLst/>
          </a:prstGeom>
          <a:noFill/>
        </p:spPr>
        <p:txBody>
          <a:bodyPr wrap="square" lIns="73152" rIns="73152" anchor="t">
            <a:spAutoFit/>
          </a:bodyPr>
          <a:lstStyle/>
          <a:p>
            <a:pPr algn="l"/>
            <a:r>
              <a:rPr sz="1240" b="0" i="0">
                <a:solidFill>
                  <a:srgbClr val="2D3033"/>
                </a:solidFill>
                <a:latin typeface="Aptos"/>
              </a:rPr>
              <a:t>Esta vista complementaria ayuda a documentar los cambios aplicados por el optimizador.</a:t>
            </a:r>
          </a:p>
        </p:txBody>
      </p:sp>
      <p:sp>
        <p:nvSpPr>
          <p:cNvPr id="7" name="Rectangle 6"/>
          <p:cNvSpPr/>
          <p:nvPr/>
        </p:nvSpPr>
        <p:spPr>
          <a:xfrm>
            <a:off x="1097280" y="1847088"/>
            <a:ext cx="9966960" cy="324612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5-U3 #U00b7 Optimizaci#U00f3n-CAP2.png"/>
          <p:cNvPicPr>
            <a:picLocks noChangeAspect="1"/>
          </p:cNvPicPr>
          <p:nvPr/>
        </p:nvPicPr>
        <p:blipFill>
          <a:blip r:embed="rId2"/>
          <a:stretch>
            <a:fillRect/>
          </a:stretch>
        </p:blipFill>
        <p:spPr>
          <a:xfrm>
            <a:off x="2465329" y="1901952"/>
            <a:ext cx="7230861" cy="3136392"/>
          </a:xfrm>
          <a:prstGeom prst="rect">
            <a:avLst/>
          </a:prstGeom>
        </p:spPr>
      </p:pic>
      <p:sp>
        <p:nvSpPr>
          <p:cNvPr id="9" name="Rectangle 8"/>
          <p:cNvSpPr/>
          <p:nvPr/>
        </p:nvSpPr>
        <p:spPr>
          <a:xfrm>
            <a:off x="1097280" y="5230368"/>
            <a:ext cx="9966960" cy="713232"/>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230368"/>
            <a:ext cx="9966960" cy="713232"/>
          </a:xfrm>
          <a:prstGeom prst="rect">
            <a:avLst/>
          </a:prstGeom>
          <a:noFill/>
        </p:spPr>
        <p:txBody>
          <a:bodyPr wrap="square" lIns="73152" rIns="73152" anchor="t">
            <a:spAutoFit/>
          </a:bodyPr>
          <a:lstStyle/>
          <a:p>
            <a:pPr algn="l"/>
            <a:r>
              <a:rPr sz="1150" b="0" i="0">
                <a:solidFill>
                  <a:srgbClr val="2D3033"/>
                </a:solidFill>
                <a:latin typeface="Aptos"/>
              </a:rPr>
              <a:t>Optimización CAP2: muestra información adicional del análisis aplicado al ejercicio de subexpresiones comunes.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6. Reducción de fuerza</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Sustitución por operación equivalente</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La reducción de fuerza permite reemplazar una operación por otra más sencilla sin cambiar el resultado.</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6-U2 #U00b7 Tres direcciones.png"/>
          <p:cNvPicPr>
            <a:picLocks noChangeAspect="1"/>
          </p:cNvPicPr>
          <p:nvPr/>
        </p:nvPicPr>
        <p:blipFill>
          <a:blip r:embed="rId2"/>
          <a:stretch>
            <a:fillRect/>
          </a:stretch>
        </p:blipFill>
        <p:spPr>
          <a:xfrm>
            <a:off x="649224" y="2687220"/>
            <a:ext cx="5157216" cy="1346398"/>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6-U3 #U00b7 Optimizaci#U00f3n.png"/>
          <p:cNvPicPr>
            <a:picLocks noChangeAspect="1"/>
          </p:cNvPicPr>
          <p:nvPr/>
        </p:nvPicPr>
        <p:blipFill>
          <a:blip r:embed="rId3"/>
          <a:stretch>
            <a:fillRect/>
          </a:stretch>
        </p:blipFill>
        <p:spPr>
          <a:xfrm>
            <a:off x="6382512" y="1927285"/>
            <a:ext cx="5157216" cy="2866268"/>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Código de tres direcciones: se parte de una multiplicación por dos.</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la operación se transforma en una forma equivalente menos costosa.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7. Código redundante — parte 1</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Simplificación de instrucciones innecesarias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El ejercicio combina operaciones como +0, *1 y /1 para demostrar cómo se puede reducir código innecesario.</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7-U2 #U00b7 Tres direcciones.png"/>
          <p:cNvPicPr>
            <a:picLocks noChangeAspect="1"/>
          </p:cNvPicPr>
          <p:nvPr/>
        </p:nvPicPr>
        <p:blipFill>
          <a:blip r:embed="rId2"/>
          <a:stretch>
            <a:fillRect/>
          </a:stretch>
        </p:blipFill>
        <p:spPr>
          <a:xfrm>
            <a:off x="649224" y="2442175"/>
            <a:ext cx="5157216" cy="1836488"/>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7-U3 #U00b7 Optimizaci#U00f3n-CAP1.png"/>
          <p:cNvPicPr>
            <a:picLocks noChangeAspect="1"/>
          </p:cNvPicPr>
          <p:nvPr/>
        </p:nvPicPr>
        <p:blipFill>
          <a:blip r:embed="rId3"/>
          <a:stretch>
            <a:fillRect/>
          </a:stretch>
        </p:blipFill>
        <p:spPr>
          <a:xfrm>
            <a:off x="6382512" y="1933096"/>
            <a:ext cx="5157216" cy="2854646"/>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Código de tres direcciones: se muestran operaciones que no cambian realmente el valor.</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CAP1: se observa la primera parte del proceso de eliminación o sustitución de instrucciones redundantes.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7. Código redundante — parte 2</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Complemento de cambios aplicados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261872"/>
            <a:ext cx="1062532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261872"/>
            <a:ext cx="10625328" cy="475488"/>
          </a:xfrm>
          <a:prstGeom prst="rect">
            <a:avLst/>
          </a:prstGeom>
          <a:noFill/>
        </p:spPr>
        <p:txBody>
          <a:bodyPr wrap="square" lIns="73152" rIns="73152" anchor="t">
            <a:spAutoFit/>
          </a:bodyPr>
          <a:lstStyle/>
          <a:p>
            <a:pPr algn="l"/>
            <a:r>
              <a:rPr sz="1240" b="0" i="0">
                <a:solidFill>
                  <a:srgbClr val="2D3033"/>
                </a:solidFill>
                <a:latin typeface="Aptos"/>
              </a:rPr>
              <a:t>Se agregó esta captura porque el ejercicio contiene varias transformaciones y requería una vista adicional.</a:t>
            </a:r>
          </a:p>
        </p:txBody>
      </p:sp>
      <p:sp>
        <p:nvSpPr>
          <p:cNvPr id="7" name="Rectangle 6"/>
          <p:cNvSpPr/>
          <p:nvPr/>
        </p:nvSpPr>
        <p:spPr>
          <a:xfrm>
            <a:off x="1097280" y="1847088"/>
            <a:ext cx="9966960" cy="324612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7-U3 #U00b7 Optimizaci#U00f3n-CAP2.png"/>
          <p:cNvPicPr>
            <a:picLocks noChangeAspect="1"/>
          </p:cNvPicPr>
          <p:nvPr/>
        </p:nvPicPr>
        <p:blipFill>
          <a:blip r:embed="rId2"/>
          <a:stretch>
            <a:fillRect/>
          </a:stretch>
        </p:blipFill>
        <p:spPr>
          <a:xfrm>
            <a:off x="3227435" y="1901952"/>
            <a:ext cx="5706648" cy="3136392"/>
          </a:xfrm>
          <a:prstGeom prst="rect">
            <a:avLst/>
          </a:prstGeom>
        </p:spPr>
      </p:pic>
      <p:sp>
        <p:nvSpPr>
          <p:cNvPr id="9" name="Rectangle 8"/>
          <p:cNvSpPr/>
          <p:nvPr/>
        </p:nvSpPr>
        <p:spPr>
          <a:xfrm>
            <a:off x="1097280" y="5230368"/>
            <a:ext cx="9966960" cy="713232"/>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5230368"/>
            <a:ext cx="9966960" cy="713232"/>
          </a:xfrm>
          <a:prstGeom prst="rect">
            <a:avLst/>
          </a:prstGeom>
          <a:noFill/>
        </p:spPr>
        <p:txBody>
          <a:bodyPr wrap="square" lIns="73152" rIns="73152" anchor="t">
            <a:spAutoFit/>
          </a:bodyPr>
          <a:lstStyle/>
          <a:p>
            <a:pPr algn="l"/>
            <a:r>
              <a:rPr sz="1150" b="0" i="0">
                <a:solidFill>
                  <a:srgbClr val="2D3033"/>
                </a:solidFill>
                <a:latin typeface="Aptos"/>
              </a:rPr>
              <a:t>Optimización CAP2: permite observar otra parte de la evidencia del ejercicio de código redundante.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8. Temporales y constantes</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Evidencia del código intermedio generado</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En este ejercicio se documentó el código intermedio en dos capturas porque la salida ocupaba más de una vista en pantalla.</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8-U2 #U00b7 Tres direcciones-CAP1.png"/>
          <p:cNvPicPr>
            <a:picLocks noChangeAspect="1"/>
          </p:cNvPicPr>
          <p:nvPr/>
        </p:nvPicPr>
        <p:blipFill>
          <a:blip r:embed="rId2"/>
          <a:stretch>
            <a:fillRect/>
          </a:stretch>
        </p:blipFill>
        <p:spPr>
          <a:xfrm>
            <a:off x="649224" y="1944313"/>
            <a:ext cx="5157216" cy="2832213"/>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8-U2 #U00b7 Tres direcciones-CAP2.png"/>
          <p:cNvPicPr>
            <a:picLocks noChangeAspect="1"/>
          </p:cNvPicPr>
          <p:nvPr/>
        </p:nvPicPr>
        <p:blipFill>
          <a:blip r:embed="rId3"/>
          <a:stretch>
            <a:fillRect/>
          </a:stretch>
        </p:blipFill>
        <p:spPr>
          <a:xfrm>
            <a:off x="6382512" y="2039010"/>
            <a:ext cx="5157216" cy="2642819"/>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Tres direcciones CAP1: primera vista del código intermedio generado para expresiones constantes y temporales.</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Tres direcciones CAP2: continuación de la evidencia del mismo ejercicio para completar la lectura del resultado.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9. Optimización de mirilla</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Revisión de pequeñas secuencias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La optimización de mirilla trabaja sobre fragmentos pequeños del código para detectar mejoras puntuales.</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9-U2 #U00b7 Tres direcciones.png"/>
          <p:cNvPicPr>
            <a:picLocks noChangeAspect="1"/>
          </p:cNvPicPr>
          <p:nvPr/>
        </p:nvPicPr>
        <p:blipFill>
          <a:blip r:embed="rId2"/>
          <a:stretch>
            <a:fillRect/>
          </a:stretch>
        </p:blipFill>
        <p:spPr>
          <a:xfrm>
            <a:off x="649224" y="2453601"/>
            <a:ext cx="5157216" cy="1813637"/>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9-U3 #U00b7 Optimizaci#U00f3n.png"/>
          <p:cNvPicPr>
            <a:picLocks noChangeAspect="1"/>
          </p:cNvPicPr>
          <p:nvPr/>
        </p:nvPicPr>
        <p:blipFill>
          <a:blip r:embed="rId3"/>
          <a:stretch>
            <a:fillRect/>
          </a:stretch>
        </p:blipFill>
        <p:spPr>
          <a:xfrm>
            <a:off x="6382512" y="1955605"/>
            <a:ext cx="5157216" cy="2809629"/>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Código de tres direcciones: muestra instrucciones breves que pueden analizarse de forma localizada.</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la mirilla revisa pequeñas secuencias y aplica sustituciones simples.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10. Caso integrador — parte 1</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Combinación de varias reglas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El caso integrador combina varias técnicas de optimización en un solo programa.</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10-U2 #U00b7 Tres direcciones.png"/>
          <p:cNvPicPr>
            <a:picLocks noChangeAspect="1"/>
          </p:cNvPicPr>
          <p:nvPr/>
        </p:nvPicPr>
        <p:blipFill>
          <a:blip r:embed="rId2"/>
          <a:stretch>
            <a:fillRect/>
          </a:stretch>
        </p:blipFill>
        <p:spPr>
          <a:xfrm>
            <a:off x="649224" y="1921719"/>
            <a:ext cx="5157216" cy="2877401"/>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10-U3 #U00b7 Optimizaci#U00f3n-CAP1.png"/>
          <p:cNvPicPr>
            <a:picLocks noChangeAspect="1"/>
          </p:cNvPicPr>
          <p:nvPr/>
        </p:nvPicPr>
        <p:blipFill>
          <a:blip r:embed="rId3"/>
          <a:stretch>
            <a:fillRect/>
          </a:stretch>
        </p:blipFill>
        <p:spPr>
          <a:xfrm>
            <a:off x="6382512" y="1967084"/>
            <a:ext cx="5157216" cy="2786670"/>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Código de tres direcciones: reúne varias operaciones con constantes, temporales y asignaciones.</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CAP1: se presenta la comparación inicial entre código original y código optimizado.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Ejercicio 10. Caso integrador — parte 2</a:t>
            </a:r>
          </a:p>
        </p:txBody>
      </p:sp>
      <p:sp>
        <p:nvSpPr>
          <p:cNvPr id="3" name="TextBox 2"/>
          <p:cNvSpPr txBox="1"/>
          <p:nvPr/>
        </p:nvSpPr>
        <p:spPr>
          <a:xfrm>
            <a:off x="566928" y="786384"/>
            <a:ext cx="9875520" cy="256032"/>
          </a:xfrm>
          <a:prstGeom prst="rect">
            <a:avLst/>
          </a:prstGeom>
          <a:noFill/>
        </p:spPr>
        <p:txBody>
          <a:bodyPr wrap="square" lIns="73152" rIns="73152" anchor="t">
            <a:spAutoFit/>
          </a:bodyPr>
          <a:lstStyle/>
          <a:p>
            <a:pPr algn="l"/>
            <a:r>
              <a:rPr sz="1050" b="0" i="0">
                <a:solidFill>
                  <a:srgbClr val="5C636A"/>
                </a:solidFill>
                <a:latin typeface="Aptos"/>
              </a:rPr>
              <a:t>Detalle y resumen de cambios</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225296"/>
            <a:ext cx="10991088" cy="475488"/>
          </a:xfrm>
          <a:prstGeom prst="rect">
            <a:avLst/>
          </a:prstGeom>
          <a:solidFill>
            <a:srgbClr val="EEF3F8"/>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225296"/>
            <a:ext cx="10991088" cy="475488"/>
          </a:xfrm>
          <a:prstGeom prst="rect">
            <a:avLst/>
          </a:prstGeom>
          <a:noFill/>
        </p:spPr>
        <p:txBody>
          <a:bodyPr wrap="square" lIns="73152" rIns="73152" anchor="t">
            <a:spAutoFit/>
          </a:bodyPr>
          <a:lstStyle/>
          <a:p>
            <a:pPr algn="l"/>
            <a:r>
              <a:rPr sz="1210" b="0" i="0">
                <a:solidFill>
                  <a:srgbClr val="2D3033"/>
                </a:solidFill>
                <a:latin typeface="Aptos"/>
              </a:rPr>
              <a:t>Estas capturas documentan el cierre del caso integrador y ayudan a justificar la mejora obtenida.</a:t>
            </a:r>
          </a:p>
        </p:txBody>
      </p:sp>
      <p:sp>
        <p:nvSpPr>
          <p:cNvPr id="7" name="Rectangle 6"/>
          <p:cNvSpPr/>
          <p:nvPr/>
        </p:nvSpPr>
        <p:spPr>
          <a:xfrm>
            <a:off x="594360"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J10-U3 #U00b7 Optimizaci#U00f3n-CAP2.png"/>
          <p:cNvPicPr>
            <a:picLocks noChangeAspect="1"/>
          </p:cNvPicPr>
          <p:nvPr/>
        </p:nvPicPr>
        <p:blipFill>
          <a:blip r:embed="rId2"/>
          <a:stretch>
            <a:fillRect/>
          </a:stretch>
        </p:blipFill>
        <p:spPr>
          <a:xfrm>
            <a:off x="649224" y="2334134"/>
            <a:ext cx="5157216" cy="2052571"/>
          </a:xfrm>
          <a:prstGeom prst="rect">
            <a:avLst/>
          </a:prstGeom>
        </p:spPr>
      </p:pic>
      <p:sp>
        <p:nvSpPr>
          <p:cNvPr id="9" name="Rectangle 8"/>
          <p:cNvSpPr/>
          <p:nvPr/>
        </p:nvSpPr>
        <p:spPr>
          <a:xfrm>
            <a:off x="6327648" y="1828800"/>
            <a:ext cx="5266944" cy="3063240"/>
          </a:xfrm>
          <a:prstGeom prst="rect">
            <a:avLst/>
          </a:prstGeom>
          <a:solidFill>
            <a:srgbClr val="FFFFFF"/>
          </a:solidFill>
          <a:ln w="10160">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J10-U3 #U00b7 Optimizaci#U00f3n-CAP3.png"/>
          <p:cNvPicPr>
            <a:picLocks noChangeAspect="1"/>
          </p:cNvPicPr>
          <p:nvPr/>
        </p:nvPicPr>
        <p:blipFill>
          <a:blip r:embed="rId3"/>
          <a:stretch>
            <a:fillRect/>
          </a:stretch>
        </p:blipFill>
        <p:spPr>
          <a:xfrm>
            <a:off x="6382512" y="2339439"/>
            <a:ext cx="5157216" cy="2041960"/>
          </a:xfrm>
          <a:prstGeom prst="rect">
            <a:avLst/>
          </a:prstGeom>
        </p:spPr>
      </p:pic>
      <p:sp>
        <p:nvSpPr>
          <p:cNvPr id="11" name="Rectangle 10"/>
          <p:cNvSpPr/>
          <p:nvPr/>
        </p:nvSpPr>
        <p:spPr>
          <a:xfrm>
            <a:off x="594360"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CAP2: complementa los cambios aplicados sobre el código del ejercicio integrador.</a:t>
            </a:r>
          </a:p>
        </p:txBody>
      </p:sp>
      <p:sp>
        <p:nvSpPr>
          <p:cNvPr id="13" name="Rectangle 12"/>
          <p:cNvSpPr/>
          <p:nvPr/>
        </p:nvSpPr>
        <p:spPr>
          <a:xfrm>
            <a:off x="6327648" y="5001768"/>
            <a:ext cx="5266944" cy="822960"/>
          </a:xfrm>
          <a:prstGeom prst="rect">
            <a:avLst/>
          </a:prstGeom>
          <a:solidFill>
            <a:srgbClr val="FFFFFF"/>
          </a:solidFill>
          <a:ln w="6985">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5001768"/>
            <a:ext cx="5266944" cy="822960"/>
          </a:xfrm>
          <a:prstGeom prst="rect">
            <a:avLst/>
          </a:prstGeom>
          <a:noFill/>
        </p:spPr>
        <p:txBody>
          <a:bodyPr wrap="square" lIns="73152" rIns="73152" anchor="t">
            <a:spAutoFit/>
          </a:bodyPr>
          <a:lstStyle/>
          <a:p>
            <a:pPr algn="l"/>
            <a:r>
              <a:rPr sz="1100" b="0" i="0">
                <a:solidFill>
                  <a:srgbClr val="2D3033"/>
                </a:solidFill>
                <a:latin typeface="Aptos"/>
              </a:rPr>
              <a:t>Optimización CAP3: muestra información final y resumen del proceso de reducción.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
        <p:cNvGrpSpPr/>
        <p:nvPr/>
      </p:nvGrpSpPr>
      <p:grpSpPr>
        <a:xfrm>
          <a:off x="0" y="0"/>
          <a:ext cx="0" cy="0"/>
          <a:chOff x="0" y="0"/>
          <a:chExt cx="0" cy="0"/>
        </a:xfrm>
      </p:grpSpPr>
      <p:sp>
        <p:nvSpPr>
          <p:cNvPr id="2" name="TextBox 1"/>
          <p:cNvSpPr txBox="1"/>
          <p:nvPr/>
        </p:nvSpPr>
        <p:spPr>
          <a:xfrm>
            <a:off x="548640" y="310896"/>
            <a:ext cx="10424160" cy="475488"/>
          </a:xfrm>
          <a:prstGeom prst="rect">
            <a:avLst/>
          </a:prstGeom>
          <a:noFill/>
        </p:spPr>
        <p:txBody>
          <a:bodyPr wrap="square" lIns="73152" rIns="73152" anchor="t">
            <a:spAutoFit/>
          </a:bodyPr>
          <a:lstStyle/>
          <a:p>
            <a:pPr algn="l"/>
            <a:r>
              <a:rPr sz="2300" b="1" i="0">
                <a:solidFill>
                  <a:srgbClr val="1E2F44"/>
                </a:solidFill>
                <a:latin typeface="Aptos"/>
              </a:rPr>
              <a:t>Conclusión</a:t>
            </a:r>
          </a:p>
        </p:txBody>
      </p:sp>
      <p:sp>
        <p:nvSpPr>
          <p:cNvPr id="4" name="Rectangle 3"/>
          <p:cNvSpPr/>
          <p:nvPr/>
        </p:nvSpPr>
        <p:spPr>
          <a:xfrm>
            <a:off x="548640" y="1078992"/>
            <a:ext cx="11109960" cy="32004"/>
          </a:xfrm>
          <a:prstGeom prst="rect">
            <a:avLst/>
          </a:prstGeom>
          <a:solidFill>
            <a:srgbClr val="295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463040"/>
            <a:ext cx="10789920" cy="4480560"/>
          </a:xfrm>
          <a:prstGeom prst="rect">
            <a:avLst/>
          </a:prstGeom>
          <a:noFill/>
        </p:spPr>
        <p:txBody>
          <a:bodyPr wrap="square" lIns="73152" rIns="73152" anchor="t">
            <a:spAutoFit/>
          </a:bodyPr>
          <a:lstStyle/>
          <a:p>
            <a:pPr algn="l"/>
            <a:r>
              <a:rPr sz="1750" b="0" i="0">
                <a:solidFill>
                  <a:srgbClr val="2D3033"/>
                </a:solidFill>
                <a:latin typeface="Aptos"/>
              </a:rPr>
              <a:t>La Actividad 3.3 permitió comprobar, mediante ejercicios concretos, cómo el analizador semántico genera código intermedio y aplica reglas de optimización para reducir instrucciones o simplificar operaciones. A través de las capturas se observó la diferencia entre el código de tres direcciones y la salida optimizada.</a:t>
            </a:r>
          </a:p>
          <a:p>
            <a:pPr algn="l"/>
            <a:endParaRPr sz="1750" b="0" i="0">
              <a:solidFill>
                <a:srgbClr val="2D3033"/>
              </a:solidFill>
              <a:latin typeface="Aptos"/>
            </a:endParaRPr>
          </a:p>
          <a:p>
            <a:pPr algn="l"/>
            <a:r>
              <a:rPr sz="1750" b="0" i="0">
                <a:solidFill>
                  <a:srgbClr val="2D3033"/>
                </a:solidFill>
                <a:latin typeface="Aptos"/>
              </a:rPr>
              <a:t>Los ejercicios mostraron casos como plegado de constantes, identidades algebraicas, propagación de constantes, propagación de copias, subexpresiones comunes, reducción de fuerza y optimización de mirilla. En conjunto, estas técnicas permiten mejorar el código sin modificar su comportamiento.</a:t>
            </a:r>
          </a:p>
          <a:p>
            <a:pPr algn="l"/>
            <a:endParaRPr sz="1750" b="0" i="0">
              <a:solidFill>
                <a:srgbClr val="2D3033"/>
              </a:solidFill>
              <a:latin typeface="Aptos"/>
            </a:endParaRPr>
          </a:p>
          <a:p>
            <a:pPr algn="l"/>
            <a:r>
              <a:rPr sz="1750" b="0" i="0">
                <a:solidFill>
                  <a:srgbClr val="2D3033"/>
                </a:solidFill>
                <a:latin typeface="Aptos"/>
              </a:rPr>
              <a:t>El reporte evidencia que la optimización no consiste únicamente en eliminar líneas, sino en aplicar transformaciones justificadas que conservan el resultado del programa y reducen trabajo innecesario.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326004" cy="446276"/>
          </a:xfrm>
          <a:prstGeom prst="rect">
            <a:avLst/>
          </a:prstGeom>
          <a:noFill/>
        </p:spPr>
        <p:txBody>
          <a:bodyPr wrap="none">
            <a:spAutoFit/>
          </a:bodyPr>
          <a:lstStyle/>
          <a:p>
            <a:r>
              <a:rPr lang="es-MX" sz="2300" b="1" dirty="0">
                <a:solidFill>
                  <a:srgbClr val="1B3E39"/>
                </a:solidFill>
                <a:latin typeface="Aptos"/>
              </a:rPr>
              <a:t>LINK GIT</a:t>
            </a:r>
            <a:endParaRPr sz="2300" b="1" dirty="0">
              <a:solidFill>
                <a:srgbClr val="1B3E39"/>
              </a:solidFill>
              <a:latin typeface="Aptos"/>
            </a:endParaRPr>
          </a:p>
        </p:txBody>
      </p:sp>
      <p:sp>
        <p:nvSpPr>
          <p:cNvPr id="4" name="Rectangle 3"/>
          <p:cNvSpPr/>
          <p:nvPr/>
        </p:nvSpPr>
        <p:spPr>
          <a:xfrm>
            <a:off x="502920" y="1097280"/>
            <a:ext cx="11155680" cy="36576"/>
          </a:xfrm>
          <a:prstGeom prst="rect">
            <a:avLst/>
          </a:prstGeom>
          <a:solidFill>
            <a:srgbClr val="335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10789920" cy="1255728"/>
          </a:xfrm>
          <a:prstGeom prst="rect">
            <a:avLst/>
          </a:prstGeom>
          <a:noFill/>
        </p:spPr>
        <p:txBody>
          <a:bodyPr wrap="square" lIns="73152" tIns="73152" rIns="73152" bIns="73152" anchor="t">
            <a:spAutoFit/>
          </a:bodyPr>
          <a:lstStyle/>
          <a:p>
            <a:pPr algn="l"/>
            <a:r>
              <a:rPr lang="es-MX" sz="1800" b="0" i="0" dirty="0">
                <a:solidFill>
                  <a:srgbClr val="313A39"/>
                </a:solidFill>
                <a:latin typeface="Aptos"/>
                <a:hlinkClick r:id="rId2"/>
              </a:rPr>
              <a:t>https://github.com/amaurycolochos-cpu/LENGUAJES-Y-AUTOMATAS-II/tree/main/LYA-ll-Tema-2/AnalizadorSemantico-Unidades-1-2-3-JavaFX</a:t>
            </a:r>
            <a:endParaRPr lang="es-MX" sz="1800" b="0" i="0" dirty="0">
              <a:solidFill>
                <a:srgbClr val="313A39"/>
              </a:solidFill>
              <a:latin typeface="Aptos"/>
            </a:endParaRPr>
          </a:p>
          <a:p>
            <a:pPr algn="l"/>
            <a:endParaRPr sz="1800" b="0" i="0" dirty="0">
              <a:solidFill>
                <a:srgbClr val="313A39"/>
              </a:solidFill>
              <a:latin typeface="Aptos"/>
            </a:endParaRPr>
          </a:p>
          <a:p>
            <a:pPr algn="l"/>
            <a:endParaRPr sz="1800" b="0" i="0" dirty="0">
              <a:solidFill>
                <a:srgbClr val="313A39"/>
              </a:solidFill>
              <a:latin typeface="Aptos"/>
            </a:endParaRPr>
          </a:p>
        </p:txBody>
      </p:sp>
    </p:spTree>
    <p:extLst>
      <p:ext uri="{BB962C8B-B14F-4D97-AF65-F5344CB8AC3E}">
        <p14:creationId xmlns:p14="http://schemas.microsoft.com/office/powerpoint/2010/main" val="4215231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1290</Words>
  <Application>Microsoft Office PowerPoint</Application>
  <PresentationFormat>Panorámica</PresentationFormat>
  <Paragraphs>106</Paragraphs>
  <Slides>20</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-apple-system</vt:lpstr>
      <vt:lpstr>Aptos</vt:lpstr>
      <vt:lpstr>Aptos Display</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AMAURY JAHAZIEL GORDILLO HERNANDEZ</cp:lastModifiedBy>
  <cp:revision>3</cp:revision>
  <dcterms:created xsi:type="dcterms:W3CDTF">2013-01-27T09:14:16Z</dcterms:created>
  <dcterms:modified xsi:type="dcterms:W3CDTF">2026-09-22T07:02:20Z</dcterms:modified>
  <cp:category/>
</cp:coreProperties>
</file>