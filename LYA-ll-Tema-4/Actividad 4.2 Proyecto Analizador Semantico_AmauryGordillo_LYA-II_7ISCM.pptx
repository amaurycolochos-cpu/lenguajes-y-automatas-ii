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76DB3-2446-4836-AC33-502FC82F6070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C8BE9-9529-4171-92D2-8AD5A39DB0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615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95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LENGUAJES-Y-AUTOMATAS-II/tree/main/LYA-ll-Tema-4/AnalizadorSemantico-Unidades-1-2-3-4-JavaFX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" TargetMode="External"/><Relationship Id="rId2" Type="http://schemas.openxmlformats.org/officeDocument/2006/relationships/hyperlink" Target="https://llvm.org/docs/CodeGenerator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enjfx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LENGUAJES Y AUTOMATAS II</a:t>
            </a: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lang="es-MX"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Proyecto Analizador </a:t>
            </a:r>
            <a:r>
              <a:rPr lang="es-MX" b="0" i="0" dirty="0" err="1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Semantico</a:t>
            </a:r>
            <a:endParaRPr b="0" i="0" dirty="0">
              <a:solidFill>
                <a:srgbClr val="212529"/>
              </a:solidFill>
              <a:latin typeface="-apple-system"/>
              <a:ea typeface="-apple-system"/>
              <a:cs typeface="-apple-system"/>
            </a:endParaRP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 dirty="0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04 DE OCTUBRE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532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El presente proyecto corresponde al desarrollo y consolidación de un compilador didáctico en Java y JavaFX, construido a lo largo de la asignatura de Lenguajes y Autómatas II.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Durante las primeras unidades se implementaron el análisis semántico, la generación de código intermedio y la optimización. En esta última etapa se integró la Unidad 4, enfocada en la generación de código objeto.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La nueva versión del sistema permite analizar el código fuente, administrar memoria, traducir instrucciones a ensamblador y representar el resultado final en formato objeto.</a:t>
            </a:r>
          </a:p>
        </p:txBody>
      </p:sp>
      <p:pic>
        <p:nvPicPr>
          <p:cNvPr id="5" name="Picture 4" descr="2ed85a5a-1963-50ff-8101-2859f2f24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03520" cy="2982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Justificación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5532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Esta actividad permite integrar en un solo proyecto las etapas fundamentales del proceso de compilación trabajadas durante el curso.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La implementación de la Unidad 4 es importante porque completa el flujo del compilador, pasando del análisis y la optimización a una representación ejecutable cercana al hardware.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Además, el proyecto facilita la comprensión de conceptos como asignación de direcciones, administración de memoria, traducción a ensamblador y codificación en lenguaje máquina.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Finalmente, el trabajo práctico fortalece el desarrollo de habilidades de diseño, programación y documentación de software orientado a compiladores.</a:t>
            </a:r>
          </a:p>
        </p:txBody>
      </p:sp>
      <p:pic>
        <p:nvPicPr>
          <p:cNvPr id="5" name="Picture 4" descr="244feee8-6a5f-591b-9c17-ccf6038590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61872"/>
            <a:ext cx="5074920" cy="2853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Contenido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6629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Se reutilizó el analizador desarrollado en las Unidades 1, 2 y 3 para conservar el análisis semántico, la tabla de símbolos, el código intermedio y la optimización.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Se añadieron clases nuevas para la Unidad 4, orientadas a la generación de código objeto y a la representación del mapa de memoria, el ensamblador y las palabras de máquina.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Se mantuvo la misma interfaz gráfica en JavaFX y se agregaron nuevas pestañas para mostrar los resultados de la etapa final del compilador.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El proyecto fue organizado en carpetas de código fuente, documentación, ejemplos de prueba y archivos de validación.</a:t>
            </a:r>
          </a:p>
        </p:txBody>
      </p:sp>
      <p:pic>
        <p:nvPicPr>
          <p:cNvPr id="5" name="Picture 4" descr="bd41d7b4-7421-5549-a85c-1dea869854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078992"/>
            <a:ext cx="375513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79792" y="61722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82828"/>
                </a:solidFill>
              </a:rPr>
              <a:t>Estructura general del 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27751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dirty="0" err="1">
                <a:solidFill>
                  <a:srgbClr val="FFFFFF"/>
                </a:solidFill>
                <a:latin typeface="Arial"/>
              </a:rPr>
              <a:t>Lenguajes</a:t>
            </a:r>
            <a:r>
              <a:rPr sz="900" dirty="0">
                <a:solidFill>
                  <a:srgbClr val="FFFFFF"/>
                </a:solidFill>
                <a:latin typeface="Arial"/>
              </a:rPr>
              <a:t> y </a:t>
            </a:r>
            <a:r>
              <a:rPr sz="900" dirty="0" err="1">
                <a:solidFill>
                  <a:srgbClr val="FFFFFF"/>
                </a:solidFill>
                <a:latin typeface="Arial"/>
              </a:rPr>
              <a:t>Autómatas</a:t>
            </a:r>
            <a:r>
              <a:rPr sz="900" dirty="0">
                <a:solidFill>
                  <a:srgbClr val="FFFFFF"/>
                </a:solidFill>
                <a:latin typeface="Arial"/>
              </a:rPr>
              <a:t> II · Unidad 4 · </a:t>
            </a:r>
            <a:r>
              <a:rPr sz="900" dirty="0" err="1">
                <a:solidFill>
                  <a:srgbClr val="FFFFFF"/>
                </a:solidFill>
                <a:latin typeface="Arial"/>
              </a:rPr>
              <a:t>ryecto</a:t>
            </a:r>
            <a:r>
              <a:rPr sz="900" dirty="0">
                <a:solidFill>
                  <a:srgbClr val="FFFFFF"/>
                </a:solidFill>
                <a:latin typeface="Arial"/>
              </a:rPr>
              <a:t>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Descripción general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560320" cy="1051560"/>
          </a:xfrm>
          <a:prstGeom prst="roundRect">
            <a:avLst/>
          </a:prstGeom>
          <a:solidFill>
            <a:srgbClr val="E8F0F7"/>
          </a:solidFill>
          <a:ln>
            <a:solidFill>
              <a:srgbClr val="18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659"/>
                </a:solidFill>
              </a:rPr>
              <a:t>Unidad 1</a:t>
            </a:r>
          </a:p>
          <a:p>
            <a:pPr algn="ctr"/>
            <a:r>
              <a:rPr sz="1500">
                <a:solidFill>
                  <a:srgbClr val="282828"/>
                </a:solidFill>
              </a:rPr>
              <a:t>Análisis semántico</a:t>
            </a:r>
          </a:p>
        </p:txBody>
      </p:sp>
      <p:sp>
        <p:nvSpPr>
          <p:cNvPr id="5" name="Chevron 4"/>
          <p:cNvSpPr/>
          <p:nvPr/>
        </p:nvSpPr>
        <p:spPr>
          <a:xfrm>
            <a:off x="3145536" y="1719072"/>
            <a:ext cx="128016" cy="310896"/>
          </a:xfrm>
          <a:prstGeom prst="chevron">
            <a:avLst/>
          </a:prstGeom>
          <a:solidFill>
            <a:srgbClr val="A0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91840" y="1417320"/>
            <a:ext cx="2560320" cy="1051560"/>
          </a:xfrm>
          <a:prstGeom prst="roundRect">
            <a:avLst/>
          </a:prstGeom>
          <a:solidFill>
            <a:srgbClr val="ECF4F0"/>
          </a:solidFill>
          <a:ln>
            <a:solidFill>
              <a:srgbClr val="2B5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659"/>
                </a:solidFill>
              </a:rPr>
              <a:t>Unidad 2</a:t>
            </a:r>
          </a:p>
          <a:p>
            <a:pPr algn="ctr"/>
            <a:r>
              <a:rPr sz="1500">
                <a:solidFill>
                  <a:srgbClr val="282828"/>
                </a:solidFill>
              </a:rPr>
              <a:t>Código intermedio</a:t>
            </a:r>
          </a:p>
        </p:txBody>
      </p:sp>
      <p:sp>
        <p:nvSpPr>
          <p:cNvPr id="7" name="Chevron 6"/>
          <p:cNvSpPr/>
          <p:nvPr/>
        </p:nvSpPr>
        <p:spPr>
          <a:xfrm>
            <a:off x="5888736" y="1719072"/>
            <a:ext cx="128016" cy="310896"/>
          </a:xfrm>
          <a:prstGeom prst="chevron">
            <a:avLst/>
          </a:prstGeom>
          <a:solidFill>
            <a:srgbClr val="A0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2560320" cy="1051560"/>
          </a:xfrm>
          <a:prstGeom prst="roundRect">
            <a:avLst/>
          </a:prstGeom>
          <a:solidFill>
            <a:srgbClr val="F3F0E8"/>
          </a:solidFill>
          <a:ln>
            <a:solidFill>
              <a:srgbClr val="C4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659"/>
                </a:solidFill>
              </a:rPr>
              <a:t>Unidad 3</a:t>
            </a:r>
          </a:p>
          <a:p>
            <a:pPr algn="ctr"/>
            <a:r>
              <a:rPr sz="1500">
                <a:solidFill>
                  <a:srgbClr val="282828"/>
                </a:solidFill>
              </a:rPr>
              <a:t>Optimización</a:t>
            </a:r>
          </a:p>
        </p:txBody>
      </p:sp>
      <p:sp>
        <p:nvSpPr>
          <p:cNvPr id="9" name="Chevron 8"/>
          <p:cNvSpPr/>
          <p:nvPr/>
        </p:nvSpPr>
        <p:spPr>
          <a:xfrm>
            <a:off x="8631936" y="1719072"/>
            <a:ext cx="128016" cy="310896"/>
          </a:xfrm>
          <a:prstGeom prst="chevron">
            <a:avLst/>
          </a:prstGeom>
          <a:solidFill>
            <a:srgbClr val="A0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0" y="1417320"/>
            <a:ext cx="2560320" cy="1051560"/>
          </a:xfrm>
          <a:prstGeom prst="roundRect">
            <a:avLst/>
          </a:prstGeom>
          <a:solidFill>
            <a:srgbClr val="EAF7E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659"/>
                </a:solidFill>
              </a:rPr>
              <a:t>Unidad 4</a:t>
            </a:r>
          </a:p>
          <a:p>
            <a:pPr algn="ctr"/>
            <a:r>
              <a:rPr sz="1500">
                <a:solidFill>
                  <a:srgbClr val="282828"/>
                </a:solidFill>
              </a:rPr>
              <a:t>Código objeto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El flujo de trabajo del compilador inicia con el código fuente y concluye con la generación del código objeto.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La Unidad 4 toma como entrada el resultado optimizado de la Unidad 3 y lo traduce a una arquitectura didáctica denominada TECNM-32.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Las salidas añadidas en esta etapa son: mapa de memoria, código ensamblador y representación del código objeto en hexadecimal y binario.</a:t>
            </a:r>
          </a:p>
        </p:txBody>
      </p:sp>
      <p:pic>
        <p:nvPicPr>
          <p:cNvPr id="12" name="Picture 11" descr="244feee8-6a5f-591b-9c17-ccf6038590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743200"/>
            <a:ext cx="4251960" cy="23910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Diagrama de clases del proyecto</a:t>
            </a:r>
          </a:p>
        </p:txBody>
      </p:sp>
      <p:pic>
        <p:nvPicPr>
          <p:cNvPr id="4" name="Picture 3" descr="diagrama_clases_unidad_4_mejorad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8" y="933886"/>
            <a:ext cx="6905367" cy="5540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656832"/>
            <a:ext cx="7315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Arial"/>
              </a:rPr>
              <a:t>Lenguajes y Autómatas II · Unidad 4 · Proyecto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Evidencia de funcionamiento · U4 Memoria</a:t>
            </a:r>
          </a:p>
        </p:txBody>
      </p:sp>
      <p:pic>
        <p:nvPicPr>
          <p:cNvPr id="4" name="Picture 3" descr="64deb85c-455c-57cc-a05a-c5976d038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406640" cy="4178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34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3659"/>
                </a:solidFill>
                <a:latin typeface="Arial"/>
              </a:rPr>
              <a:t>Aspectos observados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554480"/>
            <a:ext cx="3474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Se muestran direcciones asignadas a variables, constantes y resultados del programa analizado.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La salida permite observar el segmento de variables y el pool de constantes generado por el compilador.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Esta evidencia comprueba la incorporación de la administración de memoria en la Unidad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Evidencia de funcionamiento · U4 Ensamblador</a:t>
            </a:r>
          </a:p>
        </p:txBody>
      </p:sp>
      <p:pic>
        <p:nvPicPr>
          <p:cNvPr id="4" name="Picture 3" descr="7eb8fb76-ef25-50a2-ba58-9409361c0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406640" cy="4165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34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3659"/>
                </a:solidFill>
                <a:latin typeface="Arial"/>
              </a:rPr>
              <a:t>Aspectos observados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554480"/>
            <a:ext cx="3474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El código ensamblador es generado a partir del código intermedio optimizado.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Se emplean instrucciones didácticas como LD, ST y HLT sobre la arquitectura TECNM-32.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La salida permite visualizar la traducción de constantes y variables hacia instrucciones de bajo nivel.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Evidencia de funcionamiento · U4 Código objeto</a:t>
            </a:r>
          </a:p>
        </p:txBody>
      </p:sp>
      <p:pic>
        <p:nvPicPr>
          <p:cNvPr id="4" name="Picture 3" descr="4fc2e353-9dd0-5b77-8c80-52d649a554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406640" cy="4165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34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3659"/>
                </a:solidFill>
                <a:latin typeface="Arial"/>
              </a:rPr>
              <a:t>Aspectos observados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554480"/>
            <a:ext cx="3474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El sistema representa cada instrucción en hexadecimal y en binario de 32 bits.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En la misma salida se conserva la referencia del ensamblador correspondiente para facilitar su interpretación.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Esta etapa demuestra la conversión final del análisis del compilador a una forma cercana al lenguaje máquina.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Caso integrador del compilador</a:t>
            </a:r>
          </a:p>
        </p:txBody>
      </p:sp>
      <p:pic>
        <p:nvPicPr>
          <p:cNvPr id="4" name="Picture 3" descr="6bcd23bb-8bea-5115-b438-3ce59615e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498079" cy="4276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23444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3659"/>
                </a:solidFill>
                <a:latin typeface="Arial"/>
              </a:rPr>
              <a:t>Interpretación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554480"/>
            <a:ext cx="3429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El caso integrador combina declaraciones, operaciones aritméticas y traducción final a código objeto.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La prueba confirma que la nueva versión del proyecto conserva el funcionamiento de las etapas previas y agrega la última fase solicitada por la Unidad 4.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• Con esta evidencia se observa el compilador trabajando de forma completa desde el código fuente hasta la representación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Repositorio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99420"/>
            <a:ext cx="1037844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DF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rgbClr val="183659"/>
                </a:solidFill>
                <a:hlinkClick r:id="rId2"/>
              </a:rPr>
              <a:t>https://github.com/amaurycolochos-cpu/LENGUAJES-Y-AUTOMATAS-II/tree/main/LYA-ll-Tema-4/AnalizadorSemantico-Unidades-1-2-3-4-JavaFX</a:t>
            </a:r>
            <a:endParaRPr lang="es-MX" b="1" dirty="0">
              <a:solidFill>
                <a:srgbClr val="183659"/>
              </a:solidFill>
            </a:endParaRPr>
          </a:p>
          <a:p>
            <a:pPr algn="ctr"/>
            <a:endParaRPr sz="2000" b="1" dirty="0">
              <a:solidFill>
                <a:srgbClr val="1836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El proyecto desarrollado cumple con el objetivo de integrar en una misma aplicación las etapas principales del proceso de compilación: análisis semántico, generación de código intermedio, optimización y generación de código objeto.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La incorporación de la Unidad 4 permitió ampliar el analizador para incluir la administración de memoria, la traducción a ensamblador y la representación de instrucciones en formato objeto.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Con esta actividad se fortaleció la comprensión práctica del funcionamiento de un compilador y se obtuvo una evidencia funcional, documentada y coherente con los contenidos revisados en la asignatura.</a:t>
            </a:r>
          </a:p>
        </p:txBody>
      </p:sp>
      <p:pic>
        <p:nvPicPr>
          <p:cNvPr id="5" name="Picture 4" descr="244feee8-6a5f-591b-9c17-ccf6038590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08760"/>
            <a:ext cx="4572000" cy="25710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Fuentes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9728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OpenStax. (2024). Introduction to Computer Science. </a:t>
            </a:r>
            <a:endParaRPr lang="es-MX"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endParaRPr lang="es-MX"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LLVM Project. (s. f.). The LLVM Target-Independent Code Generator. </a:t>
            </a:r>
            <a:r>
              <a:rPr dirty="0">
                <a:hlinkClick r:id="rId2"/>
              </a:rPr>
              <a:t>https://llvm.org/docs/CodeGenerator.html</a:t>
            </a:r>
            <a:endParaRPr lang="es-MX"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Oracle. (s. f.). Java Documentation. </a:t>
            </a:r>
            <a:r>
              <a:rPr dirty="0">
                <a:hlinkClick r:id="rId3"/>
              </a:rPr>
              <a:t>https://docs.oracle.com/en/java/</a:t>
            </a:r>
            <a:endParaRPr lang="es-MX"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OpenJFX</a:t>
            </a:r>
            <a:r>
              <a:rPr dirty="0"/>
              <a:t>. (s. f.). JavaFX Documentation. </a:t>
            </a:r>
            <a:r>
              <a:rPr dirty="0">
                <a:hlinkClick r:id="rId4"/>
              </a:rPr>
              <a:t>https://openjfx.io/</a:t>
            </a:r>
            <a:endParaRPr lang="es-MX"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Tecnológico</a:t>
            </a:r>
            <a:r>
              <a:rPr dirty="0"/>
              <a:t> Nacional de México. </a:t>
            </a:r>
            <a:r>
              <a:rPr dirty="0" err="1"/>
              <a:t>Instrumentación</a:t>
            </a:r>
            <a:r>
              <a:rPr dirty="0"/>
              <a:t> </a:t>
            </a:r>
            <a:r>
              <a:rPr dirty="0" err="1"/>
              <a:t>Didáctica</a:t>
            </a:r>
            <a:r>
              <a:rPr dirty="0"/>
              <a:t> de </a:t>
            </a:r>
            <a:r>
              <a:rPr dirty="0" err="1"/>
              <a:t>Lenguajes</a:t>
            </a:r>
            <a:r>
              <a:rPr dirty="0"/>
              <a:t> y </a:t>
            </a:r>
            <a:r>
              <a:rPr dirty="0" err="1"/>
              <a:t>Autómatas</a:t>
            </a:r>
            <a:r>
              <a:rPr dirty="0"/>
              <a:t> II. </a:t>
            </a:r>
            <a:r>
              <a:rPr dirty="0" err="1"/>
              <a:t>Documento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/>
              <a:t> de la </a:t>
            </a:r>
            <a:r>
              <a:rPr dirty="0" err="1"/>
              <a:t>unidad</a:t>
            </a:r>
            <a:r>
              <a:rPr dirty="0"/>
              <a:t>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947</Words>
  <Application>Microsoft Office PowerPoint</Application>
  <PresentationFormat>Panorámica</PresentationFormat>
  <Paragraphs>78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JAHAZIEL GORDILLO HERNANDEZ</cp:lastModifiedBy>
  <cp:revision>5</cp:revision>
  <dcterms:created xsi:type="dcterms:W3CDTF">2013-01-27T09:14:16Z</dcterms:created>
  <dcterms:modified xsi:type="dcterms:W3CDTF">2026-10-03T21:26:30Z</dcterms:modified>
  <cp:category/>
</cp:coreProperties>
</file>