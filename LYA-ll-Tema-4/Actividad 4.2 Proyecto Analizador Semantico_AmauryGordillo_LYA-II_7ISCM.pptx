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4784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237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maurycolochos-cpu/LENGUAJES-Y-AUTOMATAS-II/tree/main/LYA-ll-Tema-4/CompiladorTECNM-JavaFX-Fina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java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maven.apache.org/guides/" TargetMode="External"/><Relationship Id="rId5" Type="http://schemas.openxmlformats.org/officeDocument/2006/relationships/hyperlink" Target="https://openjfx.io/" TargetMode="External"/><Relationship Id="rId4" Type="http://schemas.openxmlformats.org/officeDocument/2006/relationships/hyperlink" Target="https://docs.oracle.com/en/java/javas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n 4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280834" y="0"/>
            <a:ext cx="11911166" cy="6858000"/>
          </a:xfrm>
          <a:prstGeom prst="rect">
            <a:avLst/>
          </a:prstGeom>
        </p:spPr>
      </p:pic>
      <p:sp>
        <p:nvSpPr>
          <p:cNvPr id="2" name="institutional-navy-band">
            <a:extLst>
              <a:ext uri="{FF2B5EF4-FFF2-40B4-BE49-F238E27FC236}">
                <a16:creationId xmlns:a16="http://schemas.microsoft.com/office/drawing/2014/main" id="{3AE6E076-F470-4AFA-B05E-BB577D99A602}"/>
              </a:ext>
            </a:extLst>
          </p:cNvPr>
          <p:cNvSpPr>
            <a:spLocks noGrp="1"/>
          </p:cNvSpPr>
          <p:nvPr/>
        </p:nvSpPr>
        <p:spPr>
          <a:xfrm>
            <a:off x="-47626" y="0"/>
            <a:ext cx="328459" cy="6858000"/>
          </a:xfrm>
          <a:prstGeom prst="rect">
            <a:avLst/>
          </a:prstGeom>
          <a:solidFill>
            <a:srgbClr val="082958"/>
          </a:solidFill>
          <a:ln w="0">
            <a:noFill/>
            <a:prstDash val="solid"/>
          </a:ln>
        </p:spPr>
      </p:sp>
      <p:sp>
        <p:nvSpPr>
          <p:cNvPr id="3" name="institutional-gold-accent">
            <a:extLst>
              <a:ext uri="{FF2B5EF4-FFF2-40B4-BE49-F238E27FC236}">
                <a16:creationId xmlns:a16="http://schemas.microsoft.com/office/drawing/2014/main" id="{511065C0-35AD-4DAE-B610-DF6B7F488372}"/>
              </a:ext>
            </a:extLst>
          </p:cNvPr>
          <p:cNvSpPr>
            <a:spLocks noGrp="1"/>
          </p:cNvSpPr>
          <p:nvPr/>
        </p:nvSpPr>
        <p:spPr>
          <a:xfrm>
            <a:off x="280987" y="47625"/>
            <a:ext cx="28575" cy="64389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" name="top-rule">
            <a:extLst>
              <a:ext uri="{FF2B5EF4-FFF2-40B4-BE49-F238E27FC236}">
                <a16:creationId xmlns:a16="http://schemas.microsoft.com/office/drawing/2014/main" id="{A402DA1E-9E80-4154-8892-48887862CA94}"/>
              </a:ext>
            </a:extLst>
          </p:cNvPr>
          <p:cNvSpPr>
            <a:spLocks noGrp="1"/>
          </p:cNvSpPr>
          <p:nvPr/>
        </p:nvSpPr>
        <p:spPr>
          <a:xfrm>
            <a:off x="838200" y="1009650"/>
            <a:ext cx="10515600" cy="0"/>
          </a:xfrm>
          <a:prstGeom prst="line">
            <a:avLst/>
          </a:prstGeom>
          <a:noFill/>
          <a:ln w="11430">
            <a:solidFill>
              <a:srgbClr val="DCEBFA"/>
            </a:solidFill>
            <a:prstDash val="solid"/>
          </a:ln>
        </p:spPr>
      </p:sp>
      <p:sp>
        <p:nvSpPr>
          <p:cNvPr id="6" name="institution-name">
            <a:extLst>
              <a:ext uri="{FF2B5EF4-FFF2-40B4-BE49-F238E27FC236}">
                <a16:creationId xmlns:a16="http://schemas.microsoft.com/office/drawing/2014/main" id="{E0E92947-86F7-4A12-A128-7B0159F83BDC}"/>
              </a:ext>
            </a:extLst>
          </p:cNvPr>
          <p:cNvSpPr>
            <a:spLocks noGrp="1"/>
          </p:cNvSpPr>
          <p:nvPr/>
        </p:nvSpPr>
        <p:spPr>
          <a:xfrm>
            <a:off x="3641008" y="892277"/>
            <a:ext cx="5464892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5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TECNOLÓGICO NACIONAL DE MÉXICO</a:t>
            </a:r>
          </a:p>
        </p:txBody>
      </p:sp>
      <p:sp>
        <p:nvSpPr>
          <p:cNvPr id="9" name="degree-title">
            <a:extLst>
              <a:ext uri="{FF2B5EF4-FFF2-40B4-BE49-F238E27FC236}">
                <a16:creationId xmlns:a16="http://schemas.microsoft.com/office/drawing/2014/main" id="{897E2AE5-15D9-4AB6-9730-7184F55D8F9A}"/>
              </a:ext>
            </a:extLst>
          </p:cNvPr>
          <p:cNvSpPr>
            <a:spLocks noGrp="1"/>
          </p:cNvSpPr>
          <p:nvPr/>
        </p:nvSpPr>
        <p:spPr>
          <a:xfrm>
            <a:off x="3429000" y="1454252"/>
            <a:ext cx="5524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INGENIERÍA EN</a:t>
            </a:r>
          </a:p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SISTEMAS COMPUTACIONALES</a:t>
            </a:r>
          </a:p>
        </p:txBody>
      </p:sp>
      <p:sp>
        <p:nvSpPr>
          <p:cNvPr id="10" name="degree-gold-rule-left">
            <a:extLst>
              <a:ext uri="{FF2B5EF4-FFF2-40B4-BE49-F238E27FC236}">
                <a16:creationId xmlns:a16="http://schemas.microsoft.com/office/drawing/2014/main" id="{C8050B62-10E2-4D95-BEEE-6E1978022F99}"/>
              </a:ext>
            </a:extLst>
          </p:cNvPr>
          <p:cNvSpPr>
            <a:spLocks noGrp="1"/>
          </p:cNvSpPr>
          <p:nvPr/>
        </p:nvSpPr>
        <p:spPr>
          <a:xfrm>
            <a:off x="484822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1" name="degree-gold-rule-right">
            <a:extLst>
              <a:ext uri="{FF2B5EF4-FFF2-40B4-BE49-F238E27FC236}">
                <a16:creationId xmlns:a16="http://schemas.microsoft.com/office/drawing/2014/main" id="{12397A49-149B-4ECA-A15E-F885934091D1}"/>
              </a:ext>
            </a:extLst>
          </p:cNvPr>
          <p:cNvSpPr>
            <a:spLocks noGrp="1"/>
          </p:cNvSpPr>
          <p:nvPr/>
        </p:nvSpPr>
        <p:spPr>
          <a:xfrm>
            <a:off x="635317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3" name="course-title-line-1">
            <a:extLst>
              <a:ext uri="{FF2B5EF4-FFF2-40B4-BE49-F238E27FC236}">
                <a16:creationId xmlns:a16="http://schemas.microsoft.com/office/drawing/2014/main" id="{24A5C187-BE41-45B6-8BF3-A2878D2FD52B}"/>
              </a:ext>
            </a:extLst>
          </p:cNvPr>
          <p:cNvSpPr>
            <a:spLocks noGrp="1"/>
          </p:cNvSpPr>
          <p:nvPr/>
        </p:nvSpPr>
        <p:spPr>
          <a:xfrm>
            <a:off x="2362199" y="2633663"/>
            <a:ext cx="7467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833" lnSpcReduction="10000"/>
          </a:bodyPr>
          <a:lstStyle/>
          <a:p>
            <a:pPr algn="ctr">
              <a:buNone/>
              <a:defRPr sz="41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 dirty="0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LENGUAJES Y AUTOMATAS II</a:t>
            </a:r>
          </a:p>
        </p:txBody>
      </p:sp>
      <p:sp>
        <p:nvSpPr>
          <p:cNvPr id="15" name="activity-left-trace-1">
            <a:extLst>
              <a:ext uri="{FF2B5EF4-FFF2-40B4-BE49-F238E27FC236}">
                <a16:creationId xmlns:a16="http://schemas.microsoft.com/office/drawing/2014/main" id="{7D063C37-CCC4-4D1E-800C-E1EC27DFD060}"/>
              </a:ext>
            </a:extLst>
          </p:cNvPr>
          <p:cNvSpPr>
            <a:spLocks noGrp="1"/>
          </p:cNvSpPr>
          <p:nvPr/>
        </p:nvSpPr>
        <p:spPr>
          <a:xfrm>
            <a:off x="20383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6" name="activity-left-trace-2">
            <a:extLst>
              <a:ext uri="{FF2B5EF4-FFF2-40B4-BE49-F238E27FC236}">
                <a16:creationId xmlns:a16="http://schemas.microsoft.com/office/drawing/2014/main" id="{3CFD8881-ED44-45BD-9DF0-783461E898DA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7" name="activity-left-trace-3">
            <a:extLst>
              <a:ext uri="{FF2B5EF4-FFF2-40B4-BE49-F238E27FC236}">
                <a16:creationId xmlns:a16="http://schemas.microsoft.com/office/drawing/2014/main" id="{40CE4708-D5C7-40D2-BE07-C709D6A81A4E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8" name="activity-left-node">
            <a:extLst>
              <a:ext uri="{FF2B5EF4-FFF2-40B4-BE49-F238E27FC236}">
                <a16:creationId xmlns:a16="http://schemas.microsoft.com/office/drawing/2014/main" id="{61DC4950-E910-4AA5-840B-B61E8D5D8C11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19" name="activity-right-node">
            <a:extLst>
              <a:ext uri="{FF2B5EF4-FFF2-40B4-BE49-F238E27FC236}">
                <a16:creationId xmlns:a16="http://schemas.microsoft.com/office/drawing/2014/main" id="{825A2979-FD3A-4780-A5BF-2B891AF31213}"/>
              </a:ext>
            </a:extLst>
          </p:cNvPr>
          <p:cNvSpPr>
            <a:spLocks noGrp="1"/>
          </p:cNvSpPr>
          <p:nvPr/>
        </p:nvSpPr>
        <p:spPr>
          <a:xfrm>
            <a:off x="9020175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20" name="activity-right-trace-1">
            <a:extLst>
              <a:ext uri="{FF2B5EF4-FFF2-40B4-BE49-F238E27FC236}">
                <a16:creationId xmlns:a16="http://schemas.microsoft.com/office/drawing/2014/main" id="{38B16BE7-5C8D-4EAB-B2EE-18E787DD60AA}"/>
              </a:ext>
            </a:extLst>
          </p:cNvPr>
          <p:cNvSpPr>
            <a:spLocks noGrp="1"/>
          </p:cNvSpPr>
          <p:nvPr/>
        </p:nvSpPr>
        <p:spPr>
          <a:xfrm>
            <a:off x="91059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1" name="activity-right-trace-2">
            <a:extLst>
              <a:ext uri="{FF2B5EF4-FFF2-40B4-BE49-F238E27FC236}">
                <a16:creationId xmlns:a16="http://schemas.microsoft.com/office/drawing/2014/main" id="{B0073C7F-4C58-47DE-BB0A-AFC31EDFE384}"/>
              </a:ext>
            </a:extLst>
          </p:cNvPr>
          <p:cNvSpPr>
            <a:spLocks noGrp="1"/>
          </p:cNvSpPr>
          <p:nvPr/>
        </p:nvSpPr>
        <p:spPr>
          <a:xfrm>
            <a:off x="962025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2" name="activity-right-trace-3">
            <a:extLst>
              <a:ext uri="{FF2B5EF4-FFF2-40B4-BE49-F238E27FC236}">
                <a16:creationId xmlns:a16="http://schemas.microsoft.com/office/drawing/2014/main" id="{0A4D59B6-4962-4FEF-A21B-2AF53EF32F99}"/>
              </a:ext>
            </a:extLst>
          </p:cNvPr>
          <p:cNvSpPr>
            <a:spLocks noGrp="1"/>
          </p:cNvSpPr>
          <p:nvPr/>
        </p:nvSpPr>
        <p:spPr>
          <a:xfrm>
            <a:off x="96202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3" name="activity-title">
            <a:extLst>
              <a:ext uri="{FF2B5EF4-FFF2-40B4-BE49-F238E27FC236}">
                <a16:creationId xmlns:a16="http://schemas.microsoft.com/office/drawing/2014/main" id="{F746EC2E-9743-49CF-891C-11DBE19DF422}"/>
              </a:ext>
            </a:extLst>
          </p:cNvPr>
          <p:cNvSpPr>
            <a:spLocks noGrp="1"/>
          </p:cNvSpPr>
          <p:nvPr/>
        </p:nvSpPr>
        <p:spPr>
          <a:xfrm>
            <a:off x="3238500" y="3581400"/>
            <a:ext cx="571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498"/>
          </a:bodyPr>
          <a:lstStyle/>
          <a:p>
            <a:pPr algn="ctr">
              <a:buNone/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 dirty="0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ACTIVIDAD </a:t>
            </a:r>
            <a:r>
              <a:rPr lang="es-MX" sz="1875" b="1" dirty="0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4</a:t>
            </a:r>
            <a:r>
              <a:rPr sz="1875" b="1" dirty="0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.2 — </a:t>
            </a:r>
            <a:r>
              <a:rPr lang="es-MX" b="0" i="0" dirty="0">
                <a:solidFill>
                  <a:srgbClr val="212529"/>
                </a:solidFill>
                <a:latin typeface="-apple-system"/>
                <a:ea typeface="-apple-system"/>
                <a:cs typeface="-apple-system"/>
              </a:rPr>
              <a:t>Proyecto Analizador </a:t>
            </a:r>
            <a:r>
              <a:rPr lang="es-MX" b="0" i="0" dirty="0" err="1">
                <a:solidFill>
                  <a:srgbClr val="212529"/>
                </a:solidFill>
                <a:latin typeface="-apple-system"/>
                <a:ea typeface="-apple-system"/>
                <a:cs typeface="-apple-system"/>
              </a:rPr>
              <a:t>Semantico</a:t>
            </a:r>
            <a:endParaRPr b="0" i="0" dirty="0">
              <a:solidFill>
                <a:srgbClr val="212529"/>
              </a:solidFill>
              <a:latin typeface="-apple-system"/>
              <a:ea typeface="-apple-system"/>
              <a:cs typeface="-apple-system"/>
            </a:endParaRPr>
          </a:p>
          <a:p>
            <a:pPr algn="ctr">
              <a:buNone/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endParaRPr sz="1875" b="1" dirty="0">
              <a:solidFill>
                <a:srgbClr val="2862A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24" name="students-heading">
            <a:extLst>
              <a:ext uri="{FF2B5EF4-FFF2-40B4-BE49-F238E27FC236}">
                <a16:creationId xmlns:a16="http://schemas.microsoft.com/office/drawing/2014/main" id="{B3090DA1-DD45-4D5A-810A-68C80D1D5495}"/>
              </a:ext>
            </a:extLst>
          </p:cNvPr>
          <p:cNvSpPr>
            <a:spLocks noGrp="1"/>
          </p:cNvSpPr>
          <p:nvPr/>
        </p:nvSpPr>
        <p:spPr>
          <a:xfrm>
            <a:off x="2857500" y="4143375"/>
            <a:ext cx="4667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PRESENTA</a:t>
            </a:r>
          </a:p>
        </p:txBody>
      </p:sp>
      <p:sp>
        <p:nvSpPr>
          <p:cNvPr id="25" name="enrollment-heading">
            <a:extLst>
              <a:ext uri="{FF2B5EF4-FFF2-40B4-BE49-F238E27FC236}">
                <a16:creationId xmlns:a16="http://schemas.microsoft.com/office/drawing/2014/main" id="{8497282D-0F32-46CC-9BD6-A908719C1476}"/>
              </a:ext>
            </a:extLst>
          </p:cNvPr>
          <p:cNvSpPr>
            <a:spLocks noGrp="1"/>
          </p:cNvSpPr>
          <p:nvPr/>
        </p:nvSpPr>
        <p:spPr>
          <a:xfrm>
            <a:off x="7715250" y="4143375"/>
            <a:ext cx="1619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MATRÍCULA</a:t>
            </a:r>
          </a:p>
        </p:txBody>
      </p:sp>
      <p:sp>
        <p:nvSpPr>
          <p:cNvPr id="26" name="students-top-rule">
            <a:extLst>
              <a:ext uri="{FF2B5EF4-FFF2-40B4-BE49-F238E27FC236}">
                <a16:creationId xmlns:a16="http://schemas.microsoft.com/office/drawing/2014/main" id="{A7922C15-D34B-4B95-9915-A3A8D77C7F79}"/>
              </a:ext>
            </a:extLst>
          </p:cNvPr>
          <p:cNvSpPr>
            <a:spLocks noGrp="1"/>
          </p:cNvSpPr>
          <p:nvPr/>
        </p:nvSpPr>
        <p:spPr>
          <a:xfrm>
            <a:off x="2857500" y="4381500"/>
            <a:ext cx="6477000" cy="0"/>
          </a:xfrm>
          <a:prstGeom prst="line">
            <a:avLst/>
          </a:prstGeom>
          <a:noFill/>
          <a:ln w="14288">
            <a:solidFill>
              <a:srgbClr val="0B3473"/>
            </a:solidFill>
            <a:prstDash val="solid"/>
          </a:ln>
        </p:spPr>
      </p:sp>
      <p:sp>
        <p:nvSpPr>
          <p:cNvPr id="28" name="students-row-divider">
            <a:extLst>
              <a:ext uri="{FF2B5EF4-FFF2-40B4-BE49-F238E27FC236}">
                <a16:creationId xmlns:a16="http://schemas.microsoft.com/office/drawing/2014/main" id="{0EBB92DB-59C3-4BDC-99A0-F2F4D93B78A4}"/>
              </a:ext>
            </a:extLst>
          </p:cNvPr>
          <p:cNvSpPr>
            <a:spLocks noGrp="1"/>
          </p:cNvSpPr>
          <p:nvPr/>
        </p:nvSpPr>
        <p:spPr>
          <a:xfrm>
            <a:off x="2857500" y="4800600"/>
            <a:ext cx="6477000" cy="0"/>
          </a:xfrm>
          <a:prstGeom prst="line">
            <a:avLst/>
          </a:prstGeom>
          <a:noFill/>
          <a:ln w="9525">
            <a:solidFill>
              <a:srgbClr val="DCEBFA"/>
            </a:solidFill>
            <a:prstDash val="solid"/>
          </a:ln>
        </p:spPr>
      </p:sp>
      <p:sp>
        <p:nvSpPr>
          <p:cNvPr id="29" name="students-column-divider">
            <a:extLst>
              <a:ext uri="{FF2B5EF4-FFF2-40B4-BE49-F238E27FC236}">
                <a16:creationId xmlns:a16="http://schemas.microsoft.com/office/drawing/2014/main" id="{D19BD447-A808-4FDA-A54C-331FE02FEA74}"/>
              </a:ext>
            </a:extLst>
          </p:cNvPr>
          <p:cNvSpPr>
            <a:spLocks noGrp="1"/>
          </p:cNvSpPr>
          <p:nvPr/>
        </p:nvSpPr>
        <p:spPr>
          <a:xfrm>
            <a:off x="7639050" y="4476750"/>
            <a:ext cx="0" cy="647700"/>
          </a:xfrm>
          <a:prstGeom prst="line">
            <a:avLst/>
          </a:prstGeom>
          <a:noFill/>
          <a:ln w="9525">
            <a:solidFill>
              <a:srgbClr val="9DB9DB"/>
            </a:solidFill>
            <a:prstDash val="solid"/>
          </a:ln>
        </p:spPr>
      </p:sp>
      <p:sp>
        <p:nvSpPr>
          <p:cNvPr id="30" name="student-row-one-marker">
            <a:extLst>
              <a:ext uri="{FF2B5EF4-FFF2-40B4-BE49-F238E27FC236}">
                <a16:creationId xmlns:a16="http://schemas.microsoft.com/office/drawing/2014/main" id="{4F497FA1-C313-4F3D-9493-840BF4D89598}"/>
              </a:ext>
            </a:extLst>
          </p:cNvPr>
          <p:cNvSpPr>
            <a:spLocks noGrp="1"/>
          </p:cNvSpPr>
          <p:nvPr/>
        </p:nvSpPr>
        <p:spPr>
          <a:xfrm>
            <a:off x="2876550" y="4486275"/>
            <a:ext cx="38100" cy="20955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34" name="student-two-name">
            <a:extLst>
              <a:ext uri="{FF2B5EF4-FFF2-40B4-BE49-F238E27FC236}">
                <a16:creationId xmlns:a16="http://schemas.microsoft.com/office/drawing/2014/main" id="{3EF7C761-CF7A-4E70-9E2B-16269734FC91}"/>
              </a:ext>
            </a:extLst>
          </p:cNvPr>
          <p:cNvSpPr>
            <a:spLocks noGrp="1"/>
          </p:cNvSpPr>
          <p:nvPr/>
        </p:nvSpPr>
        <p:spPr>
          <a:xfrm>
            <a:off x="3056554" y="4467225"/>
            <a:ext cx="433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02B5C"/>
                </a:solidFill>
                <a:latin typeface="Aptos"/>
                <a:ea typeface="Aptos"/>
                <a:cs typeface="Aptos"/>
              </a:rPr>
              <a:t>Amaury Jahaziel Gordillo Hernández</a:t>
            </a:r>
          </a:p>
        </p:txBody>
      </p:sp>
      <p:sp>
        <p:nvSpPr>
          <p:cNvPr id="35" name="student-two-id">
            <a:extLst>
              <a:ext uri="{FF2B5EF4-FFF2-40B4-BE49-F238E27FC236}">
                <a16:creationId xmlns:a16="http://schemas.microsoft.com/office/drawing/2014/main" id="{05E44B11-B863-4ECE-A2F6-C9964031DF71}"/>
              </a:ext>
            </a:extLst>
          </p:cNvPr>
          <p:cNvSpPr>
            <a:spLocks noGrp="1"/>
          </p:cNvSpPr>
          <p:nvPr/>
        </p:nvSpPr>
        <p:spPr>
          <a:xfrm>
            <a:off x="7791450" y="4438649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425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02B5C"/>
                </a:solidFill>
                <a:latin typeface="Aptos"/>
                <a:ea typeface="Aptos"/>
                <a:cs typeface="Aptos"/>
              </a:rPr>
              <a:t>231260074</a:t>
            </a:r>
          </a:p>
        </p:txBody>
      </p:sp>
      <p:sp>
        <p:nvSpPr>
          <p:cNvPr id="36" name="teacher-heading">
            <a:extLst>
              <a:ext uri="{FF2B5EF4-FFF2-40B4-BE49-F238E27FC236}">
                <a16:creationId xmlns:a16="http://schemas.microsoft.com/office/drawing/2014/main" id="{F388D88D-A3F7-4DA5-9D23-808A58C08C1E}"/>
              </a:ext>
            </a:extLst>
          </p:cNvPr>
          <p:cNvSpPr>
            <a:spLocks noGrp="1"/>
          </p:cNvSpPr>
          <p:nvPr/>
        </p:nvSpPr>
        <p:spPr>
          <a:xfrm>
            <a:off x="4191000" y="5467350"/>
            <a:ext cx="38100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rPr>
              <a:t>DOCENTE</a:t>
            </a:r>
          </a:p>
        </p:txBody>
      </p:sp>
      <p:sp>
        <p:nvSpPr>
          <p:cNvPr id="37" name="teacher-name">
            <a:extLst>
              <a:ext uri="{FF2B5EF4-FFF2-40B4-BE49-F238E27FC236}">
                <a16:creationId xmlns:a16="http://schemas.microsoft.com/office/drawing/2014/main" id="{AA678B21-6A90-4BCE-8092-FF0E0979DE5C}"/>
              </a:ext>
            </a:extLst>
          </p:cNvPr>
          <p:cNvSpPr>
            <a:spLocks noGrp="1"/>
          </p:cNvSpPr>
          <p:nvPr/>
        </p:nvSpPr>
        <p:spPr>
          <a:xfrm>
            <a:off x="2857500" y="5705475"/>
            <a:ext cx="6477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sz="1800" b="1" dirty="0">
                <a:latin typeface="Aptos Display"/>
                <a:ea typeface="Aptos Display"/>
                <a:cs typeface="Aptos Display"/>
              </a:rPr>
              <a:t>ING. FRANCISCO JAVIER MINGO VELAZQUEZ</a:t>
            </a:r>
            <a:endParaRPr sz="1800" dirty="0">
              <a:latin typeface="Arial"/>
              <a:ea typeface="Arial"/>
              <a:cs typeface="Arial"/>
            </a:endParaRPr>
          </a:p>
        </p:txBody>
      </p:sp>
      <p:sp>
        <p:nvSpPr>
          <p:cNvPr id="38" name="footer-rule">
            <a:extLst>
              <a:ext uri="{FF2B5EF4-FFF2-40B4-BE49-F238E27FC236}">
                <a16:creationId xmlns:a16="http://schemas.microsoft.com/office/drawing/2014/main" id="{7C40688F-E9E3-4093-9368-ADED90666EB5}"/>
              </a:ext>
            </a:extLst>
          </p:cNvPr>
          <p:cNvSpPr>
            <a:spLocks noGrp="1"/>
          </p:cNvSpPr>
          <p:nvPr/>
        </p:nvSpPr>
        <p:spPr>
          <a:xfrm>
            <a:off x="1943100" y="6191250"/>
            <a:ext cx="8305800" cy="0"/>
          </a:xfrm>
          <a:prstGeom prst="line">
            <a:avLst/>
          </a:prstGeom>
          <a:noFill/>
          <a:ln w="11430">
            <a:solidFill>
              <a:srgbClr val="9DB9DB"/>
            </a:solidFill>
            <a:prstDash val="solid"/>
          </a:ln>
        </p:spPr>
      </p:sp>
      <p:sp>
        <p:nvSpPr>
          <p:cNvPr id="39" name="footer-rule-accent">
            <a:extLst>
              <a:ext uri="{FF2B5EF4-FFF2-40B4-BE49-F238E27FC236}">
                <a16:creationId xmlns:a16="http://schemas.microsoft.com/office/drawing/2014/main" id="{AA9604F1-D818-4EDE-AFC0-507B4EE53347}"/>
              </a:ext>
            </a:extLst>
          </p:cNvPr>
          <p:cNvSpPr>
            <a:spLocks noGrp="1"/>
          </p:cNvSpPr>
          <p:nvPr/>
        </p:nvSpPr>
        <p:spPr>
          <a:xfrm>
            <a:off x="5829300" y="6172200"/>
            <a:ext cx="533400" cy="381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0" name="date-location">
            <a:extLst>
              <a:ext uri="{FF2B5EF4-FFF2-40B4-BE49-F238E27FC236}">
                <a16:creationId xmlns:a16="http://schemas.microsoft.com/office/drawing/2014/main" id="{8EF49A72-4459-4AD1-9919-B580F4EB3D0A}"/>
              </a:ext>
            </a:extLst>
          </p:cNvPr>
          <p:cNvSpPr>
            <a:spLocks noGrp="1"/>
          </p:cNvSpPr>
          <p:nvPr/>
        </p:nvSpPr>
        <p:spPr>
          <a:xfrm>
            <a:off x="2476500" y="6372225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0B3473"/>
                </a:solidFill>
                <a:latin typeface="Aptos"/>
                <a:ea typeface="Aptos"/>
                <a:cs typeface="Aptos"/>
              </a:defRPr>
            </a:pPr>
            <a:r>
              <a:rPr lang="es-MX" sz="1350" b="0" dirty="0">
                <a:solidFill>
                  <a:srgbClr val="0B3473"/>
                </a:solidFill>
                <a:latin typeface="Aptos"/>
                <a:ea typeface="Aptos"/>
                <a:cs typeface="Aptos"/>
              </a:rPr>
              <a:t>04 DE OCTUBRE </a:t>
            </a:r>
            <a:r>
              <a:rPr sz="1350" b="0" dirty="0">
                <a:solidFill>
                  <a:srgbClr val="0B3473"/>
                </a:solidFill>
                <a:latin typeface="Aptos"/>
                <a:ea typeface="Aptos"/>
                <a:cs typeface="Aptos"/>
              </a:rPr>
              <a:t>DE 2026  ·  VENUSTIANO CARRANZA, CHIAPAS</a:t>
            </a:r>
          </a:p>
        </p:txBody>
      </p:sp>
      <p:pic>
        <p:nvPicPr>
          <p:cNvPr id="75" name="Imagen 4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1576" y="128441"/>
            <a:ext cx="1834529" cy="809723"/>
          </a:xfrm>
          <a:prstGeom prst="rect">
            <a:avLst/>
          </a:prstGeom>
          <a:ln>
            <a:noFill/>
          </a:ln>
        </p:spPr>
      </p:pic>
      <p:pic>
        <p:nvPicPr>
          <p:cNvPr id="76" name="Imagen 42"/>
          <p:cNvPicPr>
            <a:picLocks noChangeAspect="1"/>
          </p:cNvPicPr>
          <p:nvPr/>
        </p:nvPicPr>
        <p:blipFill rotWithShape="1">
          <a:blip r:embed="rId5"/>
          <a:srcRect/>
          <a:stretch/>
        </p:blipFill>
        <p:spPr>
          <a:xfrm>
            <a:off x="10619686" y="11882"/>
            <a:ext cx="1289022" cy="926282"/>
          </a:xfrm>
          <a:prstGeom prst="rect">
            <a:avLst/>
          </a:prstGeom>
          <a:ln>
            <a:noFill/>
          </a:ln>
        </p:spPr>
      </p:pic>
      <p:sp>
        <p:nvSpPr>
          <p:cNvPr id="5" name="activity-left-node">
            <a:extLst>
              <a:ext uri="{FF2B5EF4-FFF2-40B4-BE49-F238E27FC236}">
                <a16:creationId xmlns:a16="http://schemas.microsoft.com/office/drawing/2014/main" id="{AB38A2EA-B133-B170-0BFA-9B5674F0137F}"/>
              </a:ext>
            </a:extLst>
          </p:cNvPr>
          <p:cNvSpPr>
            <a:spLocks noGrp="1"/>
          </p:cNvSpPr>
          <p:nvPr/>
        </p:nvSpPr>
        <p:spPr>
          <a:xfrm>
            <a:off x="6053137" y="214850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24056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Introducción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553212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final se actualizó para comportarse como un compilador integrado y no como una colección de prácticas aisladas.</a:t>
            </a:r>
            <a:endParaRPr lang="en-US" sz="1800" dirty="0"/>
          </a:p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aplicación permite escribir código en un lenguaje propio en español, compilarlo y recibir diagnósticos automáticos en la salida inferior.</a:t>
            </a:r>
            <a:endParaRPr lang="en-US" sz="1800" dirty="0"/>
          </a:p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flujo incorpora análisis léxico, sintáctico y semántico, traducción a Java, compilación con javac y ejecución del programa cuando no existen errores.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19088" y="1143000"/>
            <a:ext cx="5175504" cy="3529584"/>
          </a:xfrm>
          <a:prstGeom prst="roundRect">
            <a:avLst>
              <a:gd name="adj" fmla="val 1554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10" name="Image 0" descr="/mnt/data/Captura de pantalla 2026-10-03 2305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68029"/>
            <a:ext cx="5120640" cy="287952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46520" y="4754880"/>
            <a:ext cx="51206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950" i="1" dirty="0" err="1">
                <a:solidFill>
                  <a:srgbClr val="6675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Compilador</a:t>
            </a:r>
            <a:r>
              <a:rPr lang="en-US" sz="950" i="1" dirty="0">
                <a:solidFill>
                  <a:srgbClr val="6675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con editor, números de línea y salida de construcción.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 err="1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Justificación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914400"/>
            <a:ext cx="640080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7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actividad integra contenidos de Lenguajes y Autómatas I y II dentro de una sola herramienta funcional.</a:t>
            </a:r>
            <a:endParaRPr lang="en-US" sz="1700" dirty="0"/>
          </a:p>
          <a:p>
            <a:r>
              <a:rPr lang="en-US" sz="17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compilador identifica automáticamente el tipo de problema: léxico, sintáctico o semántico; el usuario no selecciona manualmente la </a:t>
            </a:r>
            <a:r>
              <a:rPr lang="en-US" sz="1700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</a:t>
            </a:r>
            <a:r>
              <a:rPr lang="en-US" sz="17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endParaRPr lang="en-US" sz="1700" dirty="0"/>
          </a:p>
          <a:p>
            <a:r>
              <a:rPr lang="en-US" sz="17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se acerca al comportamiento de un IDE: escribir, compilar, revisar el diagnóstico y ejecutar solo cuando la compilación es correcta.</a:t>
            </a:r>
            <a:endParaRPr lang="en-US" sz="1700" dirty="0"/>
          </a:p>
          <a:p>
            <a:r>
              <a:rPr lang="en-US" sz="17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fortalece la comprensión práctica de tokens, gramática, tabla de símbolos, traducción, javac y ejecución de programas.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452360" y="1143000"/>
            <a:ext cx="4023360" cy="3063240"/>
          </a:xfrm>
          <a:prstGeom prst="roundRect">
            <a:avLst>
              <a:gd name="adj" fmla="val 3582"/>
            </a:avLst>
          </a:prstGeom>
          <a:solidFill>
            <a:srgbClr val="F7FAFC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54112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principal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726680" y="1901952"/>
            <a:ext cx="34747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Antes: botones por fase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Ahora: un programa fuente atraviesa el pipeline completo de compilación.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33657" y="3337560"/>
            <a:ext cx="2603241" cy="384048"/>
          </a:xfrm>
          <a:prstGeom prst="roundRect">
            <a:avLst>
              <a:gd name="adj" fmla="val 35714"/>
            </a:avLst>
          </a:prstGeom>
          <a:solidFill>
            <a:srgbClr val="24523D"/>
          </a:solidFill>
          <a:ln w="12700">
            <a:solidFill>
              <a:srgbClr val="2452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41985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Compilar → Diagnóstico automático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y alcance del proyecto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96012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general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85800" y="1353312"/>
            <a:ext cx="51206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un compilador visual en JavaFX capaz de reconocer un lenguaje propio, validar sus fases principales y ejecutar programas correctos mediante traducción a Java.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" y="274320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 funcional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85800" y="3154680"/>
            <a:ext cx="51206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 de código con números de línea.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 automático por fase.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Traducción a Java y compilación con javac.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Bloqueo de ejecución cuando hay errores.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secundaria de análisis interno.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400800" y="123444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F7FAFC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1344168"/>
            <a:ext cx="4700016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lenguaje propio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5392" y="1673352"/>
            <a:ext cx="4700016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publico clase Saludo inicio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publico estatico vacio principal(cadena[] argumentos) inicio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imprimir("Hola Mundo");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fin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fin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50292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675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código se valida y después se traduce a Java para compilarlo.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del compilador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1952" y="1682496"/>
            <a:ext cx="109728" cy="0"/>
          </a:xfrm>
          <a:prstGeom prst="line">
            <a:avLst/>
          </a:prstGeom>
          <a:noFill/>
          <a:ln w="15240">
            <a:solidFill>
              <a:srgbClr val="A7B1B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83864" y="1682496"/>
            <a:ext cx="109728" cy="0"/>
          </a:xfrm>
          <a:prstGeom prst="line">
            <a:avLst/>
          </a:prstGeom>
          <a:noFill/>
          <a:ln w="15240">
            <a:solidFill>
              <a:srgbClr val="A7B1B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65776" y="1682496"/>
            <a:ext cx="109728" cy="0"/>
          </a:xfrm>
          <a:prstGeom prst="line">
            <a:avLst/>
          </a:prstGeom>
          <a:noFill/>
          <a:ln w="15240">
            <a:solidFill>
              <a:srgbClr val="A7B1B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47688" y="1682496"/>
            <a:ext cx="109728" cy="0"/>
          </a:xfrm>
          <a:prstGeom prst="line">
            <a:avLst/>
          </a:prstGeom>
          <a:noFill/>
          <a:ln w="15240">
            <a:solidFill>
              <a:srgbClr val="A7B1B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229600" y="1682496"/>
            <a:ext cx="109728" cy="0"/>
          </a:xfrm>
          <a:prstGeom prst="line">
            <a:avLst/>
          </a:prstGeom>
          <a:noFill/>
          <a:ln w="15240">
            <a:solidFill>
              <a:srgbClr val="A7B1B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811512" y="1682496"/>
            <a:ext cx="109728" cy="0"/>
          </a:xfrm>
          <a:prstGeom prst="line">
            <a:avLst/>
          </a:prstGeom>
          <a:noFill/>
          <a:ln w="15240">
            <a:solidFill>
              <a:srgbClr val="A7B1B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1D4E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fuente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039112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2452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93976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Léxico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21024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2452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75888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Sintáctico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02936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2452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Semántico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84848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D7A6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9712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generado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366760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1D4E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javac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948672" y="1325880"/>
            <a:ext cx="1417320" cy="713232"/>
          </a:xfrm>
          <a:prstGeom prst="roundRect">
            <a:avLst>
              <a:gd name="adj" fmla="val 14103"/>
            </a:avLst>
          </a:prstGeom>
          <a:solidFill>
            <a:srgbClr val="F8FAFC"/>
          </a:solidFill>
          <a:ln w="19050">
            <a:solidFill>
              <a:srgbClr val="2F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03536" y="1554480"/>
            <a:ext cx="130759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Ejecución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77240" y="2834640"/>
            <a:ext cx="530352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6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escribe un programa y presiona Compilar.</a:t>
            </a:r>
            <a:endParaRPr lang="en-US" sz="1650" dirty="0"/>
          </a:p>
          <a:p>
            <a:r>
              <a:rPr lang="en-US" sz="16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compilador ejecuta las fases en orden; si una falla, las posteriores se detienen.</a:t>
            </a:r>
            <a:endParaRPr lang="en-US" sz="1650" dirty="0"/>
          </a:p>
          <a:p>
            <a:r>
              <a:rPr lang="en-US" sz="16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proceso termina sin errores, el botón Ejecutar queda disponible.</a:t>
            </a:r>
            <a:endParaRPr lang="en-US" sz="1650" dirty="0"/>
          </a:p>
          <a:p>
            <a:r>
              <a:rPr lang="en-US" sz="16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vistas de tokens, árbol sintáctico, semántica y Java generado son evidencias internas del proceso.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629400" y="2880360"/>
            <a:ext cx="4480560" cy="2286000"/>
          </a:xfrm>
          <a:prstGeom prst="roundRect">
            <a:avLst>
              <a:gd name="adj" fmla="val 4800"/>
            </a:avLst>
          </a:prstGeom>
          <a:solidFill>
            <a:srgbClr val="F4F8F6"/>
          </a:solidFill>
          <a:ln w="12700">
            <a:solidFill>
              <a:srgbClr val="C7D7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3154680"/>
            <a:ext cx="40233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45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control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903720" y="3703320"/>
            <a:ext cx="39319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léxico → no pasa a sintaxis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sintáctico → no pasa a semántica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semántico → no genera ni ejecuta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 principal del compilador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905256"/>
            <a:ext cx="6684264" cy="4352544"/>
          </a:xfrm>
          <a:prstGeom prst="roundRect">
            <a:avLst>
              <a:gd name="adj" fmla="val 1261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9" name="Image 0" descr="/mnt/data/Captura de pantalla 2026-10-03 2305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17550"/>
            <a:ext cx="6629400" cy="372795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4380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Elementos visibles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543800" y="1554480"/>
            <a:ext cx="393192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 central con números de línea.</a:t>
            </a:r>
            <a:endParaRPr lang="en-US" sz="1100" dirty="0"/>
          </a:p>
          <a:p>
            <a: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Botones para crear, abrir, guardar, compilar y ejecutar.</a:t>
            </a:r>
            <a:endParaRPr lang="en-US" sz="1100" dirty="0"/>
          </a:p>
          <a:p>
            <a: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Output inferior para diagnósticos automáticos.</a:t>
            </a:r>
            <a:endParaRPr lang="en-US" sz="1100" dirty="0"/>
          </a:p>
          <a:p>
            <a: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superior: compilación correcta o con errores.</a:t>
            </a:r>
            <a:endParaRPr lang="en-US" sz="1100" dirty="0"/>
          </a:p>
          <a:p>
            <a: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botón Ejecutar solo se habilita cuando el programa compila </a:t>
            </a:r>
            <a:r>
              <a:rPr lang="en-US" sz="1100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correctamente</a:t>
            </a:r>
            <a: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endParaRPr lang="en-US" sz="110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s-MX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vez abierto el proyecto en el editor de código, ejecuto el compilador desde la terminal mediante el siguiente comando:</a:t>
            </a:r>
          </a:p>
          <a:p>
            <a:endParaRPr lang="es-MX" sz="110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s-MX" sz="1100" b="1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&amp; "C:\apache-maven-3.9.16\bin\mvn.cmd" </a:t>
            </a:r>
            <a:r>
              <a:rPr lang="es-MX" sz="1100" b="1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r>
              <a:rPr lang="es-MX" sz="1100" b="1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s-MX" sz="1100" b="1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javafx:run</a:t>
            </a:r>
            <a:endParaRPr lang="es-MX" sz="1100" b="1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endParaRPr lang="es-MX" sz="110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s-MX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comando utiliza Maven para limpiar compilaciones anteriores del proyecto y posteriormente ejecutar la aplicación </a:t>
            </a:r>
            <a:r>
              <a:rPr lang="es-MX" sz="1100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JavaFX</a:t>
            </a:r>
            <a:r>
              <a:rPr lang="es-MX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 De esta manera se cargan correctamente las dependencias definidas en el archivo `pom.xml` y se inicia la interfaz gráfica del compilador.</a:t>
            </a:r>
          </a:p>
          <a:p>
            <a:endParaRPr lang="es-MX" sz="110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s-MX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la ruta completa de Maven porque, en este equipo, Maven no se encuentra agregado de forma global a las variables de entorno de Windows. Por esa razón, es necesario indicar directamente la ubicación del archivo `mvn.cmd`.</a:t>
            </a:r>
          </a:p>
          <a:p>
            <a:endParaRPr lang="es-MX" sz="110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s-MX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vez ejecutado el comando, Maven compila el proyecto y abre la interfaz del Compilador, desde donde es posible escribir código, compilarlo, detectar errores automáticamente y ejecutar los programas que hayan sido validados correctamente.</a:t>
            </a:r>
            <a:b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endParaRPr lang="en-US" sz="110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br>
              <a:rPr lang="en-US" sz="11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5394960"/>
            <a:ext cx="6629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675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Pantalla principal usada como evidencia del compilador final.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Evidencia: compilación correcta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886968"/>
            <a:ext cx="6638544" cy="4398264"/>
          </a:xfrm>
          <a:prstGeom prst="roundRect">
            <a:avLst>
              <a:gd name="adj" fmla="val 1247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9" name="Image 0" descr="/mnt/data/Captura de pantalla 2026-10-03 2305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977"/>
            <a:ext cx="6583680" cy="37022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051560"/>
            <a:ext cx="4206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45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observado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60920" y="1508760"/>
            <a:ext cx="402336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programa “Hola Mundo” pasa el análisis léxico, sintáctico y semántico.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genera una clase Java válida y la compila con javac.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terminar, aparece BUILD SUCCESSFUL y el botón Ejecutar queda habilitado.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360920" y="38862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25512" y="3995928"/>
            <a:ext cx="3785616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de prueba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525512" y="4325112"/>
            <a:ext cx="3785616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publico clase Saludo inicio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publico estatico vacio principal(cadena[] argumentos) inicio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imprimir("Hola Mundo");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fin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Evidencia: ejecución correcta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886968"/>
            <a:ext cx="6638544" cy="4398264"/>
          </a:xfrm>
          <a:prstGeom prst="roundRect">
            <a:avLst>
              <a:gd name="adj" fmla="val 1247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9" name="Image 0" descr="/mnt/data/Captura de pantalla 2026-10-03 2305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977"/>
            <a:ext cx="6583680" cy="37022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051560"/>
            <a:ext cx="4206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45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del programa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60920" y="1508760"/>
            <a:ext cx="40233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Después de compilar sin errores, el programa se ejecuta desde la misma aplicación.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consola inferior muestra la salida del programa: Hola Mundo.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ejecución ocurre solo cuando la compilación previa fue válida.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479792" y="393192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0F7F3"/>
          </a:solidFill>
          <a:ln w="12700">
            <a:solidFill>
              <a:srgbClr val="C1D8C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4160520"/>
            <a:ext cx="3474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452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EJECUCIÓN DEL PROGRAMA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523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Hola Mundo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Evidencia: error léxico automático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886968"/>
            <a:ext cx="6638544" cy="4398264"/>
          </a:xfrm>
          <a:prstGeom prst="roundRect">
            <a:avLst>
              <a:gd name="adj" fmla="val 1247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9" name="Image 0" descr="/mnt/data/Captura de pantalla 2026-10-03 2306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977"/>
            <a:ext cx="6583680" cy="37022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051560"/>
            <a:ext cx="4206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33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demuestra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60920" y="1508760"/>
            <a:ext cx="40233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no selecciona “error léxico”; únicamente presiona Compilar.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compilador detecta el símbolo no reconocido @.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proceso se detiene en léxico y no avanza a sintaxis ni semántica.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360920" y="3950208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7FAFC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25512" y="4059936"/>
            <a:ext cx="3785616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con error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525512" y="4389120"/>
            <a:ext cx="3785616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entero edad = 20@;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Evidencia: error sintáctico automático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886968"/>
            <a:ext cx="6638544" cy="4398264"/>
          </a:xfrm>
          <a:prstGeom prst="roundRect">
            <a:avLst>
              <a:gd name="adj" fmla="val 1247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9" name="Image 0" descr="/mnt/data/Captura de pantalla 2026-10-03 230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977"/>
            <a:ext cx="6583680" cy="37022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051560"/>
            <a:ext cx="4206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33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demuestra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60920" y="1508760"/>
            <a:ext cx="40233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compilador identifica que falta cerrar el paréntesis después de la expresión de imprimir.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mensaje incluye fase, línea y columna del problema.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la sintaxis es inválida, las etapas posteriores se bloquean automáticamente.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360920" y="397764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7FAFC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25512" y="4087368"/>
            <a:ext cx="3785616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con error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525512" y="4416552"/>
            <a:ext cx="3785616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imprimir("Hola Mundo";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Evidencia: error semántico automático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886968"/>
            <a:ext cx="6638544" cy="4398264"/>
          </a:xfrm>
          <a:prstGeom prst="roundRect">
            <a:avLst>
              <a:gd name="adj" fmla="val 1247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9" name="Image 0" descr="/mnt/data/Captura de pantalla 2026-10-03 2306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977"/>
            <a:ext cx="6583680" cy="37022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051560"/>
            <a:ext cx="4206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33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demuestra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60920" y="1508760"/>
            <a:ext cx="40233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estructura del programa es correcta, pero el valor asignado no coincide con el tipo de la variable.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compilador detecta que una cadena no puede asignarse a una variable entera.</a:t>
            </a:r>
            <a:endParaRPr lang="en-US" sz="1550" dirty="0"/>
          </a:p>
          <a:p>
            <a:r>
              <a:rPr lang="en-US" sz="15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proceso se detiene en semántica y evita generación, compilación y ejecución.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360920" y="406908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7FAFC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25512" y="4178808"/>
            <a:ext cx="3785616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con error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525512" y="4507992"/>
            <a:ext cx="3785616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D293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entero edad = "Amaury";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Vista interna de análisis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960120"/>
            <a:ext cx="10789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aplicación conserva una vista secundaria para justificar académicamente cada fase, sin obligar al usuario a ejecutarlas por separado.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4983480" cy="1143000"/>
          </a:xfrm>
          <a:prstGeom prst="roundRect">
            <a:avLst>
              <a:gd name="adj" fmla="val 8000"/>
            </a:avLst>
          </a:prstGeom>
          <a:solidFill>
            <a:srgbClr val="F2F7FB"/>
          </a:solidFill>
          <a:ln w="12700">
            <a:solidFill>
              <a:srgbClr val="C9DC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039112"/>
            <a:ext cx="4572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377440"/>
            <a:ext cx="45720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de lexemas, tipo de token, línea y columna.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4983480" cy="1143000"/>
          </a:xfrm>
          <a:prstGeom prst="roundRect">
            <a:avLst>
              <a:gd name="adj" fmla="val 8000"/>
            </a:avLst>
          </a:prstGeom>
          <a:solidFill>
            <a:srgbClr val="F2F7FB"/>
          </a:solidFill>
          <a:ln w="12700">
            <a:solidFill>
              <a:srgbClr val="C9DC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39112"/>
            <a:ext cx="4572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Árbol sintáctico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73368" y="2377440"/>
            <a:ext cx="45720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 jerárquica del programa validado.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520440"/>
            <a:ext cx="4983480" cy="1143000"/>
          </a:xfrm>
          <a:prstGeom prst="roundRect">
            <a:avLst>
              <a:gd name="adj" fmla="val 8000"/>
            </a:avLst>
          </a:prstGeom>
          <a:solidFill>
            <a:srgbClr val="F3F8F4"/>
          </a:solidFill>
          <a:ln w="12700">
            <a:solidFill>
              <a:srgbClr val="C8DC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Semántica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2688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Tabla de símbolos, tipos y errores de compatibilidad.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3520440"/>
            <a:ext cx="4983480" cy="1143000"/>
          </a:xfrm>
          <a:prstGeom prst="roundRect">
            <a:avLst>
              <a:gd name="adj" fmla="val 8000"/>
            </a:avLst>
          </a:prstGeom>
          <a:solidFill>
            <a:srgbClr val="F3F8F4"/>
          </a:solidFill>
          <a:ln w="12700">
            <a:solidFill>
              <a:srgbClr val="C8DC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generado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373368" y="4023360"/>
            <a:ext cx="45720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destino producido desde el programa fuente.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22960" y="5285232"/>
            <a:ext cx="10515600" cy="0"/>
          </a:xfrm>
          <a:prstGeom prst="line">
            <a:avLst/>
          </a:prstGeom>
          <a:noFill/>
          <a:ln w="19050">
            <a:solidFill>
              <a:srgbClr val="D7A6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532120"/>
            <a:ext cx="99669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clave: el flujo principal es “Compilar”; las pestañas solo muestran lo que el compilador ya produjo automáticamente.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Repositorio del proyecto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148840"/>
            <a:ext cx="9875520" cy="1143000"/>
          </a:xfrm>
          <a:prstGeom prst="roundRect">
            <a:avLst>
              <a:gd name="adj" fmla="val 9600"/>
            </a:avLst>
          </a:prstGeom>
          <a:solidFill>
            <a:srgbClr val="F7FAFC"/>
          </a:solidFill>
          <a:ln w="15240">
            <a:solidFill>
              <a:srgbClr val="D7E1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400300"/>
            <a:ext cx="9326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67580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/>
              </a:rPr>
              <a:t>https://github.com/amaurycolochos-cpu/LENGUAJES-Y-AUTOMATAS-II/tree/main/LYA-ll-Tema-4/CompiladorTECNM-JavaFX-Final</a:t>
            </a:r>
            <a:endParaRPr lang="en-US" sz="2000" b="1" dirty="0">
              <a:solidFill>
                <a:srgbClr val="667580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143000"/>
            <a:ext cx="576072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versión final transforma el proyecto en un compilador visual que analiza automáticamente el programa fuente.</a:t>
            </a:r>
            <a:endParaRPr lang="en-US" sz="1800" dirty="0"/>
          </a:p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demuestra detección de errores léxicos, sintácticos y semánticos sin que el usuario seleccione manualmente la </a:t>
            </a:r>
            <a:r>
              <a:rPr lang="en-US" sz="1800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fase</a:t>
            </a:r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programa es correcto, la aplicación traduce a Java, compila con javac y ejecuta el resultado.</a:t>
            </a:r>
            <a:endParaRPr lang="en-US" sz="1800" dirty="0"/>
          </a:p>
          <a:p>
            <a:r>
              <a:rPr lang="en-US" sz="180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esta actividad se integran los aprendizajes de Lenguajes y Autómatas I y II en una herramienta funcional y defendible.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784848" y="1389888"/>
            <a:ext cx="4535424" cy="2980944"/>
          </a:xfrm>
          <a:prstGeom prst="roundRect">
            <a:avLst>
              <a:gd name="adj" fmla="val 1840"/>
            </a:avLst>
          </a:prstGeom>
          <a:solidFill>
            <a:srgbClr val="FFFFFF">
              <a:alpha val="0"/>
            </a:srgbClr>
          </a:solidFill>
          <a:ln w="12700">
            <a:solidFill>
              <a:srgbClr val="D0D6DC"/>
            </a:solidFill>
            <a:prstDash val="solid"/>
          </a:ln>
        </p:spPr>
      </p:sp>
      <p:pic>
        <p:nvPicPr>
          <p:cNvPr id="10" name="Image 0" descr="/mnt/data/Captura de pantalla 2026-10-03 2305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620568"/>
            <a:ext cx="4480560" cy="251958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12280" y="4526280"/>
            <a:ext cx="4480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675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final: compilación y ejecución correcta desde JavaFX.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137160"/>
            <a:ext cx="9875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32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 de información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10896" y="758952"/>
            <a:ext cx="11567160" cy="0"/>
          </a:xfrm>
          <a:prstGeom prst="line">
            <a:avLst/>
          </a:prstGeom>
          <a:noFill/>
          <a:ln w="16510">
            <a:solidFill>
              <a:srgbClr val="143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OpenStax. (2024). Introduction to Computer Science. Secciones de lenguajes de programación, compiladores y representación de </a:t>
            </a:r>
            <a:r>
              <a:rPr lang="en-US" sz="1450" dirty="0" err="1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programas</a:t>
            </a:r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endParaRPr lang="en-US" sz="1450" dirty="0"/>
          </a:p>
          <a:p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Oracle. (s. f.). Java Documentation. </a:t>
            </a:r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/>
              </a:rPr>
              <a:t>https://docs.oracle.com/en/java/</a:t>
            </a:r>
            <a:endParaRPr lang="en-US" sz="145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endParaRPr lang="en-US" sz="1450" dirty="0"/>
          </a:p>
          <a:p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Oracle. (s. f.). Java Compiler API, paquete javax.tools. </a:t>
            </a:r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/>
              </a:rPr>
              <a:t>https://docs.oracle.com/en/java/javase/</a:t>
            </a:r>
            <a:endParaRPr lang="en-US" sz="145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endParaRPr lang="en-US" sz="1450" dirty="0"/>
          </a:p>
          <a:p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OpenJFX. (s. f.). JavaFX Documentation. </a:t>
            </a:r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/>
              </a:rPr>
              <a:t>https://openjfx.io/</a:t>
            </a:r>
            <a:endParaRPr lang="en-US" sz="145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endParaRPr lang="en-US" sz="1450" dirty="0"/>
          </a:p>
          <a:p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Apache Maven Project. (s. f.). Maven Documentation. </a:t>
            </a:r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/>
              </a:rPr>
              <a:t>https://maven.apache.org/guides/</a:t>
            </a:r>
            <a:endParaRPr lang="en-US" sz="1450" dirty="0">
              <a:solidFill>
                <a:srgbClr val="27323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endParaRPr lang="en-US" sz="1450" dirty="0"/>
          </a:p>
          <a:p>
            <a:r>
              <a:rPr lang="en-US" sz="1450" dirty="0">
                <a:solidFill>
                  <a:srgbClr val="273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Tecnológico Nacional de México. Instrumentación Didáctica de Lenguajes y Autómatas II. Documento de referencia de la unidad 4.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1310</Words>
  <Application>Microsoft Office PowerPoint</Application>
  <PresentationFormat>Panorámica</PresentationFormat>
  <Paragraphs>165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-apple-system</vt:lpstr>
      <vt:lpstr>Aptos</vt:lpstr>
      <vt:lpstr>Aptos Display</vt:lpstr>
      <vt:lpstr>Arial</vt:lpstr>
      <vt:lpstr>Cascadia Mono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Tecnológico Nacional de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4.2 - Proyecto Analizador Semántico - Amaury Gordillo</dc:title>
  <dc:subject>Actividad 4.2 Proyecto Analizador Semántico / Compilador</dc:subject>
  <dc:creator>OpenAI</dc:creator>
  <cp:lastModifiedBy>AMAURY JAHAZIEL GORDILLO HERNANDEZ</cp:lastModifiedBy>
  <cp:revision>2</cp:revision>
  <dcterms:created xsi:type="dcterms:W3CDTF">2026-10-04T05:11:59Z</dcterms:created>
  <dcterms:modified xsi:type="dcterms:W3CDTF">2026-10-04T05:33:16Z</dcterms:modified>
</cp:coreProperties>
</file>