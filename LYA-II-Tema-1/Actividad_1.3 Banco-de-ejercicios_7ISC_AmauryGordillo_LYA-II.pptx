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8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- https://docs.oracle.com/javase/specs/jls/se8/html/jls-5.html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Código fuente del proyecto AnalizadorSemantico elaborado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 de pantalla proporcionada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Capturas de pantalla proporcionadas por el estudiante, 31 de agosto de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https://www.cs.cornell.edu/courses/cs4120/2023sp/notes.html?id=semantic</a:t>
            </a:r>
          </a:p>
          <a:p>
            <a:r>
              <a:t>- https://llvm.org/docs/tutorial/MyFirstLanguageFrontend/LangImpl02.html</a:t>
            </a:r>
          </a:p>
          <a:p>
            <a:r>
              <a:t>- https://docs.oracle.com/javase/specs/jls/se8/html/jls-5.html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Contenido y evidencias elaborados por el estudiante.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120/2023sp/notes.html?id=semantic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lvm.org/docs/tutorial/MyFirstLanguageFrontend/LangImpl02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aurycolochos-cpu/LENGUAJES-Y-AUTOMATAS-II/tree/main/LYA-II-Tema-1/AnalizadorSemanticoACT-1.3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agen 4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280834" y="0"/>
            <a:ext cx="11911166" cy="6858000"/>
          </a:xfrm>
          <a:prstGeom prst="rect">
            <a:avLst/>
          </a:prstGeom>
        </p:spPr>
      </p:pic>
      <p:sp>
        <p:nvSpPr>
          <p:cNvPr id="2" name="institutional-navy-band">
            <a:extLst>
              <a:ext uri="{FF2B5EF4-FFF2-40B4-BE49-F238E27FC236}">
                <a16:creationId xmlns:a16="http://schemas.microsoft.com/office/drawing/2014/main" id="{3AE6E076-F470-4AFA-B05E-BB577D99A602}"/>
              </a:ext>
            </a:extLst>
          </p:cNvPr>
          <p:cNvSpPr>
            <a:spLocks noGrp="1"/>
          </p:cNvSpPr>
          <p:nvPr/>
        </p:nvSpPr>
        <p:spPr>
          <a:xfrm>
            <a:off x="-47626" y="0"/>
            <a:ext cx="328459" cy="6858000"/>
          </a:xfrm>
          <a:prstGeom prst="rect">
            <a:avLst/>
          </a:prstGeom>
          <a:solidFill>
            <a:srgbClr val="082958"/>
          </a:solidFill>
          <a:ln w="0">
            <a:noFill/>
            <a:prstDash val="solid"/>
          </a:ln>
        </p:spPr>
      </p:sp>
      <p:sp>
        <p:nvSpPr>
          <p:cNvPr id="3" name="institutional-gold-accent">
            <a:extLst>
              <a:ext uri="{FF2B5EF4-FFF2-40B4-BE49-F238E27FC236}">
                <a16:creationId xmlns:a16="http://schemas.microsoft.com/office/drawing/2014/main" id="{511065C0-35AD-4DAE-B610-DF6B7F488372}"/>
              </a:ext>
            </a:extLst>
          </p:cNvPr>
          <p:cNvSpPr>
            <a:spLocks noGrp="1"/>
          </p:cNvSpPr>
          <p:nvPr/>
        </p:nvSpPr>
        <p:spPr>
          <a:xfrm>
            <a:off x="280987" y="47625"/>
            <a:ext cx="28575" cy="64389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" name="top-rule">
            <a:extLst>
              <a:ext uri="{FF2B5EF4-FFF2-40B4-BE49-F238E27FC236}">
                <a16:creationId xmlns:a16="http://schemas.microsoft.com/office/drawing/2014/main" id="{A402DA1E-9E80-4154-8892-48887862CA94}"/>
              </a:ext>
            </a:extLst>
          </p:cNvPr>
          <p:cNvSpPr>
            <a:spLocks noGrp="1"/>
          </p:cNvSpPr>
          <p:nvPr/>
        </p:nvSpPr>
        <p:spPr>
          <a:xfrm>
            <a:off x="838200" y="1009650"/>
            <a:ext cx="10515600" cy="0"/>
          </a:xfrm>
          <a:prstGeom prst="line">
            <a:avLst/>
          </a:prstGeom>
          <a:noFill/>
          <a:ln w="11430">
            <a:solidFill>
              <a:srgbClr val="DCEBFA"/>
            </a:solidFill>
            <a:prstDash val="solid"/>
          </a:ln>
        </p:spPr>
      </p:sp>
      <p:sp>
        <p:nvSpPr>
          <p:cNvPr id="6" name="institution-name">
            <a:extLst>
              <a:ext uri="{FF2B5EF4-FFF2-40B4-BE49-F238E27FC236}">
                <a16:creationId xmlns:a16="http://schemas.microsoft.com/office/drawing/2014/main" id="{E0E92947-86F7-4A12-A128-7B0159F83BDC}"/>
              </a:ext>
            </a:extLst>
          </p:cNvPr>
          <p:cNvSpPr>
            <a:spLocks noGrp="1"/>
          </p:cNvSpPr>
          <p:nvPr/>
        </p:nvSpPr>
        <p:spPr>
          <a:xfrm>
            <a:off x="3641008" y="892277"/>
            <a:ext cx="5464892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500" b="1" dirty="0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TECNOLÓGICO NACIONAL DE MÉXICO</a:t>
            </a:r>
          </a:p>
        </p:txBody>
      </p:sp>
      <p:sp>
        <p:nvSpPr>
          <p:cNvPr id="9" name="degree-title">
            <a:extLst>
              <a:ext uri="{FF2B5EF4-FFF2-40B4-BE49-F238E27FC236}">
                <a16:creationId xmlns:a16="http://schemas.microsoft.com/office/drawing/2014/main" id="{897E2AE5-15D9-4AB6-9730-7184F55D8F9A}"/>
              </a:ext>
            </a:extLst>
          </p:cNvPr>
          <p:cNvSpPr>
            <a:spLocks noGrp="1"/>
          </p:cNvSpPr>
          <p:nvPr/>
        </p:nvSpPr>
        <p:spPr>
          <a:xfrm>
            <a:off x="3429000" y="1454252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INGENIERÍA EN</a:t>
            </a:r>
          </a:p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SISTEMAS COMPUTACIONALES</a:t>
            </a:r>
          </a:p>
        </p:txBody>
      </p:sp>
      <p:sp>
        <p:nvSpPr>
          <p:cNvPr id="10" name="degree-gold-rule-left">
            <a:extLst>
              <a:ext uri="{FF2B5EF4-FFF2-40B4-BE49-F238E27FC236}">
                <a16:creationId xmlns:a16="http://schemas.microsoft.com/office/drawing/2014/main" id="{C8050B62-10E2-4D95-BEEE-6E1978022F99}"/>
              </a:ext>
            </a:extLst>
          </p:cNvPr>
          <p:cNvSpPr>
            <a:spLocks noGrp="1"/>
          </p:cNvSpPr>
          <p:nvPr/>
        </p:nvSpPr>
        <p:spPr>
          <a:xfrm>
            <a:off x="484822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1" name="degree-gold-rule-right">
            <a:extLst>
              <a:ext uri="{FF2B5EF4-FFF2-40B4-BE49-F238E27FC236}">
                <a16:creationId xmlns:a16="http://schemas.microsoft.com/office/drawing/2014/main" id="{12397A49-149B-4ECA-A15E-F885934091D1}"/>
              </a:ext>
            </a:extLst>
          </p:cNvPr>
          <p:cNvSpPr>
            <a:spLocks noGrp="1"/>
          </p:cNvSpPr>
          <p:nvPr/>
        </p:nvSpPr>
        <p:spPr>
          <a:xfrm>
            <a:off x="635317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3" name="course-title-line-1">
            <a:extLst>
              <a:ext uri="{FF2B5EF4-FFF2-40B4-BE49-F238E27FC236}">
                <a16:creationId xmlns:a16="http://schemas.microsoft.com/office/drawing/2014/main" id="{24A5C187-BE41-45B6-8BF3-A2878D2FD52B}"/>
              </a:ext>
            </a:extLst>
          </p:cNvPr>
          <p:cNvSpPr>
            <a:spLocks noGrp="1"/>
          </p:cNvSpPr>
          <p:nvPr/>
        </p:nvSpPr>
        <p:spPr>
          <a:xfrm>
            <a:off x="2362199" y="2633663"/>
            <a:ext cx="7467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833" lnSpcReduction="10000"/>
          </a:bodyPr>
          <a:lstStyle/>
          <a:p>
            <a:pPr algn="ctr">
              <a:def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lang="es-MX" sz="4125" b="1" dirty="0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LENGUAJES Y AUTOMATAS II</a:t>
            </a:r>
            <a:endParaRPr sz="4125" b="1" dirty="0">
              <a:solidFill>
                <a:srgbClr val="0B3473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5" name="activity-left-trace-1">
            <a:extLst>
              <a:ext uri="{FF2B5EF4-FFF2-40B4-BE49-F238E27FC236}">
                <a16:creationId xmlns:a16="http://schemas.microsoft.com/office/drawing/2014/main" id="{7D063C37-CCC4-4D1E-800C-E1EC27DFD060}"/>
              </a:ext>
            </a:extLst>
          </p:cNvPr>
          <p:cNvSpPr>
            <a:spLocks noGrp="1"/>
          </p:cNvSpPr>
          <p:nvPr/>
        </p:nvSpPr>
        <p:spPr>
          <a:xfrm>
            <a:off x="20383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6" name="activity-left-trace-2">
            <a:extLst>
              <a:ext uri="{FF2B5EF4-FFF2-40B4-BE49-F238E27FC236}">
                <a16:creationId xmlns:a16="http://schemas.microsoft.com/office/drawing/2014/main" id="{3CFD8881-ED44-45BD-9DF0-783461E898DA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7" name="activity-left-trace-3">
            <a:extLst>
              <a:ext uri="{FF2B5EF4-FFF2-40B4-BE49-F238E27FC236}">
                <a16:creationId xmlns:a16="http://schemas.microsoft.com/office/drawing/2014/main" id="{40CE4708-D5C7-40D2-BE07-C709D6A81A4E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8" name="activity-left-node">
            <a:extLst>
              <a:ext uri="{FF2B5EF4-FFF2-40B4-BE49-F238E27FC236}">
                <a16:creationId xmlns:a16="http://schemas.microsoft.com/office/drawing/2014/main" id="{61DC4950-E910-4AA5-840B-B61E8D5D8C11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19" name="activity-right-node">
            <a:extLst>
              <a:ext uri="{FF2B5EF4-FFF2-40B4-BE49-F238E27FC236}">
                <a16:creationId xmlns:a16="http://schemas.microsoft.com/office/drawing/2014/main" id="{825A2979-FD3A-4780-A5BF-2B891AF31213}"/>
              </a:ext>
            </a:extLst>
          </p:cNvPr>
          <p:cNvSpPr>
            <a:spLocks noGrp="1"/>
          </p:cNvSpPr>
          <p:nvPr/>
        </p:nvSpPr>
        <p:spPr>
          <a:xfrm>
            <a:off x="9020175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20" name="activity-right-trace-1">
            <a:extLst>
              <a:ext uri="{FF2B5EF4-FFF2-40B4-BE49-F238E27FC236}">
                <a16:creationId xmlns:a16="http://schemas.microsoft.com/office/drawing/2014/main" id="{38B16BE7-5C8D-4EAB-B2EE-18E787DD60AA}"/>
              </a:ext>
            </a:extLst>
          </p:cNvPr>
          <p:cNvSpPr>
            <a:spLocks noGrp="1"/>
          </p:cNvSpPr>
          <p:nvPr/>
        </p:nvSpPr>
        <p:spPr>
          <a:xfrm>
            <a:off x="91059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1" name="activity-right-trace-2">
            <a:extLst>
              <a:ext uri="{FF2B5EF4-FFF2-40B4-BE49-F238E27FC236}">
                <a16:creationId xmlns:a16="http://schemas.microsoft.com/office/drawing/2014/main" id="{B0073C7F-4C58-47DE-BB0A-AFC31EDFE384}"/>
              </a:ext>
            </a:extLst>
          </p:cNvPr>
          <p:cNvSpPr>
            <a:spLocks noGrp="1"/>
          </p:cNvSpPr>
          <p:nvPr/>
        </p:nvSpPr>
        <p:spPr>
          <a:xfrm>
            <a:off x="962025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2" name="activity-right-trace-3">
            <a:extLst>
              <a:ext uri="{FF2B5EF4-FFF2-40B4-BE49-F238E27FC236}">
                <a16:creationId xmlns:a16="http://schemas.microsoft.com/office/drawing/2014/main" id="{0A4D59B6-4962-4FEF-A21B-2AF53EF32F99}"/>
              </a:ext>
            </a:extLst>
          </p:cNvPr>
          <p:cNvSpPr>
            <a:spLocks noGrp="1"/>
          </p:cNvSpPr>
          <p:nvPr/>
        </p:nvSpPr>
        <p:spPr>
          <a:xfrm>
            <a:off x="96202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3" name="activity-title">
            <a:extLst>
              <a:ext uri="{FF2B5EF4-FFF2-40B4-BE49-F238E27FC236}">
                <a16:creationId xmlns:a16="http://schemas.microsoft.com/office/drawing/2014/main" id="{F746EC2E-9743-49CF-891C-11DBE19DF422}"/>
              </a:ext>
            </a:extLst>
          </p:cNvPr>
          <p:cNvSpPr>
            <a:spLocks noGrp="1"/>
          </p:cNvSpPr>
          <p:nvPr/>
        </p:nvSpPr>
        <p:spPr>
          <a:xfrm>
            <a:off x="3238500" y="3581400"/>
            <a:ext cx="571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98"/>
          </a:bodyPr>
          <a:lstStyle/>
          <a:p>
            <a:pPr algn="ctr"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ACTIVIDAD </a:t>
            </a:r>
            <a:r>
              <a:rPr lang="es-MX"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1.3</a:t>
            </a:r>
            <a:r>
              <a:rPr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 — </a:t>
            </a:r>
            <a:r>
              <a:rPr lang="es-MX" b="0" i="0" dirty="0">
                <a:solidFill>
                  <a:srgbClr val="212529"/>
                </a:solidFill>
                <a:effectLst/>
                <a:latin typeface="-apple-system"/>
              </a:rPr>
              <a:t>BANCO DE EJERCICIOS</a:t>
            </a:r>
          </a:p>
          <a:p>
            <a:pPr algn="ctr"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endParaRPr sz="1875" b="1" dirty="0">
              <a:solidFill>
                <a:srgbClr val="2862A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24" name="students-heading">
            <a:extLst>
              <a:ext uri="{FF2B5EF4-FFF2-40B4-BE49-F238E27FC236}">
                <a16:creationId xmlns:a16="http://schemas.microsoft.com/office/drawing/2014/main" id="{B3090DA1-DD45-4D5A-810A-68C80D1D5495}"/>
              </a:ext>
            </a:extLst>
          </p:cNvPr>
          <p:cNvSpPr>
            <a:spLocks noGrp="1"/>
          </p:cNvSpPr>
          <p:nvPr/>
        </p:nvSpPr>
        <p:spPr>
          <a:xfrm>
            <a:off x="2857500" y="4143375"/>
            <a:ext cx="4667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PRESENTA</a:t>
            </a:r>
          </a:p>
        </p:txBody>
      </p:sp>
      <p:sp>
        <p:nvSpPr>
          <p:cNvPr id="25" name="enrollment-heading">
            <a:extLst>
              <a:ext uri="{FF2B5EF4-FFF2-40B4-BE49-F238E27FC236}">
                <a16:creationId xmlns:a16="http://schemas.microsoft.com/office/drawing/2014/main" id="{8497282D-0F32-46CC-9BD6-A908719C1476}"/>
              </a:ext>
            </a:extLst>
          </p:cNvPr>
          <p:cNvSpPr>
            <a:spLocks noGrp="1"/>
          </p:cNvSpPr>
          <p:nvPr/>
        </p:nvSpPr>
        <p:spPr>
          <a:xfrm>
            <a:off x="7715250" y="4143375"/>
            <a:ext cx="1619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MATRÍCULA</a:t>
            </a:r>
          </a:p>
        </p:txBody>
      </p:sp>
      <p:sp>
        <p:nvSpPr>
          <p:cNvPr id="26" name="students-top-rule">
            <a:extLst>
              <a:ext uri="{FF2B5EF4-FFF2-40B4-BE49-F238E27FC236}">
                <a16:creationId xmlns:a16="http://schemas.microsoft.com/office/drawing/2014/main" id="{A7922C15-D34B-4B95-9915-A3A8D77C7F79}"/>
              </a:ext>
            </a:extLst>
          </p:cNvPr>
          <p:cNvSpPr>
            <a:spLocks noGrp="1"/>
          </p:cNvSpPr>
          <p:nvPr/>
        </p:nvSpPr>
        <p:spPr>
          <a:xfrm>
            <a:off x="2857500" y="4381500"/>
            <a:ext cx="6477000" cy="0"/>
          </a:xfrm>
          <a:prstGeom prst="line">
            <a:avLst/>
          </a:prstGeom>
          <a:noFill/>
          <a:ln w="14288">
            <a:solidFill>
              <a:srgbClr val="0B3473"/>
            </a:solidFill>
            <a:prstDash val="solid"/>
          </a:ln>
        </p:spPr>
      </p:sp>
      <p:sp>
        <p:nvSpPr>
          <p:cNvPr id="28" name="students-row-divider">
            <a:extLst>
              <a:ext uri="{FF2B5EF4-FFF2-40B4-BE49-F238E27FC236}">
                <a16:creationId xmlns:a16="http://schemas.microsoft.com/office/drawing/2014/main" id="{0EBB92DB-59C3-4BDC-99A0-F2F4D93B78A4}"/>
              </a:ext>
            </a:extLst>
          </p:cNvPr>
          <p:cNvSpPr>
            <a:spLocks noGrp="1"/>
          </p:cNvSpPr>
          <p:nvPr/>
        </p:nvSpPr>
        <p:spPr>
          <a:xfrm>
            <a:off x="2857500" y="4800600"/>
            <a:ext cx="6477000" cy="0"/>
          </a:xfrm>
          <a:prstGeom prst="line">
            <a:avLst/>
          </a:prstGeom>
          <a:noFill/>
          <a:ln w="9525">
            <a:solidFill>
              <a:srgbClr val="DCEBFA"/>
            </a:solidFill>
            <a:prstDash val="solid"/>
          </a:ln>
        </p:spPr>
      </p:sp>
      <p:sp>
        <p:nvSpPr>
          <p:cNvPr id="29" name="students-column-divider">
            <a:extLst>
              <a:ext uri="{FF2B5EF4-FFF2-40B4-BE49-F238E27FC236}">
                <a16:creationId xmlns:a16="http://schemas.microsoft.com/office/drawing/2014/main" id="{D19BD447-A808-4FDA-A54C-331FE02FEA74}"/>
              </a:ext>
            </a:extLst>
          </p:cNvPr>
          <p:cNvSpPr>
            <a:spLocks noGrp="1"/>
          </p:cNvSpPr>
          <p:nvPr/>
        </p:nvSpPr>
        <p:spPr>
          <a:xfrm>
            <a:off x="7639050" y="4476750"/>
            <a:ext cx="0" cy="647700"/>
          </a:xfrm>
          <a:prstGeom prst="line">
            <a:avLst/>
          </a:prstGeom>
          <a:noFill/>
          <a:ln w="9525">
            <a:solidFill>
              <a:srgbClr val="9DB9DB"/>
            </a:solidFill>
            <a:prstDash val="solid"/>
          </a:ln>
        </p:spPr>
      </p:sp>
      <p:sp>
        <p:nvSpPr>
          <p:cNvPr id="30" name="student-row-one-marker">
            <a:extLst>
              <a:ext uri="{FF2B5EF4-FFF2-40B4-BE49-F238E27FC236}">
                <a16:creationId xmlns:a16="http://schemas.microsoft.com/office/drawing/2014/main" id="{4F497FA1-C313-4F3D-9493-840BF4D89598}"/>
              </a:ext>
            </a:extLst>
          </p:cNvPr>
          <p:cNvSpPr>
            <a:spLocks noGrp="1"/>
          </p:cNvSpPr>
          <p:nvPr/>
        </p:nvSpPr>
        <p:spPr>
          <a:xfrm>
            <a:off x="2876550" y="4486275"/>
            <a:ext cx="38100" cy="20955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34" name="student-two-name">
            <a:extLst>
              <a:ext uri="{FF2B5EF4-FFF2-40B4-BE49-F238E27FC236}">
                <a16:creationId xmlns:a16="http://schemas.microsoft.com/office/drawing/2014/main" id="{3EF7C761-CF7A-4E70-9E2B-16269734FC91}"/>
              </a:ext>
            </a:extLst>
          </p:cNvPr>
          <p:cNvSpPr>
            <a:spLocks noGrp="1"/>
          </p:cNvSpPr>
          <p:nvPr/>
        </p:nvSpPr>
        <p:spPr>
          <a:xfrm>
            <a:off x="3056554" y="4467225"/>
            <a:ext cx="433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02B5C"/>
                </a:solidFill>
                <a:latin typeface="Aptos"/>
                <a:ea typeface="Aptos"/>
                <a:cs typeface="Aptos"/>
              </a:rPr>
              <a:t>Amaury </a:t>
            </a:r>
            <a:r>
              <a:rPr lang="es-MX" sz="1500" b="0" dirty="0">
                <a:solidFill>
                  <a:srgbClr val="102B5C"/>
                </a:solidFill>
                <a:latin typeface="Aptos"/>
                <a:ea typeface="Aptos"/>
                <a:cs typeface="Aptos"/>
              </a:rPr>
              <a:t>Jahaziel</a:t>
            </a:r>
            <a:r>
              <a:rPr sz="1500" b="0" dirty="0">
                <a:solidFill>
                  <a:srgbClr val="102B5C"/>
                </a:solidFill>
                <a:latin typeface="Aptos"/>
                <a:ea typeface="Aptos"/>
                <a:cs typeface="Aptos"/>
              </a:rPr>
              <a:t> Gordillo Hernández</a:t>
            </a:r>
          </a:p>
        </p:txBody>
      </p:sp>
      <p:sp>
        <p:nvSpPr>
          <p:cNvPr id="35" name="student-two-id">
            <a:extLst>
              <a:ext uri="{FF2B5EF4-FFF2-40B4-BE49-F238E27FC236}">
                <a16:creationId xmlns:a16="http://schemas.microsoft.com/office/drawing/2014/main" id="{05E44B11-B863-4ECE-A2F6-C9964031DF71}"/>
              </a:ext>
            </a:extLst>
          </p:cNvPr>
          <p:cNvSpPr>
            <a:spLocks noGrp="1"/>
          </p:cNvSpPr>
          <p:nvPr/>
        </p:nvSpPr>
        <p:spPr>
          <a:xfrm>
            <a:off x="7791450" y="4438649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425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rgbClr val="102B5C"/>
                </a:solidFill>
                <a:latin typeface="Aptos"/>
                <a:ea typeface="Aptos"/>
                <a:cs typeface="Aptos"/>
              </a:rPr>
              <a:t>231260074</a:t>
            </a:r>
          </a:p>
        </p:txBody>
      </p:sp>
      <p:sp>
        <p:nvSpPr>
          <p:cNvPr id="36" name="teacher-heading">
            <a:extLst>
              <a:ext uri="{FF2B5EF4-FFF2-40B4-BE49-F238E27FC236}">
                <a16:creationId xmlns:a16="http://schemas.microsoft.com/office/drawing/2014/main" id="{F388D88D-A3F7-4DA5-9D23-808A58C08C1E}"/>
              </a:ext>
            </a:extLst>
          </p:cNvPr>
          <p:cNvSpPr>
            <a:spLocks noGrp="1"/>
          </p:cNvSpPr>
          <p:nvPr/>
        </p:nvSpPr>
        <p:spPr>
          <a:xfrm>
            <a:off x="4191000" y="5467350"/>
            <a:ext cx="38100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 dirty="0">
                <a:solidFill>
                  <a:srgbClr val="55739E"/>
                </a:solidFill>
                <a:latin typeface="Aptos Display"/>
                <a:ea typeface="Aptos Display"/>
                <a:cs typeface="Aptos Display"/>
              </a:rPr>
              <a:t>DOCENTE</a:t>
            </a:r>
          </a:p>
        </p:txBody>
      </p:sp>
      <p:sp>
        <p:nvSpPr>
          <p:cNvPr id="37" name="teacher-name">
            <a:extLst>
              <a:ext uri="{FF2B5EF4-FFF2-40B4-BE49-F238E27FC236}">
                <a16:creationId xmlns:a16="http://schemas.microsoft.com/office/drawing/2014/main" id="{AA678B21-6A90-4BCE-8092-FF0E0979DE5C}"/>
              </a:ext>
            </a:extLst>
          </p:cNvPr>
          <p:cNvSpPr>
            <a:spLocks noGrp="1"/>
          </p:cNvSpPr>
          <p:nvPr/>
        </p:nvSpPr>
        <p:spPr>
          <a:xfrm>
            <a:off x="2857500" y="5705475"/>
            <a:ext cx="647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effectLst/>
                <a:latin typeface="Aptos Display" panose="020B0004020202020204" pitchFamily="34" charset="0"/>
                <a:ea typeface="Arial" panose="020B0604020202020204" pitchFamily="34" charset="0"/>
              </a:rPr>
              <a:t>ING. FRANCISCO JAVIER MINGO VELAZQUEZ</a:t>
            </a:r>
            <a:endParaRPr lang="es-MX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8" name="footer-rule">
            <a:extLst>
              <a:ext uri="{FF2B5EF4-FFF2-40B4-BE49-F238E27FC236}">
                <a16:creationId xmlns:a16="http://schemas.microsoft.com/office/drawing/2014/main" id="{7C40688F-E9E3-4093-9368-ADED90666EB5}"/>
              </a:ext>
            </a:extLst>
          </p:cNvPr>
          <p:cNvSpPr>
            <a:spLocks noGrp="1"/>
          </p:cNvSpPr>
          <p:nvPr/>
        </p:nvSpPr>
        <p:spPr>
          <a:xfrm>
            <a:off x="1943100" y="6191250"/>
            <a:ext cx="8305800" cy="0"/>
          </a:xfrm>
          <a:prstGeom prst="line">
            <a:avLst/>
          </a:prstGeom>
          <a:noFill/>
          <a:ln w="11430">
            <a:solidFill>
              <a:srgbClr val="9DB9DB"/>
            </a:solidFill>
            <a:prstDash val="solid"/>
          </a:ln>
        </p:spPr>
      </p:sp>
      <p:sp>
        <p:nvSpPr>
          <p:cNvPr id="39" name="footer-rule-accent">
            <a:extLst>
              <a:ext uri="{FF2B5EF4-FFF2-40B4-BE49-F238E27FC236}">
                <a16:creationId xmlns:a16="http://schemas.microsoft.com/office/drawing/2014/main" id="{AA9604F1-D818-4EDE-AFC0-507B4EE53347}"/>
              </a:ext>
            </a:extLst>
          </p:cNvPr>
          <p:cNvSpPr>
            <a:spLocks noGrp="1"/>
          </p:cNvSpPr>
          <p:nvPr/>
        </p:nvSpPr>
        <p:spPr>
          <a:xfrm>
            <a:off x="5829300" y="6172200"/>
            <a:ext cx="533400" cy="381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0" name="date-location">
            <a:extLst>
              <a:ext uri="{FF2B5EF4-FFF2-40B4-BE49-F238E27FC236}">
                <a16:creationId xmlns:a16="http://schemas.microsoft.com/office/drawing/2014/main" id="{8EF49A72-4459-4AD1-9919-B580F4EB3D0A}"/>
              </a:ext>
            </a:extLst>
          </p:cNvPr>
          <p:cNvSpPr>
            <a:spLocks noGrp="1"/>
          </p:cNvSpPr>
          <p:nvPr/>
        </p:nvSpPr>
        <p:spPr>
          <a:xfrm>
            <a:off x="2476500" y="6372225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0" b="0">
                <a:solidFill>
                  <a:srgbClr val="0B3473"/>
                </a:solidFill>
                <a:latin typeface="Aptos"/>
                <a:ea typeface="Aptos"/>
                <a:cs typeface="Aptos"/>
              </a:defRPr>
            </a:pPr>
            <a:r>
              <a:rPr lang="es-MX" sz="1350" b="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23</a:t>
            </a:r>
            <a:r>
              <a:rPr sz="1350" b="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 DE </a:t>
            </a:r>
            <a:r>
              <a:rPr lang="es-MX" sz="135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AGOSTO</a:t>
            </a:r>
            <a:r>
              <a:rPr sz="1350" b="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 DE 2026  ·  VENUSTIANO CARRANZA, CHIAPAS</a:t>
            </a:r>
          </a:p>
        </p:txBody>
      </p:sp>
      <p:pic>
        <p:nvPicPr>
          <p:cNvPr id="42" name="Imagen 41" descr="Logotipo  Descripción generada automáticamente">
            <a:extLst>
              <a:ext uri="{FF2B5EF4-FFF2-40B4-BE49-F238E27FC236}">
                <a16:creationId xmlns:a16="http://schemas.microsoft.com/office/drawing/2014/main" id="{C832C076-5611-CE2C-8AB4-D7B23BE65D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576" y="128441"/>
            <a:ext cx="1834529" cy="809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0E0D8D0E-4895-4A51-BB71-ED7900ED1CE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619686" y="11882"/>
            <a:ext cx="1289022" cy="92628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activity-left-node">
            <a:extLst>
              <a:ext uri="{FF2B5EF4-FFF2-40B4-BE49-F238E27FC236}">
                <a16:creationId xmlns:a16="http://schemas.microsoft.com/office/drawing/2014/main" id="{AB38A2EA-B133-B170-0BFA-9B5674F0137F}"/>
              </a:ext>
            </a:extLst>
          </p:cNvPr>
          <p:cNvSpPr>
            <a:spLocks noGrp="1"/>
          </p:cNvSpPr>
          <p:nvPr/>
        </p:nvSpPr>
        <p:spPr>
          <a:xfrm>
            <a:off x="6053137" y="214850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4056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7A8B48FC-8148-4D5A-890B-2453631760FC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Introducción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2B57BE4-2359-498C-AF36-4291EEB68B1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B89F834-04E1-49F2-8D49-B670480CE005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02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314DBBA-1C82-4DA7-9010-0F5EC39FA538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7239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7201D"/>
                </a:solidFill>
              </a:defRPr>
            </a:pPr>
            <a:r>
              <a:rPr sz="2100" b="1">
                <a:solidFill>
                  <a:srgbClr val="17201D"/>
                </a:solidFill>
              </a:rPr>
              <a:t>Un analizador semántico comprueba que las instrucciones reconocidas por la gramática también sean coherentes por su significado y por los tipos de datos utilizados.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56F3FCC-58D7-45D7-B69A-054BAB4FE4C4}"/>
              </a:ext>
            </a:extLst>
          </p:cNvPr>
          <p:cNvSpPr>
            <a:spLocks noGrp="1"/>
          </p:cNvSpPr>
          <p:nvPr/>
        </p:nvSpPr>
        <p:spPr>
          <a:xfrm>
            <a:off x="781050" y="3143250"/>
            <a:ext cx="7239000" cy="1762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66716C"/>
                </a:solidFill>
              </a:defRPr>
            </a:pPr>
            <a:r>
              <a:rPr sz="1650" b="0">
                <a:solidFill>
                  <a:srgbClr val="66716C"/>
                </a:solidFill>
              </a:rPr>
              <a:t>En esta actividad se reutilizó el proyecto de la práctica anterior para resolver diez ejercicios. Los casos incluyen operaciones válidas, manejo de la tabla de símbolos y errores intencionales como declaraciones duplicadas, incompatibilidad de tipos, variables inexistentes y división entre cero.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B47AD44-CEE3-491A-BB90-14EE67FF8C7D}"/>
              </a:ext>
            </a:extLst>
          </p:cNvPr>
          <p:cNvSpPr>
            <a:spLocks noGrp="1"/>
          </p:cNvSpPr>
          <p:nvPr/>
        </p:nvSpPr>
        <p:spPr>
          <a:xfrm>
            <a:off x="8572500" y="1952625"/>
            <a:ext cx="2524125" cy="2857500"/>
          </a:xfrm>
          <a:prstGeom prst="roundRect">
            <a:avLst>
              <a:gd name="adj" fmla="val 6038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8C819A3-66A9-46AD-9280-348E673FC7F0}"/>
              </a:ext>
            </a:extLst>
          </p:cNvPr>
          <p:cNvSpPr>
            <a:spLocks noGrp="1"/>
          </p:cNvSpPr>
          <p:nvPr/>
        </p:nvSpPr>
        <p:spPr>
          <a:xfrm>
            <a:off x="8905875" y="2333625"/>
            <a:ext cx="185737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031C62-D79E-412A-A606-9C6A4D00C841}"/>
              </a:ext>
            </a:extLst>
          </p:cNvPr>
          <p:cNvSpPr>
            <a:spLocks noGrp="1"/>
          </p:cNvSpPr>
          <p:nvPr/>
        </p:nvSpPr>
        <p:spPr>
          <a:xfrm>
            <a:off x="8905875" y="3095625"/>
            <a:ext cx="1857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E8F0EC"/>
                </a:solidFill>
              </a:defRPr>
            </a:pPr>
            <a:r>
              <a:rPr sz="1725" b="1">
                <a:solidFill>
                  <a:srgbClr val="E8F0EC"/>
                </a:solidFill>
              </a:rPr>
              <a:t>ejercicios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AC9A7CD-2A36-4BBC-87C5-A199AE79E1B5}"/>
              </a:ext>
            </a:extLst>
          </p:cNvPr>
          <p:cNvSpPr>
            <a:spLocks noGrp="1"/>
          </p:cNvSpPr>
          <p:nvPr/>
        </p:nvSpPr>
        <p:spPr>
          <a:xfrm>
            <a:off x="8905875" y="3762375"/>
            <a:ext cx="18573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CFE0D7"/>
                </a:solidFill>
              </a:defRPr>
            </a:pPr>
            <a:r>
              <a:rPr sz="1800" b="1">
                <a:solidFill>
                  <a:srgbClr val="CFE0D7"/>
                </a:solidFill>
              </a:rPr>
              <a:t>5 válidos</a:t>
            </a:r>
          </a:p>
          <a:p>
            <a:pPr algn="ctr">
              <a:defRPr sz="1800" b="1">
                <a:solidFill>
                  <a:srgbClr val="CFE0D7"/>
                </a:solidFill>
              </a:defRPr>
            </a:pPr>
            <a:r>
              <a:rPr sz="1800" b="1">
                <a:solidFill>
                  <a:srgbClr val="CFE0D7"/>
                </a:solidFill>
              </a:rPr>
              <a:t>5 con errores</a:t>
            </a:r>
          </a:p>
        </p:txBody>
      </p:sp>
    </p:spTree>
    <p:extLst>
      <p:ext uri="{BB962C8B-B14F-4D97-AF65-F5344CB8AC3E}">
        <p14:creationId xmlns:p14="http://schemas.microsoft.com/office/powerpoint/2010/main" val="169874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10CBBE76-9DE0-4793-8BBA-FEA366102BEC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Justificación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9B1C807-F71E-425E-A5CE-F321E329FC6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84CADE8-3175-4C7F-BA02-05BB5A292CEE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03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FEA247C-1EC7-49F6-A7FD-2334D0E88058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4953000" cy="333375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06BACFB-55AF-4721-8E56-DEA0D0BE32A3}"/>
              </a:ext>
            </a:extLst>
          </p:cNvPr>
          <p:cNvSpPr>
            <a:spLocks noGrp="1"/>
          </p:cNvSpPr>
          <p:nvPr/>
        </p:nvSpPr>
        <p:spPr>
          <a:xfrm>
            <a:off x="1028700" y="2095500"/>
            <a:ext cx="4095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29483D"/>
                </a:solidFill>
              </a:defRPr>
            </a:pPr>
            <a:r>
              <a:rPr sz="2025" b="1">
                <a:solidFill>
                  <a:srgbClr val="29483D"/>
                </a:solidFill>
              </a:rPr>
              <a:t>¿Por qué elaborar el banco?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017D365-E5ED-4BD9-93C6-C6120B5EACCC}"/>
              </a:ext>
            </a:extLst>
          </p:cNvPr>
          <p:cNvSpPr>
            <a:spLocks noGrp="1"/>
          </p:cNvSpPr>
          <p:nvPr/>
        </p:nvSpPr>
        <p:spPr>
          <a:xfrm>
            <a:off x="1028700" y="2714625"/>
            <a:ext cx="4095750" cy="1857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7201D"/>
                </a:solidFill>
              </a:defRPr>
            </a:pPr>
            <a:r>
              <a:rPr sz="1650" b="0">
                <a:solidFill>
                  <a:srgbClr val="17201D"/>
                </a:solidFill>
              </a:rPr>
              <a:t>La ejecución de diferentes situaciones permite comprobar que el analizador no funciona únicamente con un ejemplo preparado. Cada ejercicio aísla una regla semántica y facilita observar cómo se registran los datos o cómo se informa una condición inválida.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E5AC186-5E08-4D76-981C-04F8D071BB3F}"/>
              </a:ext>
            </a:extLst>
          </p:cNvPr>
          <p:cNvSpPr>
            <a:spLocks noGrp="1"/>
          </p:cNvSpPr>
          <p:nvPr/>
        </p:nvSpPr>
        <p:spPr>
          <a:xfrm>
            <a:off x="6477000" y="1952625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La actividad permite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987BDED-EE54-4F6F-86EE-115B27607C6E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79BDBDF-6111-4765-9AB4-0A741303A283}"/>
              </a:ext>
            </a:extLst>
          </p:cNvPr>
          <p:cNvSpPr>
            <a:spLocks noGrp="1"/>
          </p:cNvSpPr>
          <p:nvPr/>
        </p:nvSpPr>
        <p:spPr>
          <a:xfrm>
            <a:off x="6715125" y="2619375"/>
            <a:ext cx="4238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Aplicar la teoría en casos concretos.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8D96EE83-D977-45E6-81BB-5EAE9DB02A7E}"/>
              </a:ext>
            </a:extLst>
          </p:cNvPr>
          <p:cNvSpPr>
            <a:spLocks noGrp="1"/>
          </p:cNvSpPr>
          <p:nvPr/>
        </p:nvSpPr>
        <p:spPr>
          <a:xfrm>
            <a:off x="6477000" y="34861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E4B28D5-BF3C-4DEF-AEC6-37DFE287D672}"/>
              </a:ext>
            </a:extLst>
          </p:cNvPr>
          <p:cNvSpPr>
            <a:spLocks noGrp="1"/>
          </p:cNvSpPr>
          <p:nvPr/>
        </p:nvSpPr>
        <p:spPr>
          <a:xfrm>
            <a:off x="6715125" y="3400425"/>
            <a:ext cx="4238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Distinguir programas válidos de instrucciones incorrectas.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F638F080-9C2E-4619-8A7E-DF5E6EDE69B1}"/>
              </a:ext>
            </a:extLst>
          </p:cNvPr>
          <p:cNvSpPr>
            <a:spLocks noGrp="1"/>
          </p:cNvSpPr>
          <p:nvPr/>
        </p:nvSpPr>
        <p:spPr>
          <a:xfrm>
            <a:off x="6477000" y="42672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9D38B33-9FDC-403B-939C-A94500A3F16A}"/>
              </a:ext>
            </a:extLst>
          </p:cNvPr>
          <p:cNvSpPr>
            <a:spLocks noGrp="1"/>
          </p:cNvSpPr>
          <p:nvPr/>
        </p:nvSpPr>
        <p:spPr>
          <a:xfrm>
            <a:off x="6715125" y="4181475"/>
            <a:ext cx="4238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Documentar resultados reproducibles mediante evidencias.</a:t>
            </a:r>
          </a:p>
        </p:txBody>
      </p:sp>
    </p:spTree>
    <p:extLst>
      <p:ext uri="{BB962C8B-B14F-4D97-AF65-F5344CB8AC3E}">
        <p14:creationId xmlns:p14="http://schemas.microsoft.com/office/powerpoint/2010/main" val="1210943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2618A7F2-53F4-4277-8FFB-2C1F8B5D4C1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Objetivo general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6489F8A-ED25-4B6B-A598-572DC8DCACA1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F82A85B-8FF1-4767-87FF-514D6480BF3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04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F40F2D-E970-4BB7-872A-F6AFC4E99A4A}"/>
              </a:ext>
            </a:extLst>
          </p:cNvPr>
          <p:cNvSpPr>
            <a:spLocks noGrp="1"/>
          </p:cNvSpPr>
          <p:nvPr/>
        </p:nvSpPr>
        <p:spPr>
          <a:xfrm>
            <a:off x="1285875" y="2047875"/>
            <a:ext cx="9620250" cy="2333625"/>
          </a:xfrm>
          <a:prstGeom prst="roundRect">
            <a:avLst>
              <a:gd name="adj" fmla="val 6531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5BF1A52-FB7F-419E-B965-44656BE52473}"/>
              </a:ext>
            </a:extLst>
          </p:cNvPr>
          <p:cNvSpPr>
            <a:spLocks noGrp="1"/>
          </p:cNvSpPr>
          <p:nvPr/>
        </p:nvSpPr>
        <p:spPr>
          <a:xfrm>
            <a:off x="1809750" y="2571750"/>
            <a:ext cx="8572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17201D"/>
                </a:solidFill>
              </a:defRPr>
            </a:pPr>
            <a:r>
              <a:rPr sz="2250" b="1">
                <a:solidFill>
                  <a:srgbClr val="17201D"/>
                </a:solidFill>
              </a:rPr>
              <a:t>Aplicar el analizador semántico desarrollado en Java para resolver diez ejercicios relacionados con declaraciones, expresiones, tipos de datos, tabla de símbolos y detección de errores semánticos.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3CC793A-C0F2-40B4-9BB9-DE76771807E9}"/>
              </a:ext>
            </a:extLst>
          </p:cNvPr>
          <p:cNvSpPr>
            <a:spLocks noGrp="1"/>
          </p:cNvSpPr>
          <p:nvPr/>
        </p:nvSpPr>
        <p:spPr>
          <a:xfrm>
            <a:off x="2047875" y="4905375"/>
            <a:ext cx="809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66716C"/>
                </a:solidFill>
              </a:defRPr>
            </a:pPr>
            <a:r>
              <a:rPr sz="1650" b="0" dirty="0">
                <a:solidFill>
                  <a:srgbClr val="66716C"/>
                </a:solidFill>
              </a:rPr>
              <a:t>El </a:t>
            </a:r>
            <a:r>
              <a:rPr sz="1650" b="0" dirty="0" err="1">
                <a:solidFill>
                  <a:srgbClr val="66716C"/>
                </a:solidFill>
              </a:rPr>
              <a:t>cumplimiento</a:t>
            </a:r>
            <a:r>
              <a:rPr sz="1650" b="0" dirty="0">
                <a:solidFill>
                  <a:srgbClr val="66716C"/>
                </a:solidFill>
              </a:rPr>
              <a:t> se </a:t>
            </a:r>
            <a:r>
              <a:rPr sz="1650" b="0" dirty="0" err="1">
                <a:solidFill>
                  <a:srgbClr val="66716C"/>
                </a:solidFill>
              </a:rPr>
              <a:t>verificó</a:t>
            </a:r>
            <a:r>
              <a:rPr sz="1650" b="0" dirty="0">
                <a:solidFill>
                  <a:srgbClr val="66716C"/>
                </a:solidFill>
              </a:rPr>
              <a:t> </a:t>
            </a:r>
            <a:r>
              <a:rPr sz="1650" b="0" dirty="0" err="1">
                <a:solidFill>
                  <a:srgbClr val="66716C"/>
                </a:solidFill>
              </a:rPr>
              <a:t>mediante</a:t>
            </a:r>
            <a:r>
              <a:rPr sz="1650" b="0" dirty="0">
                <a:solidFill>
                  <a:srgbClr val="66716C"/>
                </a:solidFill>
              </a:rPr>
              <a:t> </a:t>
            </a:r>
            <a:r>
              <a:rPr sz="1650" b="0" dirty="0" err="1">
                <a:solidFill>
                  <a:srgbClr val="66716C"/>
                </a:solidFill>
              </a:rPr>
              <a:t>ejecuciones</a:t>
            </a:r>
            <a:r>
              <a:rPr sz="1650" b="0" dirty="0">
                <a:solidFill>
                  <a:srgbClr val="66716C"/>
                </a:solidFill>
              </a:rPr>
              <a:t> </a:t>
            </a:r>
            <a:r>
              <a:rPr sz="1650" b="0" dirty="0" err="1">
                <a:solidFill>
                  <a:srgbClr val="66716C"/>
                </a:solidFill>
              </a:rPr>
              <a:t>documentadas</a:t>
            </a:r>
            <a:r>
              <a:rPr sz="1650" b="0" dirty="0">
                <a:solidFill>
                  <a:srgbClr val="66716C"/>
                </a:solidFill>
              </a:rPr>
              <a:t> </a:t>
            </a:r>
            <a:r>
              <a:rPr sz="1650" b="0" dirty="0" err="1">
                <a:solidFill>
                  <a:srgbClr val="66716C"/>
                </a:solidFill>
              </a:rPr>
              <a:t>en</a:t>
            </a:r>
            <a:r>
              <a:rPr sz="1650" b="0" dirty="0">
                <a:solidFill>
                  <a:srgbClr val="66716C"/>
                </a:solidFill>
              </a:rPr>
              <a:t> Visual Studio Code.</a:t>
            </a:r>
          </a:p>
        </p:txBody>
      </p:sp>
    </p:spTree>
    <p:extLst>
      <p:ext uri="{BB962C8B-B14F-4D97-AF65-F5344CB8AC3E}">
        <p14:creationId xmlns:p14="http://schemas.microsoft.com/office/powerpoint/2010/main" val="1186852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7000EC39-874B-4340-BDD9-8E9DFF8043DD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Objetivos específicos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C2559A1-46A5-444B-AE0D-F8369D2A582C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B5C75A6-F984-4274-BD0C-475CAB772D48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05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61905E8B-A6F9-4296-B777-EAFBE420D992}"/>
              </a:ext>
            </a:extLst>
          </p:cNvPr>
          <p:cNvSpPr>
            <a:spLocks noGrp="1"/>
          </p:cNvSpPr>
          <p:nvPr/>
        </p:nvSpPr>
        <p:spPr>
          <a:xfrm>
            <a:off x="1095375" y="18478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D53EE94-F696-47FF-BD84-C529992B202A}"/>
              </a:ext>
            </a:extLst>
          </p:cNvPr>
          <p:cNvSpPr>
            <a:spLocks noGrp="1"/>
          </p:cNvSpPr>
          <p:nvPr/>
        </p:nvSpPr>
        <p:spPr>
          <a:xfrm>
            <a:off x="1333500" y="1762125"/>
            <a:ext cx="9572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Ejecutar diez entradas diferentes con el mismo analizador semántico.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CC41671-7081-4C4E-AE28-AA49D247E03F}"/>
              </a:ext>
            </a:extLst>
          </p:cNvPr>
          <p:cNvSpPr>
            <a:spLocks noGrp="1"/>
          </p:cNvSpPr>
          <p:nvPr/>
        </p:nvSpPr>
        <p:spPr>
          <a:xfrm>
            <a:off x="1095375" y="26289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011AE54-50E2-4E10-A6C3-22A4F81588EF}"/>
              </a:ext>
            </a:extLst>
          </p:cNvPr>
          <p:cNvSpPr>
            <a:spLocks noGrp="1"/>
          </p:cNvSpPr>
          <p:nvPr/>
        </p:nvSpPr>
        <p:spPr>
          <a:xfrm>
            <a:off x="1333500" y="2543175"/>
            <a:ext cx="9572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Comprobar la prioridad de operadores y la compatibilidad entre int y float.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BCD714F7-8E49-4055-84C3-8D7A3686B481}"/>
              </a:ext>
            </a:extLst>
          </p:cNvPr>
          <p:cNvSpPr>
            <a:spLocks noGrp="1"/>
          </p:cNvSpPr>
          <p:nvPr/>
        </p:nvSpPr>
        <p:spPr>
          <a:xfrm>
            <a:off x="1095375" y="34099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D069210-D345-4994-AC9E-33A3E3B8C0E0}"/>
              </a:ext>
            </a:extLst>
          </p:cNvPr>
          <p:cNvSpPr>
            <a:spLocks noGrp="1"/>
          </p:cNvSpPr>
          <p:nvPr/>
        </p:nvSpPr>
        <p:spPr>
          <a:xfrm>
            <a:off x="1333500" y="3324225"/>
            <a:ext cx="9572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Observar el registro de identificadores, tipos, direcciones y valores.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150A567-F0D1-4319-A5A1-B28EB7EF89DB}"/>
              </a:ext>
            </a:extLst>
          </p:cNvPr>
          <p:cNvSpPr>
            <a:spLocks noGrp="1"/>
          </p:cNvSpPr>
          <p:nvPr/>
        </p:nvSpPr>
        <p:spPr>
          <a:xfrm>
            <a:off x="1095375" y="41910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0077CFA-2C26-4E95-91FB-DBF2606F09F0}"/>
              </a:ext>
            </a:extLst>
          </p:cNvPr>
          <p:cNvSpPr>
            <a:spLocks noGrp="1"/>
          </p:cNvSpPr>
          <p:nvPr/>
        </p:nvSpPr>
        <p:spPr>
          <a:xfrm>
            <a:off x="1333500" y="4105275"/>
            <a:ext cx="9572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Detectar variables duplicadas, inexistentes y asignaciones incompatibles.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39F350-42FB-4529-B032-FB6BA27CA822}"/>
              </a:ext>
            </a:extLst>
          </p:cNvPr>
          <p:cNvSpPr>
            <a:spLocks noGrp="1"/>
          </p:cNvSpPr>
          <p:nvPr/>
        </p:nvSpPr>
        <p:spPr>
          <a:xfrm>
            <a:off x="1095375" y="49720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641E8B5-F2D6-460E-8ABA-AFF251C45DB1}"/>
              </a:ext>
            </a:extLst>
          </p:cNvPr>
          <p:cNvSpPr>
            <a:spLocks noGrp="1"/>
          </p:cNvSpPr>
          <p:nvPr/>
        </p:nvSpPr>
        <p:spPr>
          <a:xfrm>
            <a:off x="1333500" y="4886325"/>
            <a:ext cx="9572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Interpretar y documentar el resultado obtenido en cada ejercicio.</a:t>
            </a:r>
          </a:p>
        </p:txBody>
      </p:sp>
    </p:spTree>
    <p:extLst>
      <p:ext uri="{BB962C8B-B14F-4D97-AF65-F5344CB8AC3E}">
        <p14:creationId xmlns:p14="http://schemas.microsoft.com/office/powerpoint/2010/main" val="99258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190EA12D-CFEB-467F-9CC0-72638BD929A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Marco teórico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09CD125-D596-4FCE-8158-02BBEFA1CC66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8CABB49-90B3-42EB-A0B9-CB1C5FA87AFE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CE68E80-A0C5-486B-BAF0-FFC2A4AABB29}"/>
              </a:ext>
            </a:extLst>
          </p:cNvPr>
          <p:cNvSpPr>
            <a:spLocks noGrp="1"/>
          </p:cNvSpPr>
          <p:nvPr/>
        </p:nvSpPr>
        <p:spPr>
          <a:xfrm>
            <a:off x="685800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EC5A57D-DE11-4CAF-B8A9-64536559C30C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E13973-1915-4068-8D23-B68E423580AD}"/>
              </a:ext>
            </a:extLst>
          </p:cNvPr>
          <p:cNvSpPr>
            <a:spLocks noGrp="1"/>
          </p:cNvSpPr>
          <p:nvPr/>
        </p:nvSpPr>
        <p:spPr>
          <a:xfrm>
            <a:off x="952500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Análisis semántico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B28044E-F8A2-4A20-A38F-E436C03763BD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Comprueba reglas que no pueden decidirse únicamente con la estructura gramatical, como el uso válido de identificadores.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E0275AE-107D-4462-8E5B-A74E5C3A13F9}"/>
              </a:ext>
            </a:extLst>
          </p:cNvPr>
          <p:cNvSpPr>
            <a:spLocks noGrp="1"/>
          </p:cNvSpPr>
          <p:nvPr/>
        </p:nvSpPr>
        <p:spPr>
          <a:xfrm>
            <a:off x="4200525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DDE7E1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A37D48-759C-4C64-AA66-04981DE17CA8}"/>
              </a:ext>
            </a:extLst>
          </p:cNvPr>
          <p:cNvSpPr>
            <a:spLocks noGrp="1"/>
          </p:cNvSpPr>
          <p:nvPr/>
        </p:nvSpPr>
        <p:spPr>
          <a:xfrm>
            <a:off x="4467225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0CF2CC-9444-4418-B583-21CF24D6F258}"/>
              </a:ext>
            </a:extLst>
          </p:cNvPr>
          <p:cNvSpPr>
            <a:spLocks noGrp="1"/>
          </p:cNvSpPr>
          <p:nvPr/>
        </p:nvSpPr>
        <p:spPr>
          <a:xfrm>
            <a:off x="4467225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Tabla de símbolos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BFEA43A-299D-4272-9E4A-FB945A246854}"/>
              </a:ext>
            </a:extLst>
          </p:cNvPr>
          <p:cNvSpPr>
            <a:spLocks noGrp="1"/>
          </p:cNvSpPr>
          <p:nvPr/>
        </p:nvSpPr>
        <p:spPr>
          <a:xfrm>
            <a:off x="4467225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Conserva nombre, tipo, ámbito, dirección y valor para consultar cada variable durante el análisis.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D6D137-BE8C-4442-986C-D45EFC249B8D}"/>
              </a:ext>
            </a:extLst>
          </p:cNvPr>
          <p:cNvSpPr>
            <a:spLocks noGrp="1"/>
          </p:cNvSpPr>
          <p:nvPr/>
        </p:nvSpPr>
        <p:spPr>
          <a:xfrm>
            <a:off x="7715250" y="1857375"/>
            <a:ext cx="3105150" cy="3238500"/>
          </a:xfrm>
          <a:prstGeom prst="roundRect">
            <a:avLst>
              <a:gd name="adj" fmla="val 4908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3F0B817-FDCF-4DDB-AF3F-6D24DB77C65A}"/>
              </a:ext>
            </a:extLst>
          </p:cNvPr>
          <p:cNvSpPr>
            <a:spLocks noGrp="1"/>
          </p:cNvSpPr>
          <p:nvPr/>
        </p:nvSpPr>
        <p:spPr>
          <a:xfrm>
            <a:off x="7981950" y="2095500"/>
            <a:ext cx="428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B230385-4DFF-4C82-8C26-ECAB92903301}"/>
              </a:ext>
            </a:extLst>
          </p:cNvPr>
          <p:cNvSpPr>
            <a:spLocks noGrp="1"/>
          </p:cNvSpPr>
          <p:nvPr/>
        </p:nvSpPr>
        <p:spPr>
          <a:xfrm>
            <a:off x="7981950" y="2571750"/>
            <a:ext cx="2571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Compatibilidad de tipos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B308B67-2FCB-4337-A8A2-156583393747}"/>
              </a:ext>
            </a:extLst>
          </p:cNvPr>
          <p:cNvSpPr>
            <a:spLocks noGrp="1"/>
          </p:cNvSpPr>
          <p:nvPr/>
        </p:nvSpPr>
        <p:spPr>
          <a:xfrm>
            <a:off x="7981950" y="3476625"/>
            <a:ext cx="2571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6716C"/>
                </a:solidFill>
              </a:defRPr>
            </a:pPr>
            <a:r>
              <a:rPr sz="1500" b="0">
                <a:solidFill>
                  <a:srgbClr val="66716C"/>
                </a:solidFill>
              </a:rPr>
              <a:t>Determina si el resultado de una expresión puede almacenarse en la variable de destino sin violar sus reglas.</a:t>
            </a:r>
          </a:p>
        </p:txBody>
      </p:sp>
    </p:spTree>
    <p:extLst>
      <p:ext uri="{BB962C8B-B14F-4D97-AF65-F5344CB8AC3E}">
        <p14:creationId xmlns:p14="http://schemas.microsoft.com/office/powerpoint/2010/main" val="1503304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3185ACE8-0D8F-4271-82DF-8CA5A578DA61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Materiales y herramientas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2F13897-F208-4655-8881-E796DC526EEA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F8B7721-2BBB-4C4F-833E-D3B79F51997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07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94BBDEBA-6780-43B9-9300-4CA1DBDB2F81}"/>
              </a:ext>
            </a:extLst>
          </p:cNvPr>
          <p:cNvSpPr>
            <a:spLocks noGrp="1"/>
          </p:cNvSpPr>
          <p:nvPr/>
        </p:nvSpPr>
        <p:spPr>
          <a:xfrm>
            <a:off x="781050" y="26289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7D3255B-2E73-489E-8064-D651ABF86661}"/>
              </a:ext>
            </a:extLst>
          </p:cNvPr>
          <p:cNvSpPr>
            <a:spLocks noGrp="1"/>
          </p:cNvSpPr>
          <p:nvPr/>
        </p:nvSpPr>
        <p:spPr>
          <a:xfrm>
            <a:off x="1019175" y="2543175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JDK 17 de Eclipse Adoptium.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3A4EC07-EBBE-45DE-A0DE-011FA2485E10}"/>
              </a:ext>
            </a:extLst>
          </p:cNvPr>
          <p:cNvSpPr>
            <a:spLocks noGrp="1"/>
          </p:cNvSpPr>
          <p:nvPr/>
        </p:nvSpPr>
        <p:spPr>
          <a:xfrm>
            <a:off x="781050" y="336232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CFC3E5A-45A3-41DE-82CC-FA283F1933BC}"/>
              </a:ext>
            </a:extLst>
          </p:cNvPr>
          <p:cNvSpPr>
            <a:spLocks noGrp="1"/>
          </p:cNvSpPr>
          <p:nvPr/>
        </p:nvSpPr>
        <p:spPr>
          <a:xfrm>
            <a:off x="1019175" y="3276600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Visual Studio Code con soporte para Java.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19EDC58-237A-4C69-BF09-00AB3D2382EF}"/>
              </a:ext>
            </a:extLst>
          </p:cNvPr>
          <p:cNvSpPr>
            <a:spLocks noGrp="1"/>
          </p:cNvSpPr>
          <p:nvPr/>
        </p:nvSpPr>
        <p:spPr>
          <a:xfrm>
            <a:off x="781050" y="409575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2C78D58-C64F-4765-B3B8-4A6D60FD3D53}"/>
              </a:ext>
            </a:extLst>
          </p:cNvPr>
          <p:cNvSpPr>
            <a:spLocks noGrp="1"/>
          </p:cNvSpPr>
          <p:nvPr/>
        </p:nvSpPr>
        <p:spPr>
          <a:xfrm>
            <a:off x="1019175" y="4010025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Maven para compilar y ejecutar el proyecto.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45D2A9D-F234-4F1F-B438-3572509A3A61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3A8BB04-CC52-4BDF-B7F0-571BC7C19FDD}"/>
              </a:ext>
            </a:extLst>
          </p:cNvPr>
          <p:cNvSpPr>
            <a:spLocks noGrp="1"/>
          </p:cNvSpPr>
          <p:nvPr/>
        </p:nvSpPr>
        <p:spPr>
          <a:xfrm>
            <a:off x="1019175" y="4743450"/>
            <a:ext cx="53816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Proyecto AnalizadorSemantico de la actividad 1.2.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0743520-26EA-4CF7-97E6-D499DD300157}"/>
              </a:ext>
            </a:extLst>
          </p:cNvPr>
          <p:cNvSpPr>
            <a:spLocks noGrp="1"/>
          </p:cNvSpPr>
          <p:nvPr/>
        </p:nvSpPr>
        <p:spPr>
          <a:xfrm>
            <a:off x="7239000" y="1952625"/>
            <a:ext cx="3524250" cy="2857500"/>
          </a:xfrm>
          <a:prstGeom prst="roundRect">
            <a:avLst>
              <a:gd name="adj" fmla="val 5333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487E759-4EF0-4B21-9C09-B519C35504DB}"/>
              </a:ext>
            </a:extLst>
          </p:cNvPr>
          <p:cNvSpPr>
            <a:spLocks noGrp="1"/>
          </p:cNvSpPr>
          <p:nvPr/>
        </p:nvSpPr>
        <p:spPr>
          <a:xfrm>
            <a:off x="7620000" y="22860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Elementos añadidos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409FDB6-C6E7-4E77-8160-1405ED270D8D}"/>
              </a:ext>
            </a:extLst>
          </p:cNvPr>
          <p:cNvSpPr>
            <a:spLocks noGrp="1"/>
          </p:cNvSpPr>
          <p:nvPr/>
        </p:nvSpPr>
        <p:spPr>
          <a:xfrm>
            <a:off x="7667625" y="2952750"/>
            <a:ext cx="2667000" cy="1476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E8F0EC"/>
                </a:solidFill>
              </a:defRPr>
            </a:pPr>
            <a:r>
              <a:rPr sz="1875" b="1">
                <a:solidFill>
                  <a:srgbClr val="E8F0EC"/>
                </a:solidFill>
              </a:rPr>
              <a:t>BancoEjercicios.java</a:t>
            </a:r>
          </a:p>
          <a:p>
            <a:pPr algn="ctr">
              <a:defRPr sz="1875" b="1">
                <a:solidFill>
                  <a:srgbClr val="E8F0EC"/>
                </a:solidFill>
              </a:defRPr>
            </a:pPr>
            <a:r>
              <a:rPr sz="1875" b="1">
                <a:solidFill>
                  <a:srgbClr val="E8F0EC"/>
                </a:solidFill>
              </a:rPr>
              <a:t>10 archivos .txt</a:t>
            </a:r>
          </a:p>
          <a:p>
            <a:pPr algn="ctr">
              <a:defRPr sz="1875" b="1">
                <a:solidFill>
                  <a:srgbClr val="E8F0EC"/>
                </a:solidFill>
              </a:defRPr>
            </a:pPr>
            <a:r>
              <a:rPr sz="1875" b="1">
                <a:solidFill>
                  <a:srgbClr val="E8F0EC"/>
                </a:solidFill>
              </a:rPr>
              <a:t>Menú de selección</a:t>
            </a:r>
          </a:p>
          <a:p>
            <a:pPr algn="ctr">
              <a:defRPr sz="1875" b="1">
                <a:solidFill>
                  <a:srgbClr val="E8F0EC"/>
                </a:solidFill>
              </a:defRPr>
            </a:pPr>
            <a:r>
              <a:rPr sz="1875" b="1">
                <a:solidFill>
                  <a:srgbClr val="E8F0EC"/>
                </a:solidFill>
              </a:rPr>
              <a:t>Guía de ejecución</a:t>
            </a:r>
          </a:p>
        </p:txBody>
      </p:sp>
    </p:spTree>
    <p:extLst>
      <p:ext uri="{BB962C8B-B14F-4D97-AF65-F5344CB8AC3E}">
        <p14:creationId xmlns:p14="http://schemas.microsoft.com/office/powerpoint/2010/main" val="1656528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C64A4212-43E4-47AB-AB20-C68FCD6F210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Planteamiento de la actividad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5E630FC-46BB-4204-94B8-6F8239A691AF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37AC8A8-8E79-43D7-B233-07AA127CF174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08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6B20A3E-636A-4115-B37C-52E40FEBC7EE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1000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El banco debe demostrar que el analizador responde de manera consistente ante entradas correctas y ante errores semánticos preparados.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CAAF229-F9B4-4CB4-B415-B4FD234453DB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4857750" cy="2238375"/>
          </a:xfrm>
          <a:prstGeom prst="roundRect">
            <a:avLst>
              <a:gd name="adj" fmla="val 5106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A2E77AE-D11E-424D-8BFA-7B7C8CBF7E56}"/>
              </a:ext>
            </a:extLst>
          </p:cNvPr>
          <p:cNvSpPr>
            <a:spLocks noGrp="1"/>
          </p:cNvSpPr>
          <p:nvPr/>
        </p:nvSpPr>
        <p:spPr>
          <a:xfrm>
            <a:off x="1095375" y="31623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9483D"/>
                </a:solidFill>
              </a:defRPr>
            </a:pPr>
            <a:r>
              <a:rPr sz="1800" b="1">
                <a:solidFill>
                  <a:srgbClr val="29483D"/>
                </a:solidFill>
              </a:rPr>
              <a:t>Casos semánticamente válidos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1BE8828-DEFF-4783-B4F5-74AC37965268}"/>
              </a:ext>
            </a:extLst>
          </p:cNvPr>
          <p:cNvSpPr>
            <a:spLocks noGrp="1"/>
          </p:cNvSpPr>
          <p:nvPr/>
        </p:nvSpPr>
        <p:spPr>
          <a:xfrm>
            <a:off x="1095375" y="381952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9EB5027-B51D-47E9-95F7-74EB56A169C6}"/>
              </a:ext>
            </a:extLst>
          </p:cNvPr>
          <p:cNvSpPr>
            <a:spLocks noGrp="1"/>
          </p:cNvSpPr>
          <p:nvPr/>
        </p:nvSpPr>
        <p:spPr>
          <a:xfrm>
            <a:off x="1333500" y="373380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Tabla de símbolos.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F86DEF3-3ACD-4915-8BC9-62F74ECB49A0}"/>
              </a:ext>
            </a:extLst>
          </p:cNvPr>
          <p:cNvSpPr>
            <a:spLocks noGrp="1"/>
          </p:cNvSpPr>
          <p:nvPr/>
        </p:nvSpPr>
        <p:spPr>
          <a:xfrm>
            <a:off x="1095375" y="43434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44455E0-B4D2-47E1-B846-32A78A1649A2}"/>
              </a:ext>
            </a:extLst>
          </p:cNvPr>
          <p:cNvSpPr>
            <a:spLocks noGrp="1"/>
          </p:cNvSpPr>
          <p:nvPr/>
        </p:nvSpPr>
        <p:spPr>
          <a:xfrm>
            <a:off x="1333500" y="4257675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Operaciones aritméticas y promoción de tipos.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064A4E2-C480-4E85-AAF5-7693A57D50D1}"/>
              </a:ext>
            </a:extLst>
          </p:cNvPr>
          <p:cNvSpPr>
            <a:spLocks noGrp="1"/>
          </p:cNvSpPr>
          <p:nvPr/>
        </p:nvSpPr>
        <p:spPr>
          <a:xfrm>
            <a:off x="1095375" y="48672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5BBB366-4F3A-4562-9ACC-FD353C703B58}"/>
              </a:ext>
            </a:extLst>
          </p:cNvPr>
          <p:cNvSpPr>
            <a:spLocks noGrp="1"/>
          </p:cNvSpPr>
          <p:nvPr/>
        </p:nvSpPr>
        <p:spPr>
          <a:xfrm>
            <a:off x="1333500" y="478155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Concatenación y caso integrador.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906473DA-1E2A-420B-8635-509C0C0DBBB3}"/>
              </a:ext>
            </a:extLst>
          </p:cNvPr>
          <p:cNvSpPr>
            <a:spLocks noGrp="1"/>
          </p:cNvSpPr>
          <p:nvPr/>
        </p:nvSpPr>
        <p:spPr>
          <a:xfrm>
            <a:off x="6381750" y="2857500"/>
            <a:ext cx="4857750" cy="2238375"/>
          </a:xfrm>
          <a:prstGeom prst="roundRect">
            <a:avLst>
              <a:gd name="adj" fmla="val 5106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33BB288-FC50-4131-9C5C-9BB4AE53CFC3}"/>
              </a:ext>
            </a:extLst>
          </p:cNvPr>
          <p:cNvSpPr>
            <a:spLocks noGrp="1"/>
          </p:cNvSpPr>
          <p:nvPr/>
        </p:nvSpPr>
        <p:spPr>
          <a:xfrm>
            <a:off x="6696075" y="31623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9B403B"/>
                </a:solidFill>
              </a:defRPr>
            </a:pPr>
            <a:r>
              <a:rPr sz="1800" b="1">
                <a:solidFill>
                  <a:srgbClr val="9B403B"/>
                </a:solidFill>
              </a:rPr>
              <a:t>Casos con errores controlados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6AD6C79-539F-4A3E-8E96-A8DBBDD8A6CE}"/>
              </a:ext>
            </a:extLst>
          </p:cNvPr>
          <p:cNvSpPr>
            <a:spLocks noGrp="1"/>
          </p:cNvSpPr>
          <p:nvPr/>
        </p:nvSpPr>
        <p:spPr>
          <a:xfrm>
            <a:off x="6696075" y="381952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B7CFCAA-AD9F-47F8-A824-11F831EE3182}"/>
              </a:ext>
            </a:extLst>
          </p:cNvPr>
          <p:cNvSpPr>
            <a:spLocks noGrp="1"/>
          </p:cNvSpPr>
          <p:nvPr/>
        </p:nvSpPr>
        <p:spPr>
          <a:xfrm>
            <a:off x="6934200" y="373380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Declaraciones o variables incorrectas.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5A5E07FB-DDE0-464A-B78F-D4C17C787332}"/>
              </a:ext>
            </a:extLst>
          </p:cNvPr>
          <p:cNvSpPr>
            <a:spLocks noGrp="1"/>
          </p:cNvSpPr>
          <p:nvPr/>
        </p:nvSpPr>
        <p:spPr>
          <a:xfrm>
            <a:off x="6696075" y="4343400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0C01557-7D74-48DB-8681-F1C7AC1C1BD1}"/>
              </a:ext>
            </a:extLst>
          </p:cNvPr>
          <p:cNvSpPr>
            <a:spLocks noGrp="1"/>
          </p:cNvSpPr>
          <p:nvPr/>
        </p:nvSpPr>
        <p:spPr>
          <a:xfrm>
            <a:off x="6934200" y="4257675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Asignaciones incompatibles.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A4F49F4-DDF6-48B9-BADE-9233E83817C2}"/>
              </a:ext>
            </a:extLst>
          </p:cNvPr>
          <p:cNvSpPr>
            <a:spLocks noGrp="1"/>
          </p:cNvSpPr>
          <p:nvPr/>
        </p:nvSpPr>
        <p:spPr>
          <a:xfrm>
            <a:off x="6696075" y="48672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A798795-42EF-4EEB-9743-98FA2A7909A5}"/>
              </a:ext>
            </a:extLst>
          </p:cNvPr>
          <p:cNvSpPr>
            <a:spLocks noGrp="1"/>
          </p:cNvSpPr>
          <p:nvPr/>
        </p:nvSpPr>
        <p:spPr>
          <a:xfrm>
            <a:off x="6934200" y="4781550"/>
            <a:ext cx="37623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División entre cero y errores múltiples.</a:t>
            </a:r>
          </a:p>
        </p:txBody>
      </p:sp>
    </p:spTree>
    <p:extLst>
      <p:ext uri="{BB962C8B-B14F-4D97-AF65-F5344CB8AC3E}">
        <p14:creationId xmlns:p14="http://schemas.microsoft.com/office/powerpoint/2010/main" val="1068958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037F2651-680D-4050-A936-AB7D3995936D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Organización del proyecto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12B47DA-8C44-4F09-BF56-7851FB896F7E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4E5B942-016B-4C8B-98E9-0D20A5051CF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09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733B2E-5401-4ED6-82DE-6D4429DC1D69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9715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La actividad 1.3 amplía el proyecto sin reemplazar la lógica utilizada en la práctica anterior.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32C9336-FE67-4F13-883D-86733CA2E498}"/>
              </a:ext>
            </a:extLst>
          </p:cNvPr>
          <p:cNvSpPr>
            <a:spLocks noGrp="1"/>
          </p:cNvSpPr>
          <p:nvPr/>
        </p:nvSpPr>
        <p:spPr>
          <a:xfrm>
            <a:off x="781050" y="2619375"/>
            <a:ext cx="10572750" cy="2619375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F06225E-62A1-48E8-8F25-C67A3AA0DC79}"/>
              </a:ext>
            </a:extLst>
          </p:cNvPr>
          <p:cNvSpPr>
            <a:spLocks noGrp="1"/>
          </p:cNvSpPr>
          <p:nvPr/>
        </p:nvSpPr>
        <p:spPr>
          <a:xfrm>
            <a:off x="1095375" y="29527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29483D"/>
                </a:solidFill>
              </a:defRPr>
            </a:pPr>
            <a:r>
              <a:rPr sz="1725" b="1">
                <a:solidFill>
                  <a:srgbClr val="29483D"/>
                </a:solidFill>
              </a:rPr>
              <a:t>Código existente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BF017CF-A71F-446E-8CF6-49E900305AA3}"/>
              </a:ext>
            </a:extLst>
          </p:cNvPr>
          <p:cNvSpPr>
            <a:spLocks noGrp="1"/>
          </p:cNvSpPr>
          <p:nvPr/>
        </p:nvSpPr>
        <p:spPr>
          <a:xfrm>
            <a:off x="1095375" y="3429000"/>
            <a:ext cx="3048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Main.java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AnalizadorSemantico.java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AnalizadorExpresiones.java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TablaSimbolos.java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3877F1B-AFA6-4C0C-9B5A-0279CC006562}"/>
              </a:ext>
            </a:extLst>
          </p:cNvPr>
          <p:cNvSpPr>
            <a:spLocks noGrp="1"/>
          </p:cNvSpPr>
          <p:nvPr/>
        </p:nvSpPr>
        <p:spPr>
          <a:xfrm>
            <a:off x="4810125" y="29527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29483D"/>
                </a:solidFill>
              </a:defRPr>
            </a:pPr>
            <a:r>
              <a:rPr sz="1725" b="1">
                <a:solidFill>
                  <a:srgbClr val="29483D"/>
                </a:solidFill>
              </a:rPr>
              <a:t>Nueva actividad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843649C-F011-4F48-9CD6-91861E268FDD}"/>
              </a:ext>
            </a:extLst>
          </p:cNvPr>
          <p:cNvSpPr>
            <a:spLocks noGrp="1"/>
          </p:cNvSpPr>
          <p:nvPr/>
        </p:nvSpPr>
        <p:spPr>
          <a:xfrm>
            <a:off x="4810125" y="3429000"/>
            <a:ext cx="28575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BancoEjercicios.java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Menú del 1 al 10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Selección del archivo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C555297-CB76-49B8-B56F-2336A1D0A014}"/>
              </a:ext>
            </a:extLst>
          </p:cNvPr>
          <p:cNvSpPr>
            <a:spLocks noGrp="1"/>
          </p:cNvSpPr>
          <p:nvPr/>
        </p:nvSpPr>
        <p:spPr>
          <a:xfrm>
            <a:off x="8334375" y="29527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29483D"/>
                </a:solidFill>
              </a:defRPr>
            </a:pPr>
            <a:r>
              <a:rPr sz="1725" b="1">
                <a:solidFill>
                  <a:srgbClr val="29483D"/>
                </a:solidFill>
              </a:rPr>
              <a:t>Entradas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2853B9B-B745-417D-9217-64156CD79E9E}"/>
              </a:ext>
            </a:extLst>
          </p:cNvPr>
          <p:cNvSpPr>
            <a:spLocks noGrp="1"/>
          </p:cNvSpPr>
          <p:nvPr/>
        </p:nvSpPr>
        <p:spPr>
          <a:xfrm>
            <a:off x="8334375" y="3429000"/>
            <a:ext cx="2190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ejercicio_01.txt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…</a:t>
            </a:r>
          </a:p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ejercicio_10.txt</a:t>
            </a:r>
          </a:p>
        </p:txBody>
      </p:sp>
    </p:spTree>
    <p:extLst>
      <p:ext uri="{BB962C8B-B14F-4D97-AF65-F5344CB8AC3E}">
        <p14:creationId xmlns:p14="http://schemas.microsoft.com/office/powerpoint/2010/main" val="236350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00F3D091-4A33-4B2C-9477-F784F59473D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Procedimiento de ejecución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4E22B88-7FE2-4E8C-A3DB-0DD11C91CC4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C2F232B-9C7B-4BED-A2DE-1117D746BC71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E64BF8B-F713-466C-8CC3-E4F9D67C119B}"/>
              </a:ext>
            </a:extLst>
          </p:cNvPr>
          <p:cNvSpPr>
            <a:spLocks noGrp="1"/>
          </p:cNvSpPr>
          <p:nvPr/>
        </p:nvSpPr>
        <p:spPr>
          <a:xfrm>
            <a:off x="2238375" y="3190875"/>
            <a:ext cx="619125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4442789-2F07-49AB-9EDB-D031E0BA5E98}"/>
              </a:ext>
            </a:extLst>
          </p:cNvPr>
          <p:cNvSpPr>
            <a:spLocks noGrp="1"/>
          </p:cNvSpPr>
          <p:nvPr/>
        </p:nvSpPr>
        <p:spPr>
          <a:xfrm>
            <a:off x="4476750" y="3190875"/>
            <a:ext cx="619125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FB52263-0C18-417D-AFC5-467F6666F36B}"/>
              </a:ext>
            </a:extLst>
          </p:cNvPr>
          <p:cNvSpPr>
            <a:spLocks noGrp="1"/>
          </p:cNvSpPr>
          <p:nvPr/>
        </p:nvSpPr>
        <p:spPr>
          <a:xfrm>
            <a:off x="6715125" y="3190875"/>
            <a:ext cx="619125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3AC0E38-2300-43DC-BE94-1CD9C6E9FA95}"/>
              </a:ext>
            </a:extLst>
          </p:cNvPr>
          <p:cNvSpPr>
            <a:spLocks noGrp="1"/>
          </p:cNvSpPr>
          <p:nvPr/>
        </p:nvSpPr>
        <p:spPr>
          <a:xfrm>
            <a:off x="8953500" y="3190875"/>
            <a:ext cx="619125" cy="38100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9F7CF73-09D8-4CDA-AAF0-8A758ED1539D}"/>
              </a:ext>
            </a:extLst>
          </p:cNvPr>
          <p:cNvSpPr>
            <a:spLocks noGrp="1"/>
          </p:cNvSpPr>
          <p:nvPr/>
        </p:nvSpPr>
        <p:spPr>
          <a:xfrm>
            <a:off x="619125" y="2619375"/>
            <a:ext cx="1619250" cy="1190625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E34CAA2-AFA9-4D5C-990D-764EAFC0688D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01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FCBEB29-6BE3-405B-9B5C-C49A9AD6B2CE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133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Abrir el proyecto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93A540F-50ED-41C1-91D8-73F2157BBDE6}"/>
              </a:ext>
            </a:extLst>
          </p:cNvPr>
          <p:cNvSpPr>
            <a:spLocks noGrp="1"/>
          </p:cNvSpPr>
          <p:nvPr/>
        </p:nvSpPr>
        <p:spPr>
          <a:xfrm>
            <a:off x="2857500" y="2619375"/>
            <a:ext cx="1619250" cy="1190625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14714B2-B935-4CAF-B812-D66261E5B04F}"/>
              </a:ext>
            </a:extLst>
          </p:cNvPr>
          <p:cNvSpPr>
            <a:spLocks noGrp="1"/>
          </p:cNvSpPr>
          <p:nvPr/>
        </p:nvSpPr>
        <p:spPr>
          <a:xfrm>
            <a:off x="300037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02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0991AEE-0B48-4E70-8759-4C8DA19A67A9}"/>
              </a:ext>
            </a:extLst>
          </p:cNvPr>
          <p:cNvSpPr>
            <a:spLocks noGrp="1"/>
          </p:cNvSpPr>
          <p:nvPr/>
        </p:nvSpPr>
        <p:spPr>
          <a:xfrm>
            <a:off x="3000375" y="3143250"/>
            <a:ext cx="133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Ejecutar BancoEjercicios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72C636F-05A0-4E49-953F-5D5F9D4ABC3A}"/>
              </a:ext>
            </a:extLst>
          </p:cNvPr>
          <p:cNvSpPr>
            <a:spLocks noGrp="1"/>
          </p:cNvSpPr>
          <p:nvPr/>
        </p:nvSpPr>
        <p:spPr>
          <a:xfrm>
            <a:off x="5095875" y="2619375"/>
            <a:ext cx="1619250" cy="1190625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41AA829-D0AF-4B5F-8FE2-D9C03DAF070D}"/>
              </a:ext>
            </a:extLst>
          </p:cNvPr>
          <p:cNvSpPr>
            <a:spLocks noGrp="1"/>
          </p:cNvSpPr>
          <p:nvPr/>
        </p:nvSpPr>
        <p:spPr>
          <a:xfrm>
            <a:off x="5238750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03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6FF7E33-4D14-4226-9403-C5F524347292}"/>
              </a:ext>
            </a:extLst>
          </p:cNvPr>
          <p:cNvSpPr>
            <a:spLocks noGrp="1"/>
          </p:cNvSpPr>
          <p:nvPr/>
        </p:nvSpPr>
        <p:spPr>
          <a:xfrm>
            <a:off x="5238750" y="3143250"/>
            <a:ext cx="133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Seleccionar un número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1BBFC20-865E-4EBC-8823-394A3A2AED49}"/>
              </a:ext>
            </a:extLst>
          </p:cNvPr>
          <p:cNvSpPr>
            <a:spLocks noGrp="1"/>
          </p:cNvSpPr>
          <p:nvPr/>
        </p:nvSpPr>
        <p:spPr>
          <a:xfrm>
            <a:off x="7334250" y="2619375"/>
            <a:ext cx="1619250" cy="1190625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E3106ED-CC27-4063-8F93-B82E0562E31D}"/>
              </a:ext>
            </a:extLst>
          </p:cNvPr>
          <p:cNvSpPr>
            <a:spLocks noGrp="1"/>
          </p:cNvSpPr>
          <p:nvPr/>
        </p:nvSpPr>
        <p:spPr>
          <a:xfrm>
            <a:off x="7477125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29483D"/>
                </a:solidFill>
              </a:defRPr>
            </a:pPr>
            <a:r>
              <a:rPr sz="975" b="1">
                <a:solidFill>
                  <a:srgbClr val="29483D"/>
                </a:solidFill>
              </a:rPr>
              <a:t>04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A0330F8-80F0-4D9B-B68E-74B0A36324B1}"/>
              </a:ext>
            </a:extLst>
          </p:cNvPr>
          <p:cNvSpPr>
            <a:spLocks noGrp="1"/>
          </p:cNvSpPr>
          <p:nvPr/>
        </p:nvSpPr>
        <p:spPr>
          <a:xfrm>
            <a:off x="7477125" y="3143250"/>
            <a:ext cx="133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Analizar el archivo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4FF389A9-44E6-47BF-93B0-09DCA8273DB9}"/>
              </a:ext>
            </a:extLst>
          </p:cNvPr>
          <p:cNvSpPr>
            <a:spLocks noGrp="1"/>
          </p:cNvSpPr>
          <p:nvPr/>
        </p:nvSpPr>
        <p:spPr>
          <a:xfrm>
            <a:off x="9572625" y="2619375"/>
            <a:ext cx="1619250" cy="1190625"/>
          </a:xfrm>
          <a:prstGeom prst="roundRect">
            <a:avLst>
              <a:gd name="adj" fmla="val 9600"/>
            </a:avLst>
          </a:prstGeom>
          <a:solidFill>
            <a:srgbClr val="29483D"/>
          </a:solidFill>
          <a:ln w="9525">
            <a:solidFill>
              <a:srgbClr val="29483D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DE3824A-8179-417E-8064-506BB86854E6}"/>
              </a:ext>
            </a:extLst>
          </p:cNvPr>
          <p:cNvSpPr>
            <a:spLocks noGrp="1"/>
          </p:cNvSpPr>
          <p:nvPr/>
        </p:nvSpPr>
        <p:spPr>
          <a:xfrm>
            <a:off x="9715500" y="27813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DCE9E2"/>
                </a:solidFill>
              </a:defRPr>
            </a:pPr>
            <a:r>
              <a:rPr sz="975" b="1">
                <a:solidFill>
                  <a:srgbClr val="DCE9E2"/>
                </a:solidFill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ED08FA-9B9E-4407-9BD7-6F459618A977}"/>
              </a:ext>
            </a:extLst>
          </p:cNvPr>
          <p:cNvSpPr>
            <a:spLocks noGrp="1"/>
          </p:cNvSpPr>
          <p:nvPr/>
        </p:nvSpPr>
        <p:spPr>
          <a:xfrm>
            <a:off x="9715500" y="3143250"/>
            <a:ext cx="1333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Interpretar el resultado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E47A327-3707-4381-8DBD-671E1DCA616F}"/>
              </a:ext>
            </a:extLst>
          </p:cNvPr>
          <p:cNvSpPr>
            <a:spLocks noGrp="1"/>
          </p:cNvSpPr>
          <p:nvPr/>
        </p:nvSpPr>
        <p:spPr>
          <a:xfrm>
            <a:off x="1714500" y="4524375"/>
            <a:ext cx="876300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66716C"/>
                </a:solidFill>
              </a:defRPr>
            </a:pPr>
            <a:r>
              <a:rPr sz="1650" b="0">
                <a:solidFill>
                  <a:srgbClr val="66716C"/>
                </a:solidFill>
              </a:rPr>
              <a:t>El proceso se repitió diez veces y se tomó una captura de cada ejecución.</a:t>
            </a:r>
          </a:p>
        </p:txBody>
      </p:sp>
    </p:spTree>
    <p:extLst>
      <p:ext uri="{BB962C8B-B14F-4D97-AF65-F5344CB8AC3E}">
        <p14:creationId xmlns:p14="http://schemas.microsoft.com/office/powerpoint/2010/main" val="1184638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F471E84-4463-4F93-B464-C2512227AF8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El menú organiza los diez ejercicios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7FA7468-EC7F-4CDF-B88F-1F0E7139DE12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B005084-3823-477D-8A6A-447D8CCB2DC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11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AF3E2BD4-593E-4387-853C-B3CB5DDAED25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691309"/>
            <a:ext cx="7620000" cy="4285008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A8B8AE9-E543-4364-A763-91DCF382222B}"/>
              </a:ext>
            </a:extLst>
          </p:cNvPr>
          <p:cNvSpPr>
            <a:spLocks noGrp="1"/>
          </p:cNvSpPr>
          <p:nvPr/>
        </p:nvSpPr>
        <p:spPr>
          <a:xfrm>
            <a:off x="8763000" y="1666875"/>
            <a:ext cx="2743200" cy="40957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386001E-8AE3-45E1-B24F-D35298A03442}"/>
              </a:ext>
            </a:extLst>
          </p:cNvPr>
          <p:cNvSpPr>
            <a:spLocks noGrp="1"/>
          </p:cNvSpPr>
          <p:nvPr/>
        </p:nvSpPr>
        <p:spPr>
          <a:xfrm>
            <a:off x="9029700" y="195262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Descripción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EA394AF-5890-4BE4-8D71-7441EE3945F6}"/>
              </a:ext>
            </a:extLst>
          </p:cNvPr>
          <p:cNvSpPr>
            <a:spLocks noGrp="1"/>
          </p:cNvSpPr>
          <p:nvPr/>
        </p:nvSpPr>
        <p:spPr>
          <a:xfrm>
            <a:off x="9029700" y="2333625"/>
            <a:ext cx="214312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BancoEjercicios presenta diez opciones y solicita un número. Cada selección se relaciona con un archivo de entrada independiente.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05B53E2-6A63-4682-B439-F2B4F456C758}"/>
              </a:ext>
            </a:extLst>
          </p:cNvPr>
          <p:cNvSpPr>
            <a:spLocks noGrp="1"/>
          </p:cNvSpPr>
          <p:nvPr/>
        </p:nvSpPr>
        <p:spPr>
          <a:xfrm>
            <a:off x="9029700" y="3905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Función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B85477-7A66-48AE-BF1D-B4B594889231}"/>
              </a:ext>
            </a:extLst>
          </p:cNvPr>
          <p:cNvSpPr>
            <a:spLocks noGrp="1"/>
          </p:cNvSpPr>
          <p:nvPr/>
        </p:nvSpPr>
        <p:spPr>
          <a:xfrm>
            <a:off x="9029700" y="4286250"/>
            <a:ext cx="214312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Facilita repetir las pruebas sin modificar el código principal ni escribir manualmente la ruta del archivo.</a:t>
            </a:r>
          </a:p>
        </p:txBody>
      </p:sp>
    </p:spTree>
    <p:extLst>
      <p:ext uri="{BB962C8B-B14F-4D97-AF65-F5344CB8AC3E}">
        <p14:creationId xmlns:p14="http://schemas.microsoft.com/office/powerpoint/2010/main" val="2045888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720C8DCD-01D5-4ABB-859E-C51E6E7F6256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1 · Tabla de símbolos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1A11AA4-A753-4443-AD51-8D6C284CAF1F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3B9BF66-C869-47A2-894C-377D29D06308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12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F1996F3-80E5-4B69-929E-4F9C6549670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01004" y="1571625"/>
            <a:ext cx="7180091" cy="4524375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F5B1611-747C-475C-B211-EA5177B3CE1E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580BCB5-B234-4121-95FB-C7F7C3910F89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4211909-6E35-46C7-84EC-8F6072E112B9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Registrar variables de cuatro tipos.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03D8AEB-0C47-4C3C-A8E5-5C0C5F262649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4FA5EB4-F230-48DD-A844-5DB5AB03D5D8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Declaraciones int, float, String y boolean, junto con dos salidas.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616113B-02BE-4012-B9BA-59ACD07D2A5A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42C391C-B774-484B-8B0A-8041B9EC95FD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30CBF36-17C1-4EC7-9998-4338D614B7C9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4 símbolos y análisis correcto.</a:t>
            </a:r>
          </a:p>
        </p:txBody>
      </p:sp>
    </p:spTree>
    <p:extLst>
      <p:ext uri="{BB962C8B-B14F-4D97-AF65-F5344CB8AC3E}">
        <p14:creationId xmlns:p14="http://schemas.microsoft.com/office/powerpoint/2010/main" val="750401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D48FC834-E7BE-4596-9508-2AC648B456BD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2 · Expresiones aritméticas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D168D99-2B87-492D-970F-C7A9D2D5699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3CBFA9-BB22-4754-B78D-6B893564210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13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204128C-870B-44FC-AE06-4C459C5D3F56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590517"/>
            <a:ext cx="7620000" cy="4486590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2B31F80-4A6F-4991-B9B0-B864B340F713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DE9EFAB-2AB5-4CB1-8498-F5D7BF034EF2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9908A64-7769-412A-B49B-93D348165C30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Comprobar la prioridad de operadores.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036765-C874-4775-AB25-BE072BBBB7C2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4DBCD49-032C-4DE3-8CB9-3F14DABC2349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La expresión a + b × 2 debe resolver primero la multiplicación.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E235EC3-B3CA-4A2C-98E4-FFDD011BB4B3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001EBFC-C0F6-4F4B-A0F2-55EA581AE959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21F4194-1AA7-46F3-A1B6-33DBD2D3D4DF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resultado = 20; análisis correcto.</a:t>
            </a:r>
          </a:p>
        </p:txBody>
      </p:sp>
    </p:spTree>
    <p:extLst>
      <p:ext uri="{BB962C8B-B14F-4D97-AF65-F5344CB8AC3E}">
        <p14:creationId xmlns:p14="http://schemas.microsoft.com/office/powerpoint/2010/main" val="525861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7188B68E-BA9A-4B08-A69C-024D369224B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3 · Comprobación de tipos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2B2A8AA-7953-4239-B31E-CB1184EC7EA8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DA2EC78-62D6-4E35-91F2-2C6ABE04B88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14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EF02CC45-3B57-4C56-BA0A-7D5C6AD7E2A3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3759" y="1571625"/>
            <a:ext cx="7194583" cy="4524375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9C2538E-1A2A-440D-BCD9-563A850AEDF6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A44BB48-6342-4540-ACE3-71C063D739FC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9D4E144-C74B-4892-808B-75CE6DDD557C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Combinar valores int y float.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3337320-E3C5-4371-BF94-1FD859AFD368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4C46870-7C01-4255-AF75-F4C14DC9A179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La cantidad entera se multiplica por un precio decimal y se almacena en float.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DEA9850-83A7-4C77-9C50-56F3940AD8CE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39A217F-C980-475B-9508-44B3BD25334A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1295729-22E3-444D-AC8B-A8AF5FDAFB7B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total = 62.0; tipos compatibles.</a:t>
            </a:r>
          </a:p>
        </p:txBody>
      </p:sp>
    </p:spTree>
    <p:extLst>
      <p:ext uri="{BB962C8B-B14F-4D97-AF65-F5344CB8AC3E}">
        <p14:creationId xmlns:p14="http://schemas.microsoft.com/office/powerpoint/2010/main" val="523930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9622E0CB-824C-4261-88A2-446566DFD769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4 · Concatenación de cadenas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DC50895-22A7-4335-83A3-6621E5CA6841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7951AF1-E3AB-459F-9216-2EC3F2E7858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15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70F9B71-6E91-474D-9CD8-74D58F76CDAB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600275"/>
            <a:ext cx="7620000" cy="4467076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DF0D15A-3E70-4976-BF95-5D3BE0F79AB1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2E65221-D82D-4C62-989E-A94BF179B363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7BE66C0-1368-4377-ACCC-A44C74980998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Unir texto con distintos tipos.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053578B-75F7-4C11-ACD5-0C3D4D5612D0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90D1D45-2AB6-40AA-956D-848458E31A21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Se concatenan String, float y boolean en instrucciones mostrar(...).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76F777F-8B5E-4347-B2F8-6CE6B0647FE4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1031846-8599-439F-B0F9-3DC9C2FC11BA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B0CE8A4-AA9A-4375-B7F9-085DD5EFDD66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Tres salidas correctas y sin errores.</a:t>
            </a:r>
          </a:p>
        </p:txBody>
      </p:sp>
    </p:spTree>
    <p:extLst>
      <p:ext uri="{BB962C8B-B14F-4D97-AF65-F5344CB8AC3E}">
        <p14:creationId xmlns:p14="http://schemas.microsoft.com/office/powerpoint/2010/main" val="2047949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4DBD3152-9AA1-4E82-9606-0DD665D98B61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5 · Variable duplicada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A046663-2034-4065-9CEC-401AFC01443A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8A65CF-C63E-4AC4-B2B9-8AE677ACE27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42A2CCD-032B-4C5E-A734-2BB23F1F65C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611949"/>
            <a:ext cx="7620000" cy="4443727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59C4AA8-EF77-4C12-90F0-162350BEFC97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F887675-93D8-4C08-9824-E3658F90C03D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30AAB5D-3B20-409F-BAA2-277220B2E6B5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Detectar una declaración repetida.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132BACD-8F3A-4B24-8FDC-1D17D873F237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F18A88D-EB49-473A-A287-3790E20E0D3B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La variable cantidad se declara dos veces dentro del mismo ámbito.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756642B-ED8B-46CB-982D-56969BB2DEC0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6D1C175-FF41-40B6-9EF2-5BBEF84AF242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9B403B"/>
                </a:solidFill>
              </a:defRPr>
            </a:pPr>
            <a:r>
              <a:rPr sz="1275" b="1">
                <a:solidFill>
                  <a:srgbClr val="9B403B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B7CB2D2-D44F-43D8-A662-AEAFAE4C2971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1 error; se conserva cantidad = 5.</a:t>
            </a:r>
          </a:p>
        </p:txBody>
      </p:sp>
    </p:spTree>
    <p:extLst>
      <p:ext uri="{BB962C8B-B14F-4D97-AF65-F5344CB8AC3E}">
        <p14:creationId xmlns:p14="http://schemas.microsoft.com/office/powerpoint/2010/main" val="1123368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5F640A83-9691-40D3-8BFE-68E302F0D32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6 · Variable no declarada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77D8CB0-9BF9-496F-AC5B-7BB8C16A22F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CE65849-F55E-4822-89F5-B652B8480F1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17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6BA19C9-8A5A-4137-8284-6AEDEB519AA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599223"/>
            <a:ext cx="7620000" cy="4469178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46D5021-678B-4067-8BBA-7C01EA3DCD1D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BBCE94-CD71-4DE9-A7A0-F7C9D951D98F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A4F3F9-AD9F-418E-B541-6E41C2D7B9A2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Validar el uso previo de identificadores.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FAE0E98-D7DD-4D97-896E-FC17828A96B8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46B21E8-D15F-4B66-89C6-8EA7BAFCBBB6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La variable total se utiliza en una asignación y en mostrar sin declararse.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98F5EE4-252A-48CD-A3C0-317C73E2C9AA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8365982-6CC3-4B85-A7A3-C2DD3A77B886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9B403B"/>
                </a:solidFill>
              </a:defRPr>
            </a:pPr>
            <a:r>
              <a:rPr sz="1275" b="1">
                <a:solidFill>
                  <a:srgbClr val="9B403B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7E6D88-3964-4DAE-8054-46312DBAEEFE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2 errores por total inexistente.</a:t>
            </a:r>
          </a:p>
        </p:txBody>
      </p:sp>
    </p:spTree>
    <p:extLst>
      <p:ext uri="{BB962C8B-B14F-4D97-AF65-F5344CB8AC3E}">
        <p14:creationId xmlns:p14="http://schemas.microsoft.com/office/powerpoint/2010/main" val="991435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5ACA37A9-FE35-4EE7-AC32-DFECF9117A8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7 · Asignación incompatible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CE7BCE0-0FE1-48A6-89BB-1AEF5FA252F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2BF0FC4-BE1C-4B4D-9D80-9D33F693CD1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18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E3A40261-EF66-40C0-B7A3-659CF9EB72B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616853"/>
            <a:ext cx="7620000" cy="4433919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D6F4074-114F-4435-85DF-403858975CAB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22FB3A2-7659-4196-B00C-749F036CD3B9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3CD6426-209C-4332-9372-81FBA0708DAB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Comprobar la compatibilidad de tipos.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1684122-C0C9-4859-8C41-2D49E851A212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8B6C1E4-7157-4FC1-9300-DA8813642A2D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Se intenta almacenar el texto «veinte» dentro de una variable int.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517C2E5-8DFD-41D9-8BC1-58D1709798A3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8FB2C6F-BF76-4FE1-B90E-10317878E21D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9B403B"/>
                </a:solidFill>
              </a:defRPr>
            </a:pPr>
            <a:r>
              <a:rPr sz="1275" b="1">
                <a:solidFill>
                  <a:srgbClr val="9B403B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A278F3A-6883-4DB8-B996-B5ABD3C6FDD1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1 error; edad conserva el valor 20.</a:t>
            </a:r>
          </a:p>
        </p:txBody>
      </p:sp>
    </p:spTree>
    <p:extLst>
      <p:ext uri="{BB962C8B-B14F-4D97-AF65-F5344CB8AC3E}">
        <p14:creationId xmlns:p14="http://schemas.microsoft.com/office/powerpoint/2010/main" val="721527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C77314D5-0923-4334-9245-707C7A8FE3E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8 · División entre cero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2D77A2A-142B-4711-9CD0-BCC60141F2D8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18F81DA-EB90-4C4F-B27E-A0D55E01BCE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19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0F6EE4A-BE65-46EE-9F9B-39186677C516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573075"/>
            <a:ext cx="7620000" cy="4521475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B375736-ECD7-4836-9282-15C2E9A8AAD8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6BF7518-123C-44DB-8218-AE8F9667F5F9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5B25666-AFD8-43F6-9E6A-0742BC520D88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Detectar una operación inválida.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55D0EAC-1515-4611-834D-052B16DF25D3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10637A6-E11C-4C94-956E-3EAAD04D9621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El divisor vale cero; por ello resultado no puede recibir un valor.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A6F30F1-7CD9-43FF-A0CB-AF6291DF743B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136DEC3-2083-4297-830A-12D8F14174A3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9B403B"/>
                </a:solidFill>
              </a:defRPr>
            </a:pPr>
            <a:r>
              <a:rPr sz="1275" b="1">
                <a:solidFill>
                  <a:srgbClr val="9B403B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D306348-08CA-471A-8E64-F363BCFF07FD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2 errores semánticos relacionados.</a:t>
            </a:r>
          </a:p>
        </p:txBody>
      </p:sp>
    </p:spTree>
    <p:extLst>
      <p:ext uri="{BB962C8B-B14F-4D97-AF65-F5344CB8AC3E}">
        <p14:creationId xmlns:p14="http://schemas.microsoft.com/office/powerpoint/2010/main" val="1219330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921B370B-6B43-4209-A7C1-937EF287206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9 · Errores múltiples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A86E9D2-4D92-49EA-814C-192C75FA11A7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F0774B9-330E-4863-8AE8-875438EBB09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20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F25F550F-D492-4C52-87D9-C95A481EA6BF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635931"/>
            <a:ext cx="7620000" cy="4395762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67A84C9-605A-4298-95AE-7BFBEC4AD971}"/>
              </a:ext>
            </a:extLst>
          </p:cNvPr>
          <p:cNvSpPr>
            <a:spLocks noGrp="1"/>
          </p:cNvSpPr>
          <p:nvPr/>
        </p:nvSpPr>
        <p:spPr>
          <a:xfrm>
            <a:off x="8763000" y="1571625"/>
            <a:ext cx="2743200" cy="4429125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C486242-9C03-43C9-A85D-4959E718C031}"/>
              </a:ext>
            </a:extLst>
          </p:cNvPr>
          <p:cNvSpPr>
            <a:spLocks noGrp="1"/>
          </p:cNvSpPr>
          <p:nvPr/>
        </p:nvSpPr>
        <p:spPr>
          <a:xfrm>
            <a:off x="9029700" y="185737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Propósito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F5D2150-94E7-459A-A2F6-0C5DF34A20D7}"/>
              </a:ext>
            </a:extLst>
          </p:cNvPr>
          <p:cNvSpPr>
            <a:spLocks noGrp="1"/>
          </p:cNvSpPr>
          <p:nvPr/>
        </p:nvSpPr>
        <p:spPr>
          <a:xfrm>
            <a:off x="9029700" y="2190750"/>
            <a:ext cx="21431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Reunir varias reglas incorrectas.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CCD963D-1AFB-4CEB-A07D-01AEB3EB932F}"/>
              </a:ext>
            </a:extLst>
          </p:cNvPr>
          <p:cNvSpPr>
            <a:spLocks noGrp="1"/>
          </p:cNvSpPr>
          <p:nvPr/>
        </p:nvSpPr>
        <p:spPr>
          <a:xfrm>
            <a:off x="9029700" y="314325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9B403B"/>
                </a:solidFill>
              </a:defRPr>
            </a:pPr>
            <a:r>
              <a:rPr sz="1350" b="1">
                <a:solidFill>
                  <a:srgbClr val="9B403B"/>
                </a:solidFill>
              </a:rPr>
              <a:t>Qué se analizó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3122D4-4B7C-4A69-BC5A-6EC9D7093562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1431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201D"/>
                </a:solidFill>
              </a:defRPr>
            </a:pPr>
            <a:r>
              <a:rPr sz="1350" b="0">
                <a:solidFill>
                  <a:srgbClr val="17201D"/>
                </a:solidFill>
              </a:rPr>
              <a:t>Duplicación, tipo incompatible, variables inexistentes y división entre cero.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3CB51F2-9785-40C9-9388-DD737D57AF71}"/>
              </a:ext>
            </a:extLst>
          </p:cNvPr>
          <p:cNvSpPr>
            <a:spLocks noGrp="1"/>
          </p:cNvSpPr>
          <p:nvPr/>
        </p:nvSpPr>
        <p:spPr>
          <a:xfrm>
            <a:off x="8972550" y="4762500"/>
            <a:ext cx="2324100" cy="971550"/>
          </a:xfrm>
          <a:prstGeom prst="roundRect">
            <a:avLst>
              <a:gd name="adj" fmla="val 11765"/>
            </a:avLst>
          </a:prstGeom>
          <a:solidFill>
            <a:srgbClr val="F2E2E0"/>
          </a:solidFill>
          <a:ln w="9525">
            <a:solidFill>
              <a:srgbClr val="F2E2E0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F0A2CA1-AC0A-46C0-B4AF-6CA92BC1797B}"/>
              </a:ext>
            </a:extLst>
          </p:cNvPr>
          <p:cNvSpPr>
            <a:spLocks noGrp="1"/>
          </p:cNvSpPr>
          <p:nvPr/>
        </p:nvSpPr>
        <p:spPr>
          <a:xfrm>
            <a:off x="9144000" y="49339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9B403B"/>
                </a:solidFill>
              </a:defRPr>
            </a:pPr>
            <a:r>
              <a:rPr sz="1275" b="1">
                <a:solidFill>
                  <a:srgbClr val="9B403B"/>
                </a:solidFill>
              </a:rPr>
              <a:t>Resultado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D1172DE-7E4D-4D9E-AF68-983AB51BE2D8}"/>
              </a:ext>
            </a:extLst>
          </p:cNvPr>
          <p:cNvSpPr>
            <a:spLocks noGrp="1"/>
          </p:cNvSpPr>
          <p:nvPr/>
        </p:nvSpPr>
        <p:spPr>
          <a:xfrm>
            <a:off x="9144000" y="5219700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6 errores detectados en una ejecución.</a:t>
            </a:r>
          </a:p>
        </p:txBody>
      </p:sp>
    </p:spTree>
    <p:extLst>
      <p:ext uri="{BB962C8B-B14F-4D97-AF65-F5344CB8AC3E}">
        <p14:creationId xmlns:p14="http://schemas.microsoft.com/office/powerpoint/2010/main" val="1866177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9D394524-3A84-4EFD-8F40-15EE5854961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Ejercicio 10 · Caso integrador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F474130-05D8-4E70-A377-C6FE89AFC96C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2291FEF-8F89-4C96-B21B-BA5FBD4E5C3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21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7B4D949-8F9C-41AE-80BF-B390CABBC333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01196" y="1571625"/>
            <a:ext cx="6579709" cy="4524375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A5F15E8-4D2C-45B7-99BA-DF8B1FC538B8}"/>
              </a:ext>
            </a:extLst>
          </p:cNvPr>
          <p:cNvSpPr>
            <a:spLocks noGrp="1"/>
          </p:cNvSpPr>
          <p:nvPr/>
        </p:nvSpPr>
        <p:spPr>
          <a:xfrm>
            <a:off x="8763000" y="1666875"/>
            <a:ext cx="2743200" cy="40957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6B3D11C-8B3A-4971-B848-86BEFE6DCEC4}"/>
              </a:ext>
            </a:extLst>
          </p:cNvPr>
          <p:cNvSpPr>
            <a:spLocks noGrp="1"/>
          </p:cNvSpPr>
          <p:nvPr/>
        </p:nvSpPr>
        <p:spPr>
          <a:xfrm>
            <a:off x="9029700" y="195262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Primera parte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7676B98-98AE-4B62-9631-6A6C213123C8}"/>
              </a:ext>
            </a:extLst>
          </p:cNvPr>
          <p:cNvSpPr>
            <a:spLocks noGrp="1"/>
          </p:cNvSpPr>
          <p:nvPr/>
        </p:nvSpPr>
        <p:spPr>
          <a:xfrm>
            <a:off x="9029700" y="2333625"/>
            <a:ext cx="2143125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La evidencia muestra las declaraciones de producto, cantidad, precio, subtotal y disponibilidad.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A265CA2-9D82-4712-9AAC-64D116D617DB}"/>
              </a:ext>
            </a:extLst>
          </p:cNvPr>
          <p:cNvSpPr>
            <a:spLocks noGrp="1"/>
          </p:cNvSpPr>
          <p:nvPr/>
        </p:nvSpPr>
        <p:spPr>
          <a:xfrm>
            <a:off x="9029700" y="38100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Análisis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16DC25B-95EF-42DD-A13B-B49A934DBCDB}"/>
              </a:ext>
            </a:extLst>
          </p:cNvPr>
          <p:cNvSpPr>
            <a:spLocks noGrp="1"/>
          </p:cNvSpPr>
          <p:nvPr/>
        </p:nvSpPr>
        <p:spPr>
          <a:xfrm>
            <a:off x="9029700" y="4191000"/>
            <a:ext cx="2143125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La tabla registra cinco símbolos. La expresión cantidad × precio asigna 25001.0 a subtotal.</a:t>
            </a:r>
          </a:p>
        </p:txBody>
      </p:sp>
    </p:spTree>
    <p:extLst>
      <p:ext uri="{BB962C8B-B14F-4D97-AF65-F5344CB8AC3E}">
        <p14:creationId xmlns:p14="http://schemas.microsoft.com/office/powerpoint/2010/main" val="125108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DF975F13-27FF-4456-B367-EA72A3135C4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El caso integrador termina correctamente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7DB7C01-0AF9-4CD0-8961-D4AA363D3B9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C2DD42A-9E37-4018-81FC-F2A5A1DE71E6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22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183CEE1-1F57-4132-900A-5213F642C226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781050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1581033"/>
            <a:ext cx="7620000" cy="4505559"/>
          </a:xfrm>
          <a:prstGeom prst="roundRect">
            <a:avLst>
              <a:gd name="adj" fmla="val 1684"/>
            </a:avLst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C2821BA-A3E9-4A6F-93CC-8777DDCE3F6A}"/>
              </a:ext>
            </a:extLst>
          </p:cNvPr>
          <p:cNvSpPr>
            <a:spLocks noGrp="1"/>
          </p:cNvSpPr>
          <p:nvPr/>
        </p:nvSpPr>
        <p:spPr>
          <a:xfrm>
            <a:off x="8763000" y="1666875"/>
            <a:ext cx="2743200" cy="40957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BFFC680-07C5-4B75-A10F-F9B378D7B7FB}"/>
              </a:ext>
            </a:extLst>
          </p:cNvPr>
          <p:cNvSpPr>
            <a:spLocks noGrp="1"/>
          </p:cNvSpPr>
          <p:nvPr/>
        </p:nvSpPr>
        <p:spPr>
          <a:xfrm>
            <a:off x="9029700" y="1952625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29483D"/>
                </a:solidFill>
              </a:defRPr>
            </a:pPr>
            <a:r>
              <a:rPr sz="1425" b="1">
                <a:solidFill>
                  <a:srgbClr val="29483D"/>
                </a:solidFill>
              </a:rPr>
              <a:t>Segunda parte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24087AB-A74E-4932-9C64-01B0632D5DA8}"/>
              </a:ext>
            </a:extLst>
          </p:cNvPr>
          <p:cNvSpPr>
            <a:spLocks noGrp="1"/>
          </p:cNvSpPr>
          <p:nvPr/>
        </p:nvSpPr>
        <p:spPr>
          <a:xfrm>
            <a:off x="9029700" y="2333625"/>
            <a:ext cx="21431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7201D"/>
                </a:solidFill>
              </a:defRPr>
            </a:pPr>
            <a:r>
              <a:rPr sz="1425" b="0">
                <a:solidFill>
                  <a:srgbClr val="17201D"/>
                </a:solidFill>
              </a:rPr>
              <a:t>La terminal presenta las cuatro salidas solicitadas: producto, cantidad, subtotal y disponibilidad.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AB7E35F-489B-404F-99D7-76764A509786}"/>
              </a:ext>
            </a:extLst>
          </p:cNvPr>
          <p:cNvSpPr>
            <a:spLocks noGrp="1"/>
          </p:cNvSpPr>
          <p:nvPr/>
        </p:nvSpPr>
        <p:spPr>
          <a:xfrm>
            <a:off x="8972550" y="4095750"/>
            <a:ext cx="2324100" cy="1238250"/>
          </a:xfrm>
          <a:prstGeom prst="roundRect">
            <a:avLst>
              <a:gd name="adj" fmla="val 9231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269C2FA-F9FD-4C9D-9F43-E42F4DEEF2CF}"/>
              </a:ext>
            </a:extLst>
          </p:cNvPr>
          <p:cNvSpPr>
            <a:spLocks noGrp="1"/>
          </p:cNvSpPr>
          <p:nvPr/>
        </p:nvSpPr>
        <p:spPr>
          <a:xfrm>
            <a:off x="9144000" y="428625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29483D"/>
                </a:solidFill>
              </a:defRPr>
            </a:pPr>
            <a:r>
              <a:rPr sz="1275" b="1">
                <a:solidFill>
                  <a:srgbClr val="29483D"/>
                </a:solidFill>
              </a:rPr>
              <a:t>Resultado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D1B1793-F278-475D-A0C2-7D3DC71C6FFB}"/>
              </a:ext>
            </a:extLst>
          </p:cNvPr>
          <p:cNvSpPr>
            <a:spLocks noGrp="1"/>
          </p:cNvSpPr>
          <p:nvPr/>
        </p:nvSpPr>
        <p:spPr>
          <a:xfrm>
            <a:off x="9144000" y="4591050"/>
            <a:ext cx="19526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Subtotal: 25001.0</a:t>
            </a:r>
          </a:p>
          <a:p>
            <a:pPr algn="l">
              <a:defRPr sz="1350" b="1">
                <a:solidFill>
                  <a:srgbClr val="17201D"/>
                </a:solidFill>
              </a:defRPr>
            </a:pPr>
            <a:r>
              <a:rPr sz="1350" b="1">
                <a:solidFill>
                  <a:srgbClr val="17201D"/>
                </a:solidFill>
              </a:rPr>
              <a:t>Programa semánticamente correcto.</a:t>
            </a:r>
          </a:p>
        </p:txBody>
      </p:sp>
    </p:spTree>
    <p:extLst>
      <p:ext uri="{BB962C8B-B14F-4D97-AF65-F5344CB8AC3E}">
        <p14:creationId xmlns:p14="http://schemas.microsoft.com/office/powerpoint/2010/main" val="1495146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B0055245-82DB-4DFA-8DA7-92CB52C193AC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Resultados generales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81EB06-EF7A-4145-875D-10617A82966D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91B3E78-E55B-4190-BB68-8A6391E35A24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2882DD0-C248-41E6-9C2D-4ABF2B4B212C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7201D"/>
                </a:solidFill>
              </a:defRPr>
            </a:pPr>
            <a:r>
              <a:rPr sz="2100" b="1">
                <a:solidFill>
                  <a:srgbClr val="17201D"/>
                </a:solidFill>
              </a:rPr>
              <a:t>El banco cubrió las reglas previstas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2210CD6-1C86-4339-AEFE-0A3F9F30D236}"/>
              </a:ext>
            </a:extLst>
          </p:cNvPr>
          <p:cNvSpPr>
            <a:spLocks noGrp="1"/>
          </p:cNvSpPr>
          <p:nvPr/>
        </p:nvSpPr>
        <p:spPr>
          <a:xfrm>
            <a:off x="781050" y="24669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5160397-BDE2-492E-A981-F931406DD048}"/>
              </a:ext>
            </a:extLst>
          </p:cNvPr>
          <p:cNvSpPr>
            <a:spLocks noGrp="1"/>
          </p:cNvSpPr>
          <p:nvPr/>
        </p:nvSpPr>
        <p:spPr>
          <a:xfrm>
            <a:off x="1019175" y="2381250"/>
            <a:ext cx="5953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Los cinco casos válidos terminaron sin errores.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30788E3-3E48-4B84-AEBF-3F5CB339A197}"/>
              </a:ext>
            </a:extLst>
          </p:cNvPr>
          <p:cNvSpPr>
            <a:spLocks noGrp="1"/>
          </p:cNvSpPr>
          <p:nvPr/>
        </p:nvSpPr>
        <p:spPr>
          <a:xfrm>
            <a:off x="781050" y="31146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207E28F-D1CC-4F42-8402-0374F5973F2A}"/>
              </a:ext>
            </a:extLst>
          </p:cNvPr>
          <p:cNvSpPr>
            <a:spLocks noGrp="1"/>
          </p:cNvSpPr>
          <p:nvPr/>
        </p:nvSpPr>
        <p:spPr>
          <a:xfrm>
            <a:off x="1019175" y="3028950"/>
            <a:ext cx="5953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La tabla de símbolos conservó tipos, direcciones y valores.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7B598FF-CA72-4174-BCC6-633ADF71239B}"/>
              </a:ext>
            </a:extLst>
          </p:cNvPr>
          <p:cNvSpPr>
            <a:spLocks noGrp="1"/>
          </p:cNvSpPr>
          <p:nvPr/>
        </p:nvSpPr>
        <p:spPr>
          <a:xfrm>
            <a:off x="781050" y="37623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41A6DCE-ECB5-4F89-BFB2-CDFF090E6F30}"/>
              </a:ext>
            </a:extLst>
          </p:cNvPr>
          <p:cNvSpPr>
            <a:spLocks noGrp="1"/>
          </p:cNvSpPr>
          <p:nvPr/>
        </p:nvSpPr>
        <p:spPr>
          <a:xfrm>
            <a:off x="1019175" y="3676650"/>
            <a:ext cx="5953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La prioridad aritmética produjo el resultado esperado.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7D1DB4A-7BDA-499B-A60B-9364BBD51E88}"/>
              </a:ext>
            </a:extLst>
          </p:cNvPr>
          <p:cNvSpPr>
            <a:spLocks noGrp="1"/>
          </p:cNvSpPr>
          <p:nvPr/>
        </p:nvSpPr>
        <p:spPr>
          <a:xfrm>
            <a:off x="781050" y="44100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68FB14C-9180-40D0-9171-0FC699A48EE3}"/>
              </a:ext>
            </a:extLst>
          </p:cNvPr>
          <p:cNvSpPr>
            <a:spLocks noGrp="1"/>
          </p:cNvSpPr>
          <p:nvPr/>
        </p:nvSpPr>
        <p:spPr>
          <a:xfrm>
            <a:off x="1019175" y="4324350"/>
            <a:ext cx="5953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Los cinco casos inválidos generaron mensajes específicos.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A798A05-82AA-4506-A0C6-8F752E218FF0}"/>
              </a:ext>
            </a:extLst>
          </p:cNvPr>
          <p:cNvSpPr>
            <a:spLocks noGrp="1"/>
          </p:cNvSpPr>
          <p:nvPr/>
        </p:nvSpPr>
        <p:spPr>
          <a:xfrm>
            <a:off x="781050" y="5057775"/>
            <a:ext cx="95250" cy="95250"/>
          </a:xfrm>
          <a:prstGeom prst="ellipse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6A19492-BB76-4BAB-871C-4BFA6B108A6A}"/>
              </a:ext>
            </a:extLst>
          </p:cNvPr>
          <p:cNvSpPr>
            <a:spLocks noGrp="1"/>
          </p:cNvSpPr>
          <p:nvPr/>
        </p:nvSpPr>
        <p:spPr>
          <a:xfrm>
            <a:off x="1019175" y="4972050"/>
            <a:ext cx="59531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7201D"/>
                </a:solidFill>
              </a:defRPr>
            </a:pPr>
            <a:r>
              <a:rPr sz="1575" b="0">
                <a:solidFill>
                  <a:srgbClr val="17201D"/>
                </a:solidFill>
              </a:rPr>
              <a:t>El caso de errores múltiples informó seis problemas.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3DA997C2-AD9F-4A4E-811D-F21AA31E7E4F}"/>
              </a:ext>
            </a:extLst>
          </p:cNvPr>
          <p:cNvSpPr>
            <a:spLocks noGrp="1"/>
          </p:cNvSpPr>
          <p:nvPr/>
        </p:nvSpPr>
        <p:spPr>
          <a:xfrm>
            <a:off x="7810500" y="2000250"/>
            <a:ext cx="3048000" cy="2952750"/>
          </a:xfrm>
          <a:prstGeom prst="roundRect">
            <a:avLst>
              <a:gd name="adj" fmla="val 5161"/>
            </a:avLst>
          </a:prstGeom>
          <a:solidFill>
            <a:srgbClr val="DDE7E1"/>
          </a:solidFill>
          <a:ln w="9525">
            <a:solidFill>
              <a:srgbClr val="DDE7E1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F96A3E7-3333-4741-B615-9ADCFE9962F2}"/>
              </a:ext>
            </a:extLst>
          </p:cNvPr>
          <p:cNvSpPr>
            <a:spLocks noGrp="1"/>
          </p:cNvSpPr>
          <p:nvPr/>
        </p:nvSpPr>
        <p:spPr>
          <a:xfrm>
            <a:off x="8143875" y="2333625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4500" b="1">
                <a:solidFill>
                  <a:srgbClr val="29483D"/>
                </a:solidFill>
              </a:defRPr>
            </a:pPr>
            <a:r>
              <a:rPr sz="4500" b="1">
                <a:solidFill>
                  <a:srgbClr val="29483D"/>
                </a:solidFill>
              </a:rPr>
              <a:t>10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E263A3B-918D-4375-9A31-E27E2568F988}"/>
              </a:ext>
            </a:extLst>
          </p:cNvPr>
          <p:cNvSpPr>
            <a:spLocks noGrp="1"/>
          </p:cNvSpPr>
          <p:nvPr/>
        </p:nvSpPr>
        <p:spPr>
          <a:xfrm>
            <a:off x="8143875" y="3095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ejercicios ejecutados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6E1A70D-7060-4192-BB8E-C948B0C3A23E}"/>
              </a:ext>
            </a:extLst>
          </p:cNvPr>
          <p:cNvSpPr>
            <a:spLocks noGrp="1"/>
          </p:cNvSpPr>
          <p:nvPr/>
        </p:nvSpPr>
        <p:spPr>
          <a:xfrm>
            <a:off x="8143875" y="3762375"/>
            <a:ext cx="2381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66716C"/>
                </a:solidFill>
              </a:defRPr>
            </a:pPr>
            <a:r>
              <a:rPr sz="1650" b="1">
                <a:solidFill>
                  <a:srgbClr val="66716C"/>
                </a:solidFill>
              </a:rPr>
              <a:t>5 correctos</a:t>
            </a:r>
          </a:p>
          <a:p>
            <a:pPr algn="ctr">
              <a:defRPr sz="1650" b="1">
                <a:solidFill>
                  <a:srgbClr val="66716C"/>
                </a:solidFill>
              </a:defRPr>
            </a:pPr>
            <a:r>
              <a:rPr sz="1650" b="1">
                <a:solidFill>
                  <a:srgbClr val="66716C"/>
                </a:solidFill>
              </a:rPr>
              <a:t>5 con errores</a:t>
            </a:r>
          </a:p>
          <a:p>
            <a:pPr algn="ctr">
              <a:defRPr sz="1650" b="1">
                <a:solidFill>
                  <a:srgbClr val="66716C"/>
                </a:solidFill>
              </a:defRPr>
            </a:pPr>
            <a:r>
              <a:rPr sz="1650" b="1">
                <a:solidFill>
                  <a:srgbClr val="66716C"/>
                </a:solidFill>
              </a:rPr>
              <a:t>12 capturas</a:t>
            </a:r>
          </a:p>
        </p:txBody>
      </p:sp>
    </p:spTree>
    <p:extLst>
      <p:ext uri="{BB962C8B-B14F-4D97-AF65-F5344CB8AC3E}">
        <p14:creationId xmlns:p14="http://schemas.microsoft.com/office/powerpoint/2010/main" val="2039817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48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355B24E-CD55-4C34-AD33-9C1FCB6E073F}"/>
              </a:ext>
            </a:extLst>
          </p:cNvPr>
          <p:cNvSpPr>
            <a:spLocks noGrp="1"/>
          </p:cNvSpPr>
          <p:nvPr/>
        </p:nvSpPr>
        <p:spPr>
          <a:xfrm>
            <a:off x="781050" y="6477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CFE0D7"/>
                </a:solidFill>
              </a:defRPr>
            </a:pPr>
            <a:r>
              <a:rPr sz="2250" b="1">
                <a:solidFill>
                  <a:srgbClr val="CFE0D7"/>
                </a:solidFill>
              </a:rPr>
              <a:t>Conclusión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03A2CD-BFC6-4153-92A0-5A6E15E52DB5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10001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El mismo analizador respondió ante diez situaciones diferentes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D3F269-4310-43CF-B364-5E2DA050CD4A}"/>
              </a:ext>
            </a:extLst>
          </p:cNvPr>
          <p:cNvSpPr>
            <a:spLocks noGrp="1"/>
          </p:cNvSpPr>
          <p:nvPr/>
        </p:nvSpPr>
        <p:spPr>
          <a:xfrm>
            <a:off x="781050" y="2905125"/>
            <a:ext cx="9334500" cy="195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E4EEE9"/>
                </a:solidFill>
              </a:defRPr>
            </a:pPr>
            <a:r>
              <a:rPr sz="1800" b="0">
                <a:solidFill>
                  <a:srgbClr val="E4EEE9"/>
                </a:solidFill>
              </a:rPr>
              <a:t>El banco de ejercicios permitió comprobar de manera práctica la función de la tabla de símbolos, la evaluación de expresiones y la validación de tipos. Los casos correctos produjeron valores coherentes, mientras que los ejercicios intencionalmente inválidos fueron rechazados con mensajes que indican la línea y la causa del problema.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FF3CF85-B709-4F75-8CCC-B9F883ECFB7E}"/>
              </a:ext>
            </a:extLst>
          </p:cNvPr>
          <p:cNvSpPr>
            <a:spLocks noGrp="1"/>
          </p:cNvSpPr>
          <p:nvPr/>
        </p:nvSpPr>
        <p:spPr>
          <a:xfrm>
            <a:off x="781050" y="5286375"/>
            <a:ext cx="904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Las evidencias confirman que el proyecto puede reutilizarse para analizar distintas entradas.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FC8E366-D94E-46D8-9A9B-0A419B51F1A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CFE0D7"/>
                </a:solidFill>
              </a:defRPr>
            </a:pPr>
            <a:r>
              <a:rPr sz="900" b="0">
                <a:solidFill>
                  <a:srgbClr val="CFE0D7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502629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8FC3FB05-C9AC-41A6-AAD0-CC47D6EC13D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Referencias bibliográficas en formato APA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3AC4DBC-8A2B-4511-AC94-01486416718B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E0F4D9D-FFB6-458E-8C4C-B8082CCD6BE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BDAFDD1-2B03-4B92-9C84-123049F42C19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10287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201D"/>
                </a:solidFill>
              </a:defRPr>
            </a:pPr>
            <a:r>
              <a:rPr sz="1275" b="0">
                <a:solidFill>
                  <a:srgbClr val="17201D"/>
                </a:solidFill>
              </a:rPr>
              <a:t>Aho, A. V., Lam, M. S., Sethi, R., &amp; Ullman, J. D. (2007). Compiladores: Principios, técnicas y herramientas (2.ª ed.). Pearson Educación.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15BCD36-198F-4DBB-95AB-5597B3C69EAD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D8540D3-1D00-4BA5-A640-D3ADF3D88D84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10287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201D"/>
                </a:solidFill>
              </a:defRPr>
            </a:pPr>
            <a:r>
              <a:rPr sz="1275" b="0" dirty="0">
                <a:solidFill>
                  <a:srgbClr val="17201D"/>
                </a:solidFill>
              </a:rPr>
              <a:t>Cornell University, Department of Computer Science. (2023). Semantic analysis and symbol tables. </a:t>
            </a:r>
            <a:r>
              <a:rPr sz="1275" b="0" dirty="0">
                <a:solidFill>
                  <a:srgbClr val="17201D"/>
                </a:solidFill>
                <a:hlinkClick r:id="rId3"/>
              </a:rPr>
              <a:t>https://www.cs.cornell.edu/courses/cs4120/2023sp/notes.html?id=semantic</a:t>
            </a:r>
            <a:endParaRPr lang="es-MX" sz="1275" b="0" dirty="0">
              <a:solidFill>
                <a:srgbClr val="17201D"/>
              </a:solidFill>
            </a:endParaRPr>
          </a:p>
          <a:p>
            <a:pPr algn="l"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530156C-90A6-4E4C-91F8-E6DFA8F9E8A7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A530D98-C37E-4BBD-B1CB-68A1F8DC489D}"/>
              </a:ext>
            </a:extLst>
          </p:cNvPr>
          <p:cNvSpPr>
            <a:spLocks noGrp="1"/>
          </p:cNvSpPr>
          <p:nvPr/>
        </p:nvSpPr>
        <p:spPr>
          <a:xfrm>
            <a:off x="876300" y="3429000"/>
            <a:ext cx="10287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201D"/>
                </a:solidFill>
              </a:defRPr>
            </a:pPr>
            <a:r>
              <a:rPr sz="1275" b="0" dirty="0">
                <a:solidFill>
                  <a:srgbClr val="17201D"/>
                </a:solidFill>
              </a:rPr>
              <a:t>LLVM Project. (s. f.). Kaleidoscope: Implementing a parser and AST. </a:t>
            </a:r>
            <a:r>
              <a:rPr sz="1275" b="0" dirty="0">
                <a:solidFill>
                  <a:srgbClr val="17201D"/>
                </a:solidFill>
                <a:hlinkClick r:id="rId4"/>
              </a:rPr>
              <a:t>https://llvm.org/docs/tutorial/MyFirstLanguageFrontend/LangImpl02.html</a:t>
            </a:r>
            <a:endParaRPr lang="es-MX" sz="1275" b="0" dirty="0">
              <a:solidFill>
                <a:srgbClr val="17201D"/>
              </a:solidFill>
            </a:endParaRPr>
          </a:p>
          <a:p>
            <a:pPr algn="l">
              <a:defRPr sz="1275" b="0">
                <a:solidFill>
                  <a:srgbClr val="17201D"/>
                </a:solidFill>
              </a:defRPr>
            </a:pPr>
            <a:endParaRPr sz="1275" b="0" dirty="0">
              <a:solidFill>
                <a:srgbClr val="17201D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C657AFA-051C-4BB5-AEB2-2E2FF7C76516}"/>
              </a:ext>
            </a:extLst>
          </p:cNvPr>
          <p:cNvSpPr>
            <a:spLocks noGrp="1"/>
          </p:cNvSpPr>
          <p:nvPr/>
        </p:nvSpPr>
        <p:spPr>
          <a:xfrm>
            <a:off x="876300" y="4267200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76D37DC-363E-4E8D-83AA-1289C83AE924}"/>
              </a:ext>
            </a:extLst>
          </p:cNvPr>
          <p:cNvSpPr>
            <a:spLocks noGrp="1"/>
          </p:cNvSpPr>
          <p:nvPr/>
        </p:nvSpPr>
        <p:spPr>
          <a:xfrm>
            <a:off x="876300" y="5219700"/>
            <a:ext cx="10287000" cy="9525"/>
          </a:xfrm>
          <a:prstGeom prst="rect">
            <a:avLst/>
          </a:prstGeom>
          <a:solidFill>
            <a:srgbClr val="C9D2CD"/>
          </a:solidFill>
          <a:ln w="0">
            <a:solidFill>
              <a:srgbClr val="C9D2CD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19F851C-60AB-4236-91F0-5A4812860CAD}"/>
              </a:ext>
            </a:extLst>
          </p:cNvPr>
          <p:cNvSpPr>
            <a:spLocks noGrp="1"/>
          </p:cNvSpPr>
          <p:nvPr/>
        </p:nvSpPr>
        <p:spPr>
          <a:xfrm>
            <a:off x="809625" y="4400550"/>
            <a:ext cx="10287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16C"/>
                </a:solidFill>
              </a:defRPr>
            </a:pPr>
            <a:r>
              <a:rPr sz="1275" b="0" dirty="0" err="1">
                <a:solidFill>
                  <a:srgbClr val="66716C"/>
                </a:solidFill>
              </a:rPr>
              <a:t>Tecnológico</a:t>
            </a:r>
            <a:r>
              <a:rPr sz="1275" b="0" dirty="0">
                <a:solidFill>
                  <a:srgbClr val="66716C"/>
                </a:solidFill>
              </a:rPr>
              <a:t> Nacional de México. (2026). </a:t>
            </a:r>
            <a:r>
              <a:rPr sz="1275" b="0" dirty="0" err="1">
                <a:solidFill>
                  <a:srgbClr val="66716C"/>
                </a:solidFill>
              </a:rPr>
              <a:t>Instrumentación</a:t>
            </a:r>
            <a:r>
              <a:rPr sz="1275" b="0" dirty="0">
                <a:solidFill>
                  <a:srgbClr val="66716C"/>
                </a:solidFill>
              </a:rPr>
              <a:t> </a:t>
            </a:r>
            <a:r>
              <a:rPr sz="1275" b="0" dirty="0" err="1">
                <a:solidFill>
                  <a:srgbClr val="66716C"/>
                </a:solidFill>
              </a:rPr>
              <a:t>didáctica</a:t>
            </a:r>
            <a:r>
              <a:rPr sz="1275" b="0" dirty="0">
                <a:solidFill>
                  <a:srgbClr val="66716C"/>
                </a:solidFill>
              </a:rPr>
              <a:t> de </a:t>
            </a:r>
            <a:r>
              <a:rPr sz="1275" b="0" dirty="0" err="1">
                <a:solidFill>
                  <a:srgbClr val="66716C"/>
                </a:solidFill>
              </a:rPr>
              <a:t>Lenguajes</a:t>
            </a:r>
            <a:r>
              <a:rPr sz="1275" b="0" dirty="0">
                <a:solidFill>
                  <a:srgbClr val="66716C"/>
                </a:solidFill>
              </a:rPr>
              <a:t> y </a:t>
            </a:r>
            <a:r>
              <a:rPr sz="1275" b="0" dirty="0" err="1">
                <a:solidFill>
                  <a:srgbClr val="66716C"/>
                </a:solidFill>
              </a:rPr>
              <a:t>Autómatas</a:t>
            </a:r>
            <a:r>
              <a:rPr sz="1275" b="0" dirty="0">
                <a:solidFill>
                  <a:srgbClr val="66716C"/>
                </a:solidFill>
              </a:rPr>
              <a:t> II, </a:t>
            </a:r>
            <a:r>
              <a:rPr sz="1275" b="0" dirty="0" err="1">
                <a:solidFill>
                  <a:srgbClr val="66716C"/>
                </a:solidFill>
              </a:rPr>
              <a:t>agosto-diciembre</a:t>
            </a:r>
            <a:r>
              <a:rPr sz="1275" b="0" dirty="0">
                <a:solidFill>
                  <a:srgbClr val="66716C"/>
                </a:solidFill>
              </a:rPr>
              <a:t> de 2026 [</a:t>
            </a:r>
            <a:r>
              <a:rPr sz="1275" b="0" dirty="0" err="1">
                <a:solidFill>
                  <a:srgbClr val="66716C"/>
                </a:solidFill>
              </a:rPr>
              <a:t>Documento</a:t>
            </a:r>
            <a:r>
              <a:rPr sz="1275" b="0" dirty="0">
                <a:solidFill>
                  <a:srgbClr val="66716C"/>
                </a:solidFill>
              </a:rPr>
              <a:t> </a:t>
            </a:r>
            <a:r>
              <a:rPr sz="1275" b="0" dirty="0" err="1">
                <a:solidFill>
                  <a:srgbClr val="66716C"/>
                </a:solidFill>
              </a:rPr>
              <a:t>institucional</a:t>
            </a:r>
            <a:r>
              <a:rPr sz="1275" b="0" dirty="0">
                <a:solidFill>
                  <a:srgbClr val="66716C"/>
                </a:solidFill>
              </a:rPr>
              <a:t>].</a:t>
            </a:r>
          </a:p>
        </p:txBody>
      </p:sp>
    </p:spTree>
    <p:extLst>
      <p:ext uri="{BB962C8B-B14F-4D97-AF65-F5344CB8AC3E}">
        <p14:creationId xmlns:p14="http://schemas.microsoft.com/office/powerpoint/2010/main" val="1559843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DADC8F2B-097A-4DAC-8D08-7763ECBC28B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108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7201D"/>
                </a:solidFill>
              </a:defRPr>
            </a:pPr>
            <a:r>
              <a:rPr sz="2700" b="1">
                <a:solidFill>
                  <a:srgbClr val="17201D"/>
                </a:solidFill>
              </a:rPr>
              <a:t>Repositorio del proyecto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F4C0A65-7C9D-4B69-A726-C84BF0C4FBD3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685800" cy="38100"/>
          </a:xfrm>
          <a:prstGeom prst="rect">
            <a:avLst/>
          </a:prstGeom>
          <a:solidFill>
            <a:srgbClr val="29483D"/>
          </a:solidFill>
          <a:ln w="0">
            <a:solidFill>
              <a:srgbClr val="29483D"/>
            </a:solidFill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F638479-CC6F-4A70-BE0B-8278CFE194C3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66716C"/>
                </a:solidFill>
              </a:defRPr>
            </a:pPr>
            <a:r>
              <a:rPr sz="900" b="0">
                <a:solidFill>
                  <a:srgbClr val="66716C"/>
                </a:solidFill>
              </a:rPr>
              <a:t>26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69CACE-D66D-4EF4-8964-8E3E333CDAFE}"/>
              </a:ext>
            </a:extLst>
          </p:cNvPr>
          <p:cNvSpPr>
            <a:spLocks noGrp="1"/>
          </p:cNvSpPr>
          <p:nvPr/>
        </p:nvSpPr>
        <p:spPr>
          <a:xfrm>
            <a:off x="781050" y="1762125"/>
            <a:ext cx="8382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El código completo y los diez archivos del banco de ejercicios se encuentran en el siguiente repositorio.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DCBC773-15DF-4689-9AE3-BFC5F6507ADB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10629900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C9D2CD"/>
            </a:solidFill>
            <a:prstDash val="solid"/>
          </a:ln>
        </p:spPr>
        <p:txBody>
          <a:bodyPr/>
          <a:lstStyle/>
          <a:p>
            <a:endParaRPr lang="es-MX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37BAABD-FB51-4379-AEB4-050D77C6EDB8}"/>
              </a:ext>
            </a:extLst>
          </p:cNvPr>
          <p:cNvSpPr>
            <a:spLocks noGrp="1"/>
          </p:cNvSpPr>
          <p:nvPr/>
        </p:nvSpPr>
        <p:spPr>
          <a:xfrm>
            <a:off x="1095375" y="39719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9483D"/>
                </a:solidFill>
              </a:defRPr>
            </a:pPr>
            <a:r>
              <a:rPr sz="1350" b="1">
                <a:solidFill>
                  <a:srgbClr val="29483D"/>
                </a:solidFill>
              </a:rPr>
              <a:t>Enlace del repositorio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59B40E5-9DFB-4670-BFA3-521B5A58CFC4}"/>
              </a:ext>
            </a:extLst>
          </p:cNvPr>
          <p:cNvSpPr>
            <a:spLocks noGrp="1"/>
          </p:cNvSpPr>
          <p:nvPr/>
        </p:nvSpPr>
        <p:spPr>
          <a:xfrm>
            <a:off x="1095375" y="4400550"/>
            <a:ext cx="9667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17201D"/>
                </a:solidFill>
              </a:defRPr>
            </a:pPr>
            <a:r>
              <a:rPr lang="es-MX" sz="1400" b="1" dirty="0">
                <a:solidFill>
                  <a:srgbClr val="17201D"/>
                </a:solidFill>
                <a:hlinkClick r:id="rId3"/>
              </a:rPr>
              <a:t>https://github.com/amaurycolochos-cpu/LENGUAJES-Y-AUTOMATAS-II/tree/main/LYA-II-Tema-1/AnalizadorSemanticoACT-1.3</a:t>
            </a:r>
            <a:endParaRPr lang="es-MX" sz="1400" b="1" dirty="0">
              <a:solidFill>
                <a:srgbClr val="17201D"/>
              </a:solidFill>
            </a:endParaRPr>
          </a:p>
          <a:p>
            <a:pPr algn="l">
              <a:defRPr sz="1725" b="1">
                <a:solidFill>
                  <a:srgbClr val="17201D"/>
                </a:solidFill>
              </a:defRPr>
            </a:pPr>
            <a:endParaRPr sz="1400" b="1" dirty="0">
              <a:solidFill>
                <a:srgbClr val="17201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880823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1933</Words>
  <Application>Microsoft Office PowerPoint</Application>
  <DocSecurity>0</DocSecurity>
  <PresentationFormat>Panorámica</PresentationFormat>
  <Paragraphs>299</Paragraphs>
  <Slides>26</Slides>
  <Notes>26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-apple-system</vt:lpstr>
      <vt:lpstr>Aptos</vt:lpstr>
      <vt:lpstr>Aptos Display</vt:lpstr>
      <vt:lpstr>Arial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amaury rokete</cp:lastModifiedBy>
  <cp:revision>3</cp:revision>
  <dcterms:created xsi:type="dcterms:W3CDTF">2026-08-31T22:25:10Z</dcterms:created>
  <dcterms:modified xsi:type="dcterms:W3CDTF">2026-08-31T22:45:10Z</dcterms:modified>
</cp:coreProperties>
</file>