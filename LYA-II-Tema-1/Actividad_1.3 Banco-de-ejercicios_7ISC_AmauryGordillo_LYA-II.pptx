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jfx.io/openjfx-docs/maven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oracle.com/javase/specs/jls/se17/html/" TargetMode="External"/><Relationship Id="rId4" Type="http://schemas.openxmlformats.org/officeDocument/2006/relationships/hyperlink" Target="https://openjfx.io/javadoc/26/javafx.fxml/javafx/fxml/doc-files/introduction_to_fxml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aurycolochos-cpu/LENGUAJES-Y-AUTOMATAS-II/tree/main/LYA-II-Tema-1/AnalizadorSemantico-Unidad-1-JavaFX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LENGUAJES Y AUTOMATAS II</a:t>
            </a: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1.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 — </a:t>
            </a:r>
            <a:r>
              <a:rPr lang="es-MX" sz="1875" dirty="0">
                <a:solidFill>
                  <a:srgbClr val="212529"/>
                </a:solidFill>
                <a:latin typeface="-apple-system"/>
                <a:ea typeface="Aptos Display"/>
                <a:cs typeface="Aptos Display"/>
              </a:rPr>
              <a:t>BANCO DE EJERCICIOS</a:t>
            </a:r>
            <a:endParaRPr b="0" i="0" dirty="0">
              <a:solidFill>
                <a:srgbClr val="212529"/>
              </a:solidFill>
              <a:latin typeface="-apple-system"/>
              <a:ea typeface="-apple-system"/>
              <a:cs typeface="-apple-system"/>
            </a:endParaRP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 dirty="0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23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</a:t>
            </a:r>
            <a:r>
              <a:rPr sz="135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AGOSTO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10CBBE76-9DE0-4793-8BBA-FEA366102BE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2700" b="1">
                <a:solidFill>
                  <a:srgbClr val="17201D"/>
                </a:solidFill>
              </a:defRPr>
            </a:pPr>
            <a:r>
              <a:rPr lang="es-MX" sz="2700" b="1" dirty="0">
                <a:solidFill>
                  <a:srgbClr val="17201D"/>
                </a:solidFill>
              </a:rPr>
              <a:t>J</a:t>
            </a:r>
            <a:r>
              <a:rPr sz="2700" b="1" dirty="0" err="1">
                <a:solidFill>
                  <a:srgbClr val="17201D"/>
                </a:solidFill>
              </a:rPr>
              <a:t>ustificación</a:t>
            </a:r>
            <a:endParaRPr sz="2700" b="1" dirty="0">
              <a:solidFill>
                <a:srgbClr val="17201D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9B1C807-F71E-425E-A5CE-F321E329FC67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84CADE8-3175-4C7F-BA02-05BB5A292CEE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2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FEA247C-1EC7-49F6-A7FD-2334D0E8805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49530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6BACFB-55AF-4721-8E56-DEA0D0BE32A3}"/>
              </a:ext>
            </a:extLst>
          </p:cNvPr>
          <p:cNvSpPr>
            <a:spLocks noGrp="1"/>
          </p:cNvSpPr>
          <p:nvPr/>
        </p:nvSpPr>
        <p:spPr>
          <a:xfrm>
            <a:off x="1028700" y="2095500"/>
            <a:ext cx="409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29483D"/>
                </a:solidFill>
              </a:defRPr>
            </a:pPr>
            <a:r>
              <a:rPr sz="2025" b="1">
                <a:solidFill>
                  <a:srgbClr val="29483D"/>
                </a:solidFill>
              </a:rPr>
              <a:t>¿En qué consiste la actividad?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017D365-E5ED-4BD9-93C6-C6120B5EACCC}"/>
              </a:ext>
            </a:extLst>
          </p:cNvPr>
          <p:cNvSpPr>
            <a:spLocks noGrp="1"/>
          </p:cNvSpPr>
          <p:nvPr/>
        </p:nvSpPr>
        <p:spPr>
          <a:xfrm>
            <a:off x="1028700" y="2714625"/>
            <a:ext cx="409575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17201D"/>
                </a:solidFill>
              </a:defRPr>
            </a:pPr>
            <a:r>
              <a:rPr sz="1650" b="0">
                <a:solidFill>
                  <a:srgbClr val="17201D"/>
                </a:solidFill>
              </a:rPr>
              <a:t>La actividad consiste en un analizador semántico desarrollado como aplicación JavaFX. Desde una sola ventana se seleccionan diez archivos, se ejecutan las reglas y se consultan la tabla de símbolos, las salidas y los errores detectados.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E5AC186-5E08-4D76-981C-04F8D071BB3F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7201D"/>
                </a:solidFill>
              </a:defRPr>
            </a:pPr>
            <a:r>
              <a:rPr sz="1950" b="1">
                <a:solidFill>
                  <a:srgbClr val="17201D"/>
                </a:solidFill>
              </a:rPr>
              <a:t>La organización permite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987BDED-EE54-4F6F-86EE-115B27607C6E}"/>
              </a:ext>
            </a:extLst>
          </p:cNvPr>
          <p:cNvSpPr>
            <a:spLocks noGrp="1"/>
          </p:cNvSpPr>
          <p:nvPr/>
        </p:nvSpPr>
        <p:spPr>
          <a:xfrm>
            <a:off x="6477000" y="27051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79BDBDF-6111-4765-9AB4-0A741303A283}"/>
              </a:ext>
            </a:extLst>
          </p:cNvPr>
          <p:cNvSpPr>
            <a:spLocks noGrp="1"/>
          </p:cNvSpPr>
          <p:nvPr/>
        </p:nvSpPr>
        <p:spPr>
          <a:xfrm>
            <a:off x="6715125" y="2619375"/>
            <a:ext cx="4238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Probar cada regla con una entrada concreta.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D96EE83-D977-45E6-81BB-5EAE9DB02A7E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E4B28D5-BF3C-4DEF-AEC6-37DFE287D672}"/>
              </a:ext>
            </a:extLst>
          </p:cNvPr>
          <p:cNvSpPr>
            <a:spLocks noGrp="1"/>
          </p:cNvSpPr>
          <p:nvPr/>
        </p:nvSpPr>
        <p:spPr>
          <a:xfrm>
            <a:off x="6715125" y="3400425"/>
            <a:ext cx="4238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Separar símbolos, salidas y errores en pestañas.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638F080-9C2E-4619-8A7E-DF5E6EDE69B1}"/>
              </a:ext>
            </a:extLst>
          </p:cNvPr>
          <p:cNvSpPr>
            <a:spLocks noGrp="1"/>
          </p:cNvSpPr>
          <p:nvPr/>
        </p:nvSpPr>
        <p:spPr>
          <a:xfrm>
            <a:off x="6477000" y="42672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9D38B33-9FDC-403B-939C-A94500A3F16A}"/>
              </a:ext>
            </a:extLst>
          </p:cNvPr>
          <p:cNvSpPr>
            <a:spLocks noGrp="1"/>
          </p:cNvSpPr>
          <p:nvPr/>
        </p:nvSpPr>
        <p:spPr>
          <a:xfrm>
            <a:off x="6715125" y="4181475"/>
            <a:ext cx="4238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Comparar cinco casos correctos y cinco con errores.</a:t>
            </a:r>
          </a:p>
        </p:txBody>
      </p:sp>
    </p:spTree>
    <p:extLst>
      <p:ext uri="{BB962C8B-B14F-4D97-AF65-F5344CB8AC3E}">
        <p14:creationId xmlns:p14="http://schemas.microsoft.com/office/powerpoint/2010/main" val="121094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C64A4212-43E4-47AB-AB20-C68FCD6F210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Objetivo de la actividad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5E630FC-46BB-4204-94B8-6F8239A691AF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37AC8A8-8E79-43D7-B233-07AA127CF174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6B20A3E-636A-4115-B37C-52E40FEBC7EE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1000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7201D"/>
                </a:solidFill>
              </a:defRPr>
            </a:pPr>
            <a:r>
              <a:rPr sz="2025" b="1">
                <a:solidFill>
                  <a:srgbClr val="17201D"/>
                </a:solidFill>
              </a:rPr>
              <a:t>Ejecutar en JavaFX un banco de diez ejercicios para comprobar el registro de símbolos, la evaluación de expresiones, la compatibilidad de tipos y la detección de errores semánticos.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CAAF229-F9B4-4CB4-B415-B4FD234453DB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4857750" cy="2238375"/>
          </a:xfrm>
          <a:prstGeom prst="roundRect">
            <a:avLst>
              <a:gd name="adj" fmla="val 5106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A2E77AE-D11E-424D-8BFA-7B7C8CBF7E56}"/>
              </a:ext>
            </a:extLst>
          </p:cNvPr>
          <p:cNvSpPr>
            <a:spLocks noGrp="1"/>
          </p:cNvSpPr>
          <p:nvPr/>
        </p:nvSpPr>
        <p:spPr>
          <a:xfrm>
            <a:off x="1095375" y="31623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9483D"/>
                </a:solidFill>
              </a:defRPr>
            </a:pPr>
            <a:r>
              <a:rPr sz="1800" b="1">
                <a:solidFill>
                  <a:srgbClr val="29483D"/>
                </a:solidFill>
              </a:rPr>
              <a:t>Comprobaciones correctas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1BE8828-DEFF-4783-B4F5-74AC37965268}"/>
              </a:ext>
            </a:extLst>
          </p:cNvPr>
          <p:cNvSpPr>
            <a:spLocks noGrp="1"/>
          </p:cNvSpPr>
          <p:nvPr/>
        </p:nvSpPr>
        <p:spPr>
          <a:xfrm>
            <a:off x="1095375" y="381952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9EB5027-B51D-47E9-95F7-74EB56A169C6}"/>
              </a:ext>
            </a:extLst>
          </p:cNvPr>
          <p:cNvSpPr>
            <a:spLocks noGrp="1"/>
          </p:cNvSpPr>
          <p:nvPr/>
        </p:nvSpPr>
        <p:spPr>
          <a:xfrm>
            <a:off x="1333500" y="3733800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Registrar identificadores, tipos, ámbitos, direcciones y valores.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F86DEF3-3ACD-4915-8BC9-62F74ECB49A0}"/>
              </a:ext>
            </a:extLst>
          </p:cNvPr>
          <p:cNvSpPr>
            <a:spLocks noGrp="1"/>
          </p:cNvSpPr>
          <p:nvPr/>
        </p:nvSpPr>
        <p:spPr>
          <a:xfrm>
            <a:off x="1095375" y="43434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44455E0-B4D2-47E1-B846-32A78A1649A2}"/>
              </a:ext>
            </a:extLst>
          </p:cNvPr>
          <p:cNvSpPr>
            <a:spLocks noGrp="1"/>
          </p:cNvSpPr>
          <p:nvPr/>
        </p:nvSpPr>
        <p:spPr>
          <a:xfrm>
            <a:off x="1333500" y="4257675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Resolver expresiones y promoción entre int y float.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064A4E2-C480-4E85-AAF5-7693A57D50D1}"/>
              </a:ext>
            </a:extLst>
          </p:cNvPr>
          <p:cNvSpPr>
            <a:spLocks noGrp="1"/>
          </p:cNvSpPr>
          <p:nvPr/>
        </p:nvSpPr>
        <p:spPr>
          <a:xfrm>
            <a:off x="1095375" y="48672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5BBB366-4F3A-4562-9ACC-FD353C703B58}"/>
              </a:ext>
            </a:extLst>
          </p:cNvPr>
          <p:cNvSpPr>
            <a:spLocks noGrp="1"/>
          </p:cNvSpPr>
          <p:nvPr/>
        </p:nvSpPr>
        <p:spPr>
          <a:xfrm>
            <a:off x="1333500" y="4781550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Presentar salidas coherentes desde la interfaz.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06473DA-1E2A-420B-8635-509C0C0DBBB3}"/>
              </a:ext>
            </a:extLst>
          </p:cNvPr>
          <p:cNvSpPr>
            <a:spLocks noGrp="1"/>
          </p:cNvSpPr>
          <p:nvPr/>
        </p:nvSpPr>
        <p:spPr>
          <a:xfrm>
            <a:off x="6381750" y="2857500"/>
            <a:ext cx="4857750" cy="2238375"/>
          </a:xfrm>
          <a:prstGeom prst="roundRect">
            <a:avLst>
              <a:gd name="adj" fmla="val 5106"/>
            </a:avLst>
          </a:prstGeom>
          <a:solidFill>
            <a:srgbClr val="F2E2E0"/>
          </a:solidFill>
          <a:ln w="9525">
            <a:solidFill>
              <a:srgbClr val="F2E2E0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33BB288-FC50-4131-9C5C-9BB4AE53CFC3}"/>
              </a:ext>
            </a:extLst>
          </p:cNvPr>
          <p:cNvSpPr>
            <a:spLocks noGrp="1"/>
          </p:cNvSpPr>
          <p:nvPr/>
        </p:nvSpPr>
        <p:spPr>
          <a:xfrm>
            <a:off x="6696075" y="31623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9B403B"/>
                </a:solidFill>
              </a:defRPr>
            </a:pPr>
            <a:r>
              <a:rPr sz="1800" b="1">
                <a:solidFill>
                  <a:srgbClr val="9B403B"/>
                </a:solidFill>
              </a:rPr>
              <a:t>Comprobaciones de error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6AD6C79-539F-4A3E-8E96-A8DBBDD8A6CE}"/>
              </a:ext>
            </a:extLst>
          </p:cNvPr>
          <p:cNvSpPr>
            <a:spLocks noGrp="1"/>
          </p:cNvSpPr>
          <p:nvPr/>
        </p:nvSpPr>
        <p:spPr>
          <a:xfrm>
            <a:off x="6696075" y="381952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B7CFCAA-AD9F-47F8-A824-11F831EE3182}"/>
              </a:ext>
            </a:extLst>
          </p:cNvPr>
          <p:cNvSpPr>
            <a:spLocks noGrp="1"/>
          </p:cNvSpPr>
          <p:nvPr/>
        </p:nvSpPr>
        <p:spPr>
          <a:xfrm>
            <a:off x="6934200" y="3733800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Detectar duplicidad y variables no declaradas.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A5E07FB-DDE0-464A-B78F-D4C17C787332}"/>
              </a:ext>
            </a:extLst>
          </p:cNvPr>
          <p:cNvSpPr>
            <a:spLocks noGrp="1"/>
          </p:cNvSpPr>
          <p:nvPr/>
        </p:nvSpPr>
        <p:spPr>
          <a:xfrm>
            <a:off x="6696075" y="43434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0C01557-7D74-48DB-8681-F1C7AC1C1BD1}"/>
              </a:ext>
            </a:extLst>
          </p:cNvPr>
          <p:cNvSpPr>
            <a:spLocks noGrp="1"/>
          </p:cNvSpPr>
          <p:nvPr/>
        </p:nvSpPr>
        <p:spPr>
          <a:xfrm>
            <a:off x="6934200" y="4257675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Rechazar asignaciones incompatibles.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A4F49F4-DDF6-48B9-BADE-9233E83817C2}"/>
              </a:ext>
            </a:extLst>
          </p:cNvPr>
          <p:cNvSpPr>
            <a:spLocks noGrp="1"/>
          </p:cNvSpPr>
          <p:nvPr/>
        </p:nvSpPr>
        <p:spPr>
          <a:xfrm>
            <a:off x="6696075" y="48672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A798795-42EF-4EEB-9743-98FA2A7909A5}"/>
              </a:ext>
            </a:extLst>
          </p:cNvPr>
          <p:cNvSpPr>
            <a:spLocks noGrp="1"/>
          </p:cNvSpPr>
          <p:nvPr/>
        </p:nvSpPr>
        <p:spPr>
          <a:xfrm>
            <a:off x="6934200" y="4781550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Informar división entre cero y fallas acumuladas.</a:t>
            </a:r>
          </a:p>
        </p:txBody>
      </p:sp>
    </p:spTree>
    <p:extLst>
      <p:ext uri="{BB962C8B-B14F-4D97-AF65-F5344CB8AC3E}">
        <p14:creationId xmlns:p14="http://schemas.microsoft.com/office/powerpoint/2010/main" val="1068958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190EA12D-CFEB-467F-9CC0-72638BD929A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Fundamento técnico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09CD125-D596-4FCE-8158-02BBEFA1CC66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8CABB49-90B3-42EB-A0B9-CB1C5FA87AFE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4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CE68E80-A0C5-486B-BAF0-FFC2A4AABB29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3105150" cy="32385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EC5A57D-DE11-4CAF-B8A9-64536559C30C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9483D"/>
                </a:solidFill>
              </a:defRPr>
            </a:pPr>
            <a:r>
              <a:rPr sz="1275" b="1">
                <a:solidFill>
                  <a:srgbClr val="29483D"/>
                </a:solidFill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E13973-1915-4068-8D23-B68E423580AD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Reglas semánticas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28044E-F8A2-4A20-A38F-E436C03763BD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2571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66716C"/>
                </a:solidFill>
              </a:defRPr>
            </a:pPr>
            <a:r>
              <a:rPr sz="1500" b="0">
                <a:solidFill>
                  <a:srgbClr val="66716C"/>
                </a:solidFill>
              </a:rPr>
              <a:t>Comprueban declaraciones, uso de variables, compatibilidad de tipos y operaciones válidas.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E0275AE-107D-4462-8E5B-A74E5C3A13F9}"/>
              </a:ext>
            </a:extLst>
          </p:cNvPr>
          <p:cNvSpPr>
            <a:spLocks noGrp="1"/>
          </p:cNvSpPr>
          <p:nvPr/>
        </p:nvSpPr>
        <p:spPr>
          <a:xfrm>
            <a:off x="4200525" y="1857375"/>
            <a:ext cx="3105150" cy="3238500"/>
          </a:xfrm>
          <a:prstGeom prst="roundRect">
            <a:avLst>
              <a:gd name="adj" fmla="val 4908"/>
            </a:avLst>
          </a:prstGeom>
          <a:solidFill>
            <a:srgbClr val="DDE7E1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FA37D48-759C-4C64-AA66-04981DE17CA8}"/>
              </a:ext>
            </a:extLst>
          </p:cNvPr>
          <p:cNvSpPr>
            <a:spLocks noGrp="1"/>
          </p:cNvSpPr>
          <p:nvPr/>
        </p:nvSpPr>
        <p:spPr>
          <a:xfrm>
            <a:off x="4467225" y="209550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9483D"/>
                </a:solidFill>
              </a:defRPr>
            </a:pPr>
            <a:r>
              <a:rPr sz="1275" b="1">
                <a:solidFill>
                  <a:srgbClr val="29483D"/>
                </a:solidFill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40CF2CC-9444-4418-B583-21CF24D6F258}"/>
              </a:ext>
            </a:extLst>
          </p:cNvPr>
          <p:cNvSpPr>
            <a:spLocks noGrp="1"/>
          </p:cNvSpPr>
          <p:nvPr/>
        </p:nvSpPr>
        <p:spPr>
          <a:xfrm>
            <a:off x="4467225" y="2571750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Tabla de símbolos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FEA43A-299D-4272-9E4A-FB945A246854}"/>
              </a:ext>
            </a:extLst>
          </p:cNvPr>
          <p:cNvSpPr>
            <a:spLocks noGrp="1"/>
          </p:cNvSpPr>
          <p:nvPr/>
        </p:nvSpPr>
        <p:spPr>
          <a:xfrm>
            <a:off x="4467225" y="3476625"/>
            <a:ext cx="2571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66716C"/>
                </a:solidFill>
              </a:defRPr>
            </a:pPr>
            <a:r>
              <a:rPr sz="1500" b="0">
                <a:solidFill>
                  <a:srgbClr val="66716C"/>
                </a:solidFill>
              </a:rPr>
              <a:t>Conserva nombre, tipo, ámbito, dirección y valor de cada identificador aceptado.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6D6D137-BE8C-4442-986C-D45EFC249B8D}"/>
              </a:ext>
            </a:extLst>
          </p:cNvPr>
          <p:cNvSpPr>
            <a:spLocks noGrp="1"/>
          </p:cNvSpPr>
          <p:nvPr/>
        </p:nvSpPr>
        <p:spPr>
          <a:xfrm>
            <a:off x="7715250" y="1857375"/>
            <a:ext cx="3105150" cy="32385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3F0B817-FDCF-4DDB-AF3F-6D24DB77C65A}"/>
              </a:ext>
            </a:extLst>
          </p:cNvPr>
          <p:cNvSpPr>
            <a:spLocks noGrp="1"/>
          </p:cNvSpPr>
          <p:nvPr/>
        </p:nvSpPr>
        <p:spPr>
          <a:xfrm>
            <a:off x="7981950" y="209550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9483D"/>
                </a:solidFill>
              </a:defRPr>
            </a:pPr>
            <a:r>
              <a:rPr sz="1275" b="1">
                <a:solidFill>
                  <a:srgbClr val="29483D"/>
                </a:solidFill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B230385-4DFF-4C82-8C26-ECAB92903301}"/>
              </a:ext>
            </a:extLst>
          </p:cNvPr>
          <p:cNvSpPr>
            <a:spLocks noGrp="1"/>
          </p:cNvSpPr>
          <p:nvPr/>
        </p:nvSpPr>
        <p:spPr>
          <a:xfrm>
            <a:off x="7981950" y="2571750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JavaFX, FXML y Maven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B308B67-2FCB-4337-A8A2-156583393747}"/>
              </a:ext>
            </a:extLst>
          </p:cNvPr>
          <p:cNvSpPr>
            <a:spLocks noGrp="1"/>
          </p:cNvSpPr>
          <p:nvPr/>
        </p:nvSpPr>
        <p:spPr>
          <a:xfrm>
            <a:off x="7981950" y="3476625"/>
            <a:ext cx="2571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66716C"/>
                </a:solidFill>
              </a:defRPr>
            </a:pPr>
            <a:r>
              <a:rPr sz="1500" b="0">
                <a:solidFill>
                  <a:srgbClr val="66716C"/>
                </a:solidFill>
              </a:rPr>
              <a:t>JavaFX presenta la ventana; FXML organiza los controles; Maven incorpora los módulos y ejecuta la clase principal.</a:t>
            </a:r>
          </a:p>
        </p:txBody>
      </p:sp>
    </p:spTree>
    <p:extLst>
      <p:ext uri="{BB962C8B-B14F-4D97-AF65-F5344CB8AC3E}">
        <p14:creationId xmlns:p14="http://schemas.microsoft.com/office/powerpoint/2010/main" val="1503304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3185ACE8-0D8F-4271-82DF-8CA5A578DA6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Configuración y ejecución con Maven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2F13897-F208-4655-8881-E796DC526EEA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F8B7721-2BBB-4C4F-833E-D3B79F51997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B66FB95-782F-4E5C-A369-B89C984976CB}"/>
              </a:ext>
            </a:extLst>
          </p:cNvPr>
          <p:cNvSpPr>
            <a:spLocks noGrp="1"/>
          </p:cNvSpPr>
          <p:nvPr/>
        </p:nvSpPr>
        <p:spPr>
          <a:xfrm>
            <a:off x="781050" y="1895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6E7FDF-E37B-4933-A091-A91358118317}"/>
              </a:ext>
            </a:extLst>
          </p:cNvPr>
          <p:cNvSpPr>
            <a:spLocks noGrp="1"/>
          </p:cNvSpPr>
          <p:nvPr/>
        </p:nvSpPr>
        <p:spPr>
          <a:xfrm>
            <a:off x="1019175" y="1809750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El pom.xml declara JavaFX Controls y JavaFX FXML 17.0.16.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4BBDEBA-6780-43B9-9300-4CA1DBDB2F81}"/>
              </a:ext>
            </a:extLst>
          </p:cNvPr>
          <p:cNvSpPr>
            <a:spLocks noGrp="1"/>
          </p:cNvSpPr>
          <p:nvPr/>
        </p:nvSpPr>
        <p:spPr>
          <a:xfrm>
            <a:off x="781050" y="26289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7D3255B-2E73-489E-8064-D651ABF86661}"/>
              </a:ext>
            </a:extLst>
          </p:cNvPr>
          <p:cNvSpPr>
            <a:spLocks noGrp="1"/>
          </p:cNvSpPr>
          <p:nvPr/>
        </p:nvSpPr>
        <p:spPr>
          <a:xfrm>
            <a:off x="1019175" y="2543175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El plugin javafx-maven-plugin 0.0.8 inicia AplicacionAnalizador.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3A4EC07-EBBE-45DE-A0DE-011FA2485E10}"/>
              </a:ext>
            </a:extLst>
          </p:cNvPr>
          <p:cNvSpPr>
            <a:spLocks noGrp="1"/>
          </p:cNvSpPr>
          <p:nvPr/>
        </p:nvSpPr>
        <p:spPr>
          <a:xfrm>
            <a:off x="781050" y="336232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CFC3E5A-45A3-41DE-82CC-FA283F1933BC}"/>
              </a:ext>
            </a:extLst>
          </p:cNvPr>
          <p:cNvSpPr>
            <a:spLocks noGrp="1"/>
          </p:cNvSpPr>
          <p:nvPr/>
        </p:nvSpPr>
        <p:spPr>
          <a:xfrm>
            <a:off x="1019175" y="3276600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Maven resuelve las dependencias y prepara el module path de JavaFX.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B19EDC58-237A-4C69-BF09-00AB3D2382EF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2C78D58-C64F-4765-B3B8-4A6D60FD3D53}"/>
              </a:ext>
            </a:extLst>
          </p:cNvPr>
          <p:cNvSpPr>
            <a:spLocks noGrp="1"/>
          </p:cNvSpPr>
          <p:nvPr/>
        </p:nvSpPr>
        <p:spPr>
          <a:xfrm>
            <a:off x="1019175" y="4010025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clean elimina target para evitar clases o recursos de ejecuciones anteriores.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45D2A9D-F234-4F1F-B438-3572509A3A61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3A8BB04-CC52-4BDF-B7F0-571BC7C19FDD}"/>
              </a:ext>
            </a:extLst>
          </p:cNvPr>
          <p:cNvSpPr>
            <a:spLocks noGrp="1"/>
          </p:cNvSpPr>
          <p:nvPr/>
        </p:nvSpPr>
        <p:spPr>
          <a:xfrm>
            <a:off x="1019175" y="4743450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javafx:run compila y abre la ventana definida en FXML.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0743520-26EA-4CF7-97E6-D499DD300157}"/>
              </a:ext>
            </a:extLst>
          </p:cNvPr>
          <p:cNvSpPr>
            <a:spLocks noGrp="1"/>
          </p:cNvSpPr>
          <p:nvPr/>
        </p:nvSpPr>
        <p:spPr>
          <a:xfrm>
            <a:off x="7239000" y="1952625"/>
            <a:ext cx="3524250" cy="2857500"/>
          </a:xfrm>
          <a:prstGeom prst="roundRect">
            <a:avLst>
              <a:gd name="adj" fmla="val 5333"/>
            </a:avLst>
          </a:prstGeom>
          <a:solidFill>
            <a:srgbClr val="29483D"/>
          </a:solidFill>
          <a:ln w="9525">
            <a:solidFill>
              <a:srgbClr val="29483D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487E759-4EF0-4B21-9C09-B519C35504DB}"/>
              </a:ext>
            </a:extLst>
          </p:cNvPr>
          <p:cNvSpPr>
            <a:spLocks noGrp="1"/>
          </p:cNvSpPr>
          <p:nvPr/>
        </p:nvSpPr>
        <p:spPr>
          <a:xfrm>
            <a:off x="7620000" y="22860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Comando de ejecución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409FDB6-C6E7-4E77-8160-1405ED270D8D}"/>
              </a:ext>
            </a:extLst>
          </p:cNvPr>
          <p:cNvSpPr>
            <a:spLocks noGrp="1"/>
          </p:cNvSpPr>
          <p:nvPr/>
        </p:nvSpPr>
        <p:spPr>
          <a:xfrm>
            <a:off x="7667625" y="2952750"/>
            <a:ext cx="26670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mvn clean javafx:run</a:t>
            </a:r>
          </a:p>
        </p:txBody>
      </p:sp>
    </p:spTree>
    <p:extLst>
      <p:ext uri="{BB962C8B-B14F-4D97-AF65-F5344CB8AC3E}">
        <p14:creationId xmlns:p14="http://schemas.microsoft.com/office/powerpoint/2010/main" val="165652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00F3D091-4A33-4B2C-9477-F784F59473D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Método de ejecución y registro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4E22B88-7FE2-4E8C-A3DB-0DD11C91CC47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C2F232B-9C7B-4BED-A2DE-1117D746BC71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E64BF8B-F713-466C-8CC3-E4F9D67C119B}"/>
              </a:ext>
            </a:extLst>
          </p:cNvPr>
          <p:cNvSpPr>
            <a:spLocks noGrp="1"/>
          </p:cNvSpPr>
          <p:nvPr/>
        </p:nvSpPr>
        <p:spPr>
          <a:xfrm>
            <a:off x="2238375" y="3190875"/>
            <a:ext cx="619125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4442789-2F07-49AB-9EDB-D031E0BA5E98}"/>
              </a:ext>
            </a:extLst>
          </p:cNvPr>
          <p:cNvSpPr>
            <a:spLocks noGrp="1"/>
          </p:cNvSpPr>
          <p:nvPr/>
        </p:nvSpPr>
        <p:spPr>
          <a:xfrm>
            <a:off x="4476750" y="3190875"/>
            <a:ext cx="619125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FB52263-0C18-417D-AFC5-467F6666F36B}"/>
              </a:ext>
            </a:extLst>
          </p:cNvPr>
          <p:cNvSpPr>
            <a:spLocks noGrp="1"/>
          </p:cNvSpPr>
          <p:nvPr/>
        </p:nvSpPr>
        <p:spPr>
          <a:xfrm>
            <a:off x="6715125" y="3190875"/>
            <a:ext cx="619125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3AC0E38-2300-43DC-BE94-1CD9C6E9FA95}"/>
              </a:ext>
            </a:extLst>
          </p:cNvPr>
          <p:cNvSpPr>
            <a:spLocks noGrp="1"/>
          </p:cNvSpPr>
          <p:nvPr/>
        </p:nvSpPr>
        <p:spPr>
          <a:xfrm>
            <a:off x="8953500" y="3190875"/>
            <a:ext cx="619125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9F7CF73-09D8-4CDA-AAF0-8A758ED1539D}"/>
              </a:ext>
            </a:extLst>
          </p:cNvPr>
          <p:cNvSpPr>
            <a:spLocks noGrp="1"/>
          </p:cNvSpPr>
          <p:nvPr/>
        </p:nvSpPr>
        <p:spPr>
          <a:xfrm>
            <a:off x="619125" y="2619375"/>
            <a:ext cx="161925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E34CAA2-AFA9-4D5C-990D-764EAFC0688D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9483D"/>
                </a:solidFill>
              </a:defRPr>
            </a:pPr>
            <a:r>
              <a:rPr sz="975" b="1">
                <a:solidFill>
                  <a:srgbClr val="29483D"/>
                </a:solidFill>
              </a:rPr>
              <a:t>01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FCBEB29-6BE3-405B-9B5C-C49A9AD6B2CE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133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Abrir la terminal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93A540F-50ED-41C1-91D8-73F2157BBDE6}"/>
              </a:ext>
            </a:extLst>
          </p:cNvPr>
          <p:cNvSpPr>
            <a:spLocks noGrp="1"/>
          </p:cNvSpPr>
          <p:nvPr/>
        </p:nvSpPr>
        <p:spPr>
          <a:xfrm>
            <a:off x="2857500" y="2619375"/>
            <a:ext cx="161925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14714B2-B935-4CAF-B812-D66261E5B04F}"/>
              </a:ext>
            </a:extLst>
          </p:cNvPr>
          <p:cNvSpPr>
            <a:spLocks noGrp="1"/>
          </p:cNvSpPr>
          <p:nvPr/>
        </p:nvSpPr>
        <p:spPr>
          <a:xfrm>
            <a:off x="3000375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9483D"/>
                </a:solidFill>
              </a:defRPr>
            </a:pPr>
            <a:r>
              <a:rPr sz="975" b="1">
                <a:solidFill>
                  <a:srgbClr val="29483D"/>
                </a:solidFill>
              </a:rPr>
              <a:t>02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0991AEE-0B48-4E70-8759-4C8DA19A67A9}"/>
              </a:ext>
            </a:extLst>
          </p:cNvPr>
          <p:cNvSpPr>
            <a:spLocks noGrp="1"/>
          </p:cNvSpPr>
          <p:nvPr/>
        </p:nvSpPr>
        <p:spPr>
          <a:xfrm>
            <a:off x="3000375" y="3143250"/>
            <a:ext cx="133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Ejecutar Maven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72C636F-05A0-4E49-953F-5D5F9D4ABC3A}"/>
              </a:ext>
            </a:extLst>
          </p:cNvPr>
          <p:cNvSpPr>
            <a:spLocks noGrp="1"/>
          </p:cNvSpPr>
          <p:nvPr/>
        </p:nvSpPr>
        <p:spPr>
          <a:xfrm>
            <a:off x="5095875" y="2619375"/>
            <a:ext cx="161925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41AA829-D0AF-4B5F-8FE2-D9C03DAF070D}"/>
              </a:ext>
            </a:extLst>
          </p:cNvPr>
          <p:cNvSpPr>
            <a:spLocks noGrp="1"/>
          </p:cNvSpPr>
          <p:nvPr/>
        </p:nvSpPr>
        <p:spPr>
          <a:xfrm>
            <a:off x="5238750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9483D"/>
                </a:solidFill>
              </a:defRPr>
            </a:pPr>
            <a:r>
              <a:rPr sz="975" b="1">
                <a:solidFill>
                  <a:srgbClr val="29483D"/>
                </a:solidFill>
              </a:rPr>
              <a:t>03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6FF7E33-4D14-4226-9403-C5F524347292}"/>
              </a:ext>
            </a:extLst>
          </p:cNvPr>
          <p:cNvSpPr>
            <a:spLocks noGrp="1"/>
          </p:cNvSpPr>
          <p:nvPr/>
        </p:nvSpPr>
        <p:spPr>
          <a:xfrm>
            <a:off x="5238750" y="3143250"/>
            <a:ext cx="133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Elegir ejercicio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1BBFC20-865E-4EBC-8823-394A3A2AED49}"/>
              </a:ext>
            </a:extLst>
          </p:cNvPr>
          <p:cNvSpPr>
            <a:spLocks noGrp="1"/>
          </p:cNvSpPr>
          <p:nvPr/>
        </p:nvSpPr>
        <p:spPr>
          <a:xfrm>
            <a:off x="7334250" y="2619375"/>
            <a:ext cx="161925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E3106ED-CC27-4063-8F93-B82E0562E31D}"/>
              </a:ext>
            </a:extLst>
          </p:cNvPr>
          <p:cNvSpPr>
            <a:spLocks noGrp="1"/>
          </p:cNvSpPr>
          <p:nvPr/>
        </p:nvSpPr>
        <p:spPr>
          <a:xfrm>
            <a:off x="7477125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9483D"/>
                </a:solidFill>
              </a:defRPr>
            </a:pPr>
            <a:r>
              <a:rPr sz="975" b="1">
                <a:solidFill>
                  <a:srgbClr val="29483D"/>
                </a:solidFill>
              </a:rPr>
              <a:t>04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A0330F8-80F0-4D9B-B68E-74B0A36324B1}"/>
              </a:ext>
            </a:extLst>
          </p:cNvPr>
          <p:cNvSpPr>
            <a:spLocks noGrp="1"/>
          </p:cNvSpPr>
          <p:nvPr/>
        </p:nvSpPr>
        <p:spPr>
          <a:xfrm>
            <a:off x="7477125" y="3143250"/>
            <a:ext cx="133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Analizar código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4FF389A9-44E6-47BF-93B0-09DCA8273DB9}"/>
              </a:ext>
            </a:extLst>
          </p:cNvPr>
          <p:cNvSpPr>
            <a:spLocks noGrp="1"/>
          </p:cNvSpPr>
          <p:nvPr/>
        </p:nvSpPr>
        <p:spPr>
          <a:xfrm>
            <a:off x="9572625" y="2619375"/>
            <a:ext cx="1619250" cy="1190625"/>
          </a:xfrm>
          <a:prstGeom prst="roundRect">
            <a:avLst>
              <a:gd name="adj" fmla="val 9600"/>
            </a:avLst>
          </a:prstGeom>
          <a:solidFill>
            <a:srgbClr val="29483D"/>
          </a:solidFill>
          <a:ln w="9525">
            <a:solidFill>
              <a:srgbClr val="29483D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DE3824A-8179-417E-8064-506BB86854E6}"/>
              </a:ext>
            </a:extLst>
          </p:cNvPr>
          <p:cNvSpPr>
            <a:spLocks noGrp="1"/>
          </p:cNvSpPr>
          <p:nvPr/>
        </p:nvSpPr>
        <p:spPr>
          <a:xfrm>
            <a:off x="9715500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DCE9E2"/>
                </a:solidFill>
              </a:defRPr>
            </a:pPr>
            <a:r>
              <a:rPr sz="975" b="1">
                <a:solidFill>
                  <a:srgbClr val="DCE9E2"/>
                </a:solidFill>
              </a:rPr>
              <a:t>05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3ED08FA-9B9E-4407-9BD7-6F459618A977}"/>
              </a:ext>
            </a:extLst>
          </p:cNvPr>
          <p:cNvSpPr>
            <a:spLocks noGrp="1"/>
          </p:cNvSpPr>
          <p:nvPr/>
        </p:nvSpPr>
        <p:spPr>
          <a:xfrm>
            <a:off x="9715500" y="3143250"/>
            <a:ext cx="133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Revisar pestañas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E47A327-3707-4381-8DBD-671E1DCA616F}"/>
              </a:ext>
            </a:extLst>
          </p:cNvPr>
          <p:cNvSpPr>
            <a:spLocks noGrp="1"/>
          </p:cNvSpPr>
          <p:nvPr/>
        </p:nvSpPr>
        <p:spPr>
          <a:xfrm>
            <a:off x="1714500" y="4524375"/>
            <a:ext cx="8763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0">
                <a:solidFill>
                  <a:srgbClr val="66716C"/>
                </a:solidFill>
              </a:defRPr>
            </a:pPr>
            <a:r>
              <a:rPr sz="1650" b="0">
                <a:solidFill>
                  <a:srgbClr val="66716C"/>
                </a:solidFill>
              </a:rPr>
              <a:t>Se registraron dos capturas por ejercicio: tabla de símbolos y salida o errores semánticos.</a:t>
            </a:r>
          </a:p>
        </p:txBody>
      </p:sp>
    </p:spTree>
    <p:extLst>
      <p:ext uri="{BB962C8B-B14F-4D97-AF65-F5344CB8AC3E}">
        <p14:creationId xmlns:p14="http://schemas.microsoft.com/office/powerpoint/2010/main" val="1184638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53216E3C-AC72-4BF0-99B5-602287B89B5F}"/>
              </a:ext>
            </a:extLst>
          </p:cNvPr>
          <p:cNvSpPr>
            <a:spLocks noGrp="1"/>
          </p:cNvSpPr>
          <p:nvPr/>
        </p:nvSpPr>
        <p:spPr>
          <a:xfrm>
            <a:off x="523875" y="3333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2250" b="1">
                <a:solidFill>
                  <a:srgbClr val="173B32"/>
                </a:solidFill>
              </a:defRPr>
            </a:pPr>
            <a:r>
              <a:rPr sz="2250" b="1">
                <a:solidFill>
                  <a:srgbClr val="173B32"/>
                </a:solidFill>
              </a:rPr>
              <a:t>Ejercicio 1 · Tabla de símbolos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D133448-EF9D-418F-A001-B743F73D0DED}"/>
              </a:ext>
            </a:extLst>
          </p:cNvPr>
          <p:cNvSpPr>
            <a:spLocks noGrp="1"/>
          </p:cNvSpPr>
          <p:nvPr/>
        </p:nvSpPr>
        <p:spPr>
          <a:xfrm>
            <a:off x="523875" y="876300"/>
            <a:ext cx="552450" cy="47625"/>
          </a:xfrm>
          <a:prstGeom prst="rect">
            <a:avLst/>
          </a:prstGeom>
          <a:solidFill>
            <a:srgbClr val="2C5A4B"/>
          </a:solidFill>
          <a:ln w="0">
            <a:noFill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156050"/>
            <a:ext cx="5286375" cy="2974276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1156825"/>
            <a:ext cx="5286375" cy="29727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005C1A5-E150-4ED4-9DCB-4A37C516EA32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Tabla de símbolos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B8B628F-812A-473F-85C2-38AD02EFC64E}"/>
              </a:ext>
            </a:extLst>
          </p:cNvPr>
          <p:cNvSpPr>
            <a:spLocks noGrp="1"/>
          </p:cNvSpPr>
          <p:nvPr/>
        </p:nvSpPr>
        <p:spPr>
          <a:xfrm>
            <a:off x="523875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La tabla registra edad, promedio, nombre y activo con sus tipos, direcciones y valores.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98E0018-CB59-4157-8D75-5142CCA0483A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Salida o errores semánticos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6A5ACBB-A9C1-42E0-80A2-15B91A26C281}"/>
              </a:ext>
            </a:extLst>
          </p:cNvPr>
          <p:cNvSpPr>
            <a:spLocks noGrp="1"/>
          </p:cNvSpPr>
          <p:nvPr/>
        </p:nvSpPr>
        <p:spPr>
          <a:xfrm>
            <a:off x="6381750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Las instrucciones mostrar recuperan Amaury y 9.5. El análisis termina sin errores.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F85C93-FE09-4138-9E36-A0DEF882E1A5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50401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0FCA3FA1-67FA-4A16-9415-E9B5DB9FC84E}"/>
              </a:ext>
            </a:extLst>
          </p:cNvPr>
          <p:cNvSpPr>
            <a:spLocks noGrp="1"/>
          </p:cNvSpPr>
          <p:nvPr/>
        </p:nvSpPr>
        <p:spPr>
          <a:xfrm>
            <a:off x="523875" y="3333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2250" b="1">
                <a:solidFill>
                  <a:srgbClr val="173B32"/>
                </a:solidFill>
              </a:defRPr>
            </a:pPr>
            <a:r>
              <a:rPr sz="2250" b="1">
                <a:solidFill>
                  <a:srgbClr val="173B32"/>
                </a:solidFill>
              </a:rPr>
              <a:t>Ejercicio 2 · Expresiones aritméticas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F2DA79-9A54-44AB-AE3C-59729995F79C}"/>
              </a:ext>
            </a:extLst>
          </p:cNvPr>
          <p:cNvSpPr>
            <a:spLocks noGrp="1"/>
          </p:cNvSpPr>
          <p:nvPr/>
        </p:nvSpPr>
        <p:spPr>
          <a:xfrm>
            <a:off x="523875" y="876300"/>
            <a:ext cx="552450" cy="47625"/>
          </a:xfrm>
          <a:prstGeom prst="rect">
            <a:avLst/>
          </a:prstGeom>
          <a:solidFill>
            <a:srgbClr val="2C5A4B"/>
          </a:solidFill>
          <a:ln w="0">
            <a:noFill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156825"/>
            <a:ext cx="5286375" cy="2972724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1156825"/>
            <a:ext cx="5286375" cy="29727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877DCE3-7CA7-439F-8886-303BD8377927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Tabla de símbolos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35198F2-4C4A-43E3-AA02-938BD169AA53}"/>
              </a:ext>
            </a:extLst>
          </p:cNvPr>
          <p:cNvSpPr>
            <a:spLocks noGrp="1"/>
          </p:cNvSpPr>
          <p:nvPr/>
        </p:nvSpPr>
        <p:spPr>
          <a:xfrm>
            <a:off x="523875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a=10 y b=5 se registran antes de evaluar a + b * 2; la prioridad produce resultado=20.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347F364-3D85-4CD5-BD96-DC48277704A4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Salida o errores semánticos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B82052D-A7EE-4ADA-8E1B-EAEA0174A504}"/>
              </a:ext>
            </a:extLst>
          </p:cNvPr>
          <p:cNvSpPr>
            <a:spLocks noGrp="1"/>
          </p:cNvSpPr>
          <p:nvPr/>
        </p:nvSpPr>
        <p:spPr>
          <a:xfrm>
            <a:off x="6381750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La pestaña Salidas confirma “Resultado: 20” y el estado indica análisis correcto.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E7FEDB1-23CE-4ED3-8656-66C9EE9E6BF8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50401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ADA0E96-36DE-4043-ADBD-C612CB33BEBA}"/>
              </a:ext>
            </a:extLst>
          </p:cNvPr>
          <p:cNvSpPr>
            <a:spLocks noGrp="1"/>
          </p:cNvSpPr>
          <p:nvPr/>
        </p:nvSpPr>
        <p:spPr>
          <a:xfrm>
            <a:off x="523875" y="3333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2250" b="1">
                <a:solidFill>
                  <a:srgbClr val="173B32"/>
                </a:solidFill>
              </a:defRPr>
            </a:pPr>
            <a:r>
              <a:rPr sz="2250" b="1">
                <a:solidFill>
                  <a:srgbClr val="173B32"/>
                </a:solidFill>
              </a:rPr>
              <a:t>Ejercicio 3 · Comprobación de tipos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B129532-BB4E-490A-BB02-E20381446FBC}"/>
              </a:ext>
            </a:extLst>
          </p:cNvPr>
          <p:cNvSpPr>
            <a:spLocks noGrp="1"/>
          </p:cNvSpPr>
          <p:nvPr/>
        </p:nvSpPr>
        <p:spPr>
          <a:xfrm>
            <a:off x="523875" y="876300"/>
            <a:ext cx="552450" cy="47625"/>
          </a:xfrm>
          <a:prstGeom prst="rect">
            <a:avLst/>
          </a:prstGeom>
          <a:solidFill>
            <a:srgbClr val="2C5A4B"/>
          </a:solidFill>
          <a:ln w="0">
            <a:noFill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156825"/>
            <a:ext cx="5286375" cy="2972724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1156825"/>
            <a:ext cx="5286375" cy="29727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478028D-3A27-4E10-A2DA-6C9DE3FDDA0E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Tabla de símbolos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1512FC4-8AFF-401F-B16A-AFEBDEF3CDBD}"/>
              </a:ext>
            </a:extLst>
          </p:cNvPr>
          <p:cNvSpPr>
            <a:spLocks noGrp="1"/>
          </p:cNvSpPr>
          <p:nvPr/>
        </p:nvSpPr>
        <p:spPr>
          <a:xfrm>
            <a:off x="523875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La multiplicación de cantidad=4 por precio=15.5 es válida y almacena total=62.0 como float.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A8963DB-CB95-46B2-B1BA-7FE37CCAFA6C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Salida o errores semánticos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0B12763-DCBE-4FC7-B0C2-35DEA5DF2A3E}"/>
              </a:ext>
            </a:extLst>
          </p:cNvPr>
          <p:cNvSpPr>
            <a:spLocks noGrp="1"/>
          </p:cNvSpPr>
          <p:nvPr/>
        </p:nvSpPr>
        <p:spPr>
          <a:xfrm>
            <a:off x="6381750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La salida “Total: 62.0” confirma la promoción entre int y float sin errores.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7F4C972-E2A0-4344-922F-14139EA6878E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50401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1925096-B3B7-4365-990C-F782CD58282B}"/>
              </a:ext>
            </a:extLst>
          </p:cNvPr>
          <p:cNvSpPr>
            <a:spLocks noGrp="1"/>
          </p:cNvSpPr>
          <p:nvPr/>
        </p:nvSpPr>
        <p:spPr>
          <a:xfrm>
            <a:off x="523875" y="3333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2250" b="1">
                <a:solidFill>
                  <a:srgbClr val="173B32"/>
                </a:solidFill>
              </a:defRPr>
            </a:pPr>
            <a:r>
              <a:rPr sz="2250" b="1">
                <a:solidFill>
                  <a:srgbClr val="173B32"/>
                </a:solidFill>
              </a:rPr>
              <a:t>Ejercicio 4 · Concatenación de cadenas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BA257F0-37DC-48C2-8717-A746FA3CE685}"/>
              </a:ext>
            </a:extLst>
          </p:cNvPr>
          <p:cNvSpPr>
            <a:spLocks noGrp="1"/>
          </p:cNvSpPr>
          <p:nvPr/>
        </p:nvSpPr>
        <p:spPr>
          <a:xfrm>
            <a:off x="523875" y="876300"/>
            <a:ext cx="552450" cy="47625"/>
          </a:xfrm>
          <a:prstGeom prst="rect">
            <a:avLst/>
          </a:prstGeom>
          <a:solidFill>
            <a:srgbClr val="2C5A4B"/>
          </a:solidFill>
          <a:ln w="0">
            <a:noFill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156825"/>
            <a:ext cx="5286375" cy="2972724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1156825"/>
            <a:ext cx="5286375" cy="29727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B1CBD65-C85A-4EE6-B5AB-DF583854FA7B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Tabla de símbolos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7743C10-5D3B-402E-AD80-F836E370B75A}"/>
              </a:ext>
            </a:extLst>
          </p:cNvPr>
          <p:cNvSpPr>
            <a:spLocks noGrp="1"/>
          </p:cNvSpPr>
          <p:nvPr/>
        </p:nvSpPr>
        <p:spPr>
          <a:xfrm>
            <a:off x="523875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Producto, precio y disponible conservan tipos String, float y boolean dentro de la tabla.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B04503-3A62-483A-B81B-087933A06737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Salida o errores semánticos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2ABEB8C-29E2-4B95-A520-3B4D9C06DE1B}"/>
              </a:ext>
            </a:extLst>
          </p:cNvPr>
          <p:cNvSpPr>
            <a:spLocks noGrp="1"/>
          </p:cNvSpPr>
          <p:nvPr/>
        </p:nvSpPr>
        <p:spPr>
          <a:xfrm>
            <a:off x="6381750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Las tres salidas unen etiquetas con Teclado, 450.5 y true; el análisis es correcto.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1600239-CBD1-46CF-A9FE-6BFE251352AA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0401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CB3B66C-2259-489A-99EE-29D73DF0CE9A}"/>
              </a:ext>
            </a:extLst>
          </p:cNvPr>
          <p:cNvSpPr>
            <a:spLocks noGrp="1"/>
          </p:cNvSpPr>
          <p:nvPr/>
        </p:nvSpPr>
        <p:spPr>
          <a:xfrm>
            <a:off x="523875" y="3333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2250" b="1">
                <a:solidFill>
                  <a:srgbClr val="173B32"/>
                </a:solidFill>
              </a:defRPr>
            </a:pPr>
            <a:r>
              <a:rPr sz="2250" b="1">
                <a:solidFill>
                  <a:srgbClr val="173B32"/>
                </a:solidFill>
              </a:rPr>
              <a:t>Ejercicio 5 · Variable duplicada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3A0C7CA-1D23-44F1-B664-E6C15F4547C4}"/>
              </a:ext>
            </a:extLst>
          </p:cNvPr>
          <p:cNvSpPr>
            <a:spLocks noGrp="1"/>
          </p:cNvSpPr>
          <p:nvPr/>
        </p:nvSpPr>
        <p:spPr>
          <a:xfrm>
            <a:off x="523875" y="876300"/>
            <a:ext cx="552450" cy="47625"/>
          </a:xfrm>
          <a:prstGeom prst="rect">
            <a:avLst/>
          </a:prstGeom>
          <a:solidFill>
            <a:srgbClr val="2C5A4B"/>
          </a:solidFill>
          <a:ln w="0">
            <a:noFill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156825"/>
            <a:ext cx="5286375" cy="2972724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1156825"/>
            <a:ext cx="5286375" cy="29727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04925C3-5044-4AD4-8347-5CDE1F6FF583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Tabla de símbolos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E4CD9D6-2406-4876-B800-775CA93C7EA2}"/>
              </a:ext>
            </a:extLst>
          </p:cNvPr>
          <p:cNvSpPr>
            <a:spLocks noGrp="1"/>
          </p:cNvSpPr>
          <p:nvPr/>
        </p:nvSpPr>
        <p:spPr>
          <a:xfrm>
            <a:off x="523875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La segunda declaración de cantidad se rechaza; la tabla conserva la primera, con valor 5.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1DB647B-5828-4C3E-BEA8-8E957EC9B272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Salida o errores semánticos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AEB30C1-4AD9-4889-B532-69BADF299BC5}"/>
              </a:ext>
            </a:extLst>
          </p:cNvPr>
          <p:cNvSpPr>
            <a:spLocks noGrp="1"/>
          </p:cNvSpPr>
          <p:nvPr/>
        </p:nvSpPr>
        <p:spPr>
          <a:xfrm>
            <a:off x="6381750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Aunque se reporta duplicidad, mostrar(cantidad) utiliza el símbolo válido y produce la salida 5.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0D98942-7FDB-4733-A29B-E49E369D7AFA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0401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FAA4A37-35BA-46CD-ADA9-18DCADD17E3C}"/>
              </a:ext>
            </a:extLst>
          </p:cNvPr>
          <p:cNvSpPr>
            <a:spLocks noGrp="1"/>
          </p:cNvSpPr>
          <p:nvPr/>
        </p:nvSpPr>
        <p:spPr>
          <a:xfrm>
            <a:off x="523875" y="3333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2250" b="1">
                <a:solidFill>
                  <a:srgbClr val="173B32"/>
                </a:solidFill>
              </a:defRPr>
            </a:pPr>
            <a:r>
              <a:rPr sz="2250" b="1">
                <a:solidFill>
                  <a:srgbClr val="173B32"/>
                </a:solidFill>
              </a:rPr>
              <a:t>Ejercicio 6 · Variable no declarada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4585523-3E5B-4F9A-AAAA-0017FA2FAC7B}"/>
              </a:ext>
            </a:extLst>
          </p:cNvPr>
          <p:cNvSpPr>
            <a:spLocks noGrp="1"/>
          </p:cNvSpPr>
          <p:nvPr/>
        </p:nvSpPr>
        <p:spPr>
          <a:xfrm>
            <a:off x="523875" y="876300"/>
            <a:ext cx="552450" cy="47625"/>
          </a:xfrm>
          <a:prstGeom prst="rect">
            <a:avLst/>
          </a:prstGeom>
          <a:solidFill>
            <a:srgbClr val="2C5A4B"/>
          </a:solidFill>
          <a:ln w="0">
            <a:noFill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163719"/>
            <a:ext cx="5286375" cy="2958936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1159583"/>
            <a:ext cx="5286375" cy="296720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E7F76F4-A289-4C9D-ACB0-9B56A81DC33E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Tabla de símbolos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F4C3A82-6F84-43ED-B232-39C2E6937BD3}"/>
              </a:ext>
            </a:extLst>
          </p:cNvPr>
          <p:cNvSpPr>
            <a:spLocks noGrp="1"/>
          </p:cNvSpPr>
          <p:nvPr/>
        </p:nvSpPr>
        <p:spPr>
          <a:xfrm>
            <a:off x="523875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Solo cantidad=5 entra en la tabla; total no aparece porque se utiliza sin declaración previa.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02CA6A3-3438-475A-9B6F-AFF06485A5F4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Salida o errores semánticos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7CAECF-55F3-4B20-90D1-CDB6803BD3CF}"/>
              </a:ext>
            </a:extLst>
          </p:cNvPr>
          <p:cNvSpPr>
            <a:spLocks noGrp="1"/>
          </p:cNvSpPr>
          <p:nvPr/>
        </p:nvSpPr>
        <p:spPr>
          <a:xfrm>
            <a:off x="6381750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No se produce salida: total tampoco puede resolverse en mostrar(total).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7C6A465-76E3-499F-9100-2301C9AAAF69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50401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00DB795C-D939-48EF-B411-C3E472025EC1}"/>
              </a:ext>
            </a:extLst>
          </p:cNvPr>
          <p:cNvSpPr>
            <a:spLocks noGrp="1"/>
          </p:cNvSpPr>
          <p:nvPr/>
        </p:nvSpPr>
        <p:spPr>
          <a:xfrm>
            <a:off x="523875" y="3333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2250" b="1">
                <a:solidFill>
                  <a:srgbClr val="173B32"/>
                </a:solidFill>
              </a:defRPr>
            </a:pPr>
            <a:r>
              <a:rPr sz="2250" b="1">
                <a:solidFill>
                  <a:srgbClr val="173B32"/>
                </a:solidFill>
              </a:rPr>
              <a:t>Ejercicio 7 · Asignación incompatible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9C08DF3-2690-4033-9F9D-EA85DA47F77D}"/>
              </a:ext>
            </a:extLst>
          </p:cNvPr>
          <p:cNvSpPr>
            <a:spLocks noGrp="1"/>
          </p:cNvSpPr>
          <p:nvPr/>
        </p:nvSpPr>
        <p:spPr>
          <a:xfrm>
            <a:off x="523875" y="876300"/>
            <a:ext cx="552450" cy="47625"/>
          </a:xfrm>
          <a:prstGeom prst="rect">
            <a:avLst/>
          </a:prstGeom>
          <a:solidFill>
            <a:srgbClr val="2C5A4B"/>
          </a:solidFill>
          <a:ln w="0">
            <a:noFill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156825"/>
            <a:ext cx="5286375" cy="2972724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1156825"/>
            <a:ext cx="5286375" cy="29727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6CD66D6-B7D6-4E79-BFC8-3E64E0793E36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Tabla de símbolos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E54C563-E91D-4643-9EC2-DCF3CC06ED47}"/>
              </a:ext>
            </a:extLst>
          </p:cNvPr>
          <p:cNvSpPr>
            <a:spLocks noGrp="1"/>
          </p:cNvSpPr>
          <p:nvPr/>
        </p:nvSpPr>
        <p:spPr>
          <a:xfrm>
            <a:off x="523875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edad inicia como int con valor 20; el texto “veinte” no sustituye el dato aceptado.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3A41072-C5A3-4E50-BE2B-5C0E42C9AD45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Salida o errores semánticos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0F285A-ABAB-4C54-B933-9EF825253867}"/>
              </a:ext>
            </a:extLst>
          </p:cNvPr>
          <p:cNvSpPr>
            <a:spLocks noGrp="1"/>
          </p:cNvSpPr>
          <p:nvPr/>
        </p:nvSpPr>
        <p:spPr>
          <a:xfrm>
            <a:off x="6381750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La salida conserva 20 y el analizador informa la incompatibilidad entre String e int.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DC9E1F7-C805-4D2E-BB11-87F98F1A808F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50401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8448B90-49BA-4329-9880-4F2A1CB24FCC}"/>
              </a:ext>
            </a:extLst>
          </p:cNvPr>
          <p:cNvSpPr>
            <a:spLocks noGrp="1"/>
          </p:cNvSpPr>
          <p:nvPr/>
        </p:nvSpPr>
        <p:spPr>
          <a:xfrm>
            <a:off x="523875" y="3333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2250" b="1">
                <a:solidFill>
                  <a:srgbClr val="173B32"/>
                </a:solidFill>
              </a:defRPr>
            </a:pPr>
            <a:r>
              <a:rPr sz="2250" b="1">
                <a:solidFill>
                  <a:srgbClr val="173B32"/>
                </a:solidFill>
              </a:rPr>
              <a:t>Ejercicio 8 · División entre cero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3E12E14-7A07-4F04-BC0B-ED910286D6E6}"/>
              </a:ext>
            </a:extLst>
          </p:cNvPr>
          <p:cNvSpPr>
            <a:spLocks noGrp="1"/>
          </p:cNvSpPr>
          <p:nvPr/>
        </p:nvSpPr>
        <p:spPr>
          <a:xfrm>
            <a:off x="523875" y="876300"/>
            <a:ext cx="552450" cy="47625"/>
          </a:xfrm>
          <a:prstGeom prst="rect">
            <a:avLst/>
          </a:prstGeom>
          <a:solidFill>
            <a:srgbClr val="2C5A4B"/>
          </a:solidFill>
          <a:ln w="0">
            <a:noFill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160188"/>
            <a:ext cx="5286375" cy="2965998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1156825"/>
            <a:ext cx="5286375" cy="29727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3D9AFF3-CCA7-4EDD-B18C-AFB40A0C97A3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Tabla de símbolos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3C4292E-BC15-464D-ACC1-B3582693901A}"/>
              </a:ext>
            </a:extLst>
          </p:cNvPr>
          <p:cNvSpPr>
            <a:spLocks noGrp="1"/>
          </p:cNvSpPr>
          <p:nvPr/>
        </p:nvSpPr>
        <p:spPr>
          <a:xfrm>
            <a:off x="523875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dividendo=100 y divisor=0 son símbolos válidos; resultado queda sin asignar.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C2513A1-5E84-4B95-9C74-3E0945FE4F6C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Salida o errores semánticos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36DE43-85C6-4FC6-869B-FACA97BC450E}"/>
              </a:ext>
            </a:extLst>
          </p:cNvPr>
          <p:cNvSpPr>
            <a:spLocks noGrp="1"/>
          </p:cNvSpPr>
          <p:nvPr/>
        </p:nvSpPr>
        <p:spPr>
          <a:xfrm>
            <a:off x="6381750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La división se rechaza y mostrar(resultado) no genera salida porque no existe un valor válido.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3DABE31-355B-471D-9070-428CF62FD4E9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50401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B8E204D4-5A5A-4655-A6C9-44FA20A8620A}"/>
              </a:ext>
            </a:extLst>
          </p:cNvPr>
          <p:cNvSpPr>
            <a:spLocks noGrp="1"/>
          </p:cNvSpPr>
          <p:nvPr/>
        </p:nvSpPr>
        <p:spPr>
          <a:xfrm>
            <a:off x="523875" y="3333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2250" b="1">
                <a:solidFill>
                  <a:srgbClr val="173B32"/>
                </a:solidFill>
              </a:defRPr>
            </a:pPr>
            <a:r>
              <a:rPr sz="2250" b="1">
                <a:solidFill>
                  <a:srgbClr val="173B32"/>
                </a:solidFill>
              </a:rPr>
              <a:t>Ejercicio 9 · Errores múltiples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6AD8354-684A-418F-8596-E93BBF273C93}"/>
              </a:ext>
            </a:extLst>
          </p:cNvPr>
          <p:cNvSpPr>
            <a:spLocks noGrp="1"/>
          </p:cNvSpPr>
          <p:nvPr/>
        </p:nvSpPr>
        <p:spPr>
          <a:xfrm>
            <a:off x="523875" y="876300"/>
            <a:ext cx="552450" cy="47625"/>
          </a:xfrm>
          <a:prstGeom prst="rect">
            <a:avLst/>
          </a:prstGeom>
          <a:solidFill>
            <a:srgbClr val="2C5A4B"/>
          </a:solidFill>
          <a:ln w="0">
            <a:noFill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158204"/>
            <a:ext cx="5286375" cy="2969967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1156825"/>
            <a:ext cx="5286375" cy="29727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4DF188D-3E33-4F80-8612-2620918C279E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Tabla de símbolos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EDB6559-CFB1-4864-953A-234D662DC984}"/>
              </a:ext>
            </a:extLst>
          </p:cNvPr>
          <p:cNvSpPr>
            <a:spLocks noGrp="1"/>
          </p:cNvSpPr>
          <p:nvPr/>
        </p:nvSpPr>
        <p:spPr>
          <a:xfrm>
            <a:off x="523875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La tabla conserva numero=10; activo y division quedan sin asignar tras las operaciones inválidas.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AA8942B-9DC0-4459-BC5E-7E2AA2783FD6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Salida o errores semánticos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D70047-429C-459C-8804-A121A7215B99}"/>
              </a:ext>
            </a:extLst>
          </p:cNvPr>
          <p:cNvSpPr>
            <a:spLocks noGrp="1"/>
          </p:cNvSpPr>
          <p:nvPr/>
        </p:nvSpPr>
        <p:spPr>
          <a:xfrm>
            <a:off x="6381750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Se detectan seis fallas: duplicidad, dos variables no declaradas, dos tipos incompatibles y división entre cero.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97FF694-A072-4C8D-BC9C-3504C52B2F74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50401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02C6C3EA-699B-4BCC-BB65-E944E52E2539}"/>
              </a:ext>
            </a:extLst>
          </p:cNvPr>
          <p:cNvSpPr>
            <a:spLocks noGrp="1"/>
          </p:cNvSpPr>
          <p:nvPr/>
        </p:nvSpPr>
        <p:spPr>
          <a:xfrm>
            <a:off x="523875" y="3333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2250" b="1">
                <a:solidFill>
                  <a:srgbClr val="173B32"/>
                </a:solidFill>
              </a:defRPr>
            </a:pPr>
            <a:r>
              <a:rPr sz="2250" b="1">
                <a:solidFill>
                  <a:srgbClr val="173B32"/>
                </a:solidFill>
              </a:rPr>
              <a:t>Ejercicio 10 · Caso integrador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B7E3E2B-7A2B-4695-9B00-284419C02FBE}"/>
              </a:ext>
            </a:extLst>
          </p:cNvPr>
          <p:cNvSpPr>
            <a:spLocks noGrp="1"/>
          </p:cNvSpPr>
          <p:nvPr/>
        </p:nvSpPr>
        <p:spPr>
          <a:xfrm>
            <a:off x="523875" y="876300"/>
            <a:ext cx="552450" cy="47625"/>
          </a:xfrm>
          <a:prstGeom prst="rect">
            <a:avLst/>
          </a:prstGeom>
          <a:solidFill>
            <a:srgbClr val="2C5A4B"/>
          </a:solidFill>
          <a:ln w="0">
            <a:noFill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159583"/>
            <a:ext cx="5286375" cy="2967209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1156825"/>
            <a:ext cx="5286375" cy="29727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A692C25-873F-4B62-B6F3-CE8EAFECE5CE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Tabla de símbolos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FA26A8D-B1FC-45F1-90E2-F0158A141D0D}"/>
              </a:ext>
            </a:extLst>
          </p:cNvPr>
          <p:cNvSpPr>
            <a:spLocks noGrp="1"/>
          </p:cNvSpPr>
          <p:nvPr/>
        </p:nvSpPr>
        <p:spPr>
          <a:xfrm>
            <a:off x="523875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Los cinco símbolos se registran y 2 × 12500.5 genera subtotal=25001.0.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0392B7D-D6D1-440A-B15B-53C614A6B04A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2C5A4B"/>
                </a:solidFill>
              </a:defRPr>
            </a:pPr>
            <a:r>
              <a:rPr sz="1275" b="1">
                <a:solidFill>
                  <a:srgbClr val="2C5A4B"/>
                </a:solidFill>
              </a:rPr>
              <a:t>Salida o errores semánticos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4D4806A-1E8B-4856-9636-AB398BA2E793}"/>
              </a:ext>
            </a:extLst>
          </p:cNvPr>
          <p:cNvSpPr>
            <a:spLocks noGrp="1"/>
          </p:cNvSpPr>
          <p:nvPr/>
        </p:nvSpPr>
        <p:spPr>
          <a:xfrm>
            <a:off x="6381750" y="46196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Las cuatro salidas presentan Laptop, cantidad 2, subtotal 25001.0 y disponible true.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FEB5B94-C459-4CB7-BAC8-53B77E576997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50401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B0055245-82DB-4DFA-8DA7-92CB52C193A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Resultados y 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81EB06-EF7A-4145-875D-10617A82966D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1B3E78-E55B-4190-BB68-8A6391E35A24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2882DD0-C248-41E6-9C2D-4ABF2B4B212C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7201D"/>
                </a:solidFill>
              </a:defRPr>
            </a:pPr>
            <a:r>
              <a:rPr sz="2100" b="1">
                <a:solidFill>
                  <a:srgbClr val="17201D"/>
                </a:solidFill>
              </a:rPr>
              <a:t>La aplicación respondió ante los diez ejercicios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2210CD6-1C86-4339-AEFE-0A3F9F30D236}"/>
              </a:ext>
            </a:extLst>
          </p:cNvPr>
          <p:cNvSpPr>
            <a:spLocks noGrp="1"/>
          </p:cNvSpPr>
          <p:nvPr/>
        </p:nvSpPr>
        <p:spPr>
          <a:xfrm>
            <a:off x="781050" y="24669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160397-BDE2-492E-A981-F931406DD048}"/>
              </a:ext>
            </a:extLst>
          </p:cNvPr>
          <p:cNvSpPr>
            <a:spLocks noGrp="1"/>
          </p:cNvSpPr>
          <p:nvPr/>
        </p:nvSpPr>
        <p:spPr>
          <a:xfrm>
            <a:off x="1019175" y="2381250"/>
            <a:ext cx="59531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Los ejercicios 1, 2, 3, 4 y 10 finalizaron correctamente.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30788E3-3E48-4B84-AEBF-3F5CB339A197}"/>
              </a:ext>
            </a:extLst>
          </p:cNvPr>
          <p:cNvSpPr>
            <a:spLocks noGrp="1"/>
          </p:cNvSpPr>
          <p:nvPr/>
        </p:nvSpPr>
        <p:spPr>
          <a:xfrm>
            <a:off x="781050" y="31146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207E28F-D1CC-4F42-8402-0374F5973F2A}"/>
              </a:ext>
            </a:extLst>
          </p:cNvPr>
          <p:cNvSpPr>
            <a:spLocks noGrp="1"/>
          </p:cNvSpPr>
          <p:nvPr/>
        </p:nvSpPr>
        <p:spPr>
          <a:xfrm>
            <a:off x="1019175" y="3028950"/>
            <a:ext cx="59531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Las tablas conservaron únicamente declaraciones y asignaciones válidas.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7B598FF-CA72-4174-BCC6-633ADF71239B}"/>
              </a:ext>
            </a:extLst>
          </p:cNvPr>
          <p:cNvSpPr>
            <a:spLocks noGrp="1"/>
          </p:cNvSpPr>
          <p:nvPr/>
        </p:nvSpPr>
        <p:spPr>
          <a:xfrm>
            <a:off x="781050" y="37623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41A6DCE-ECB5-4F89-BFB2-CDFF090E6F30}"/>
              </a:ext>
            </a:extLst>
          </p:cNvPr>
          <p:cNvSpPr>
            <a:spLocks noGrp="1"/>
          </p:cNvSpPr>
          <p:nvPr/>
        </p:nvSpPr>
        <p:spPr>
          <a:xfrm>
            <a:off x="1019175" y="3676650"/>
            <a:ext cx="59531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Los cálculos produjeron 20, 62.0 y 25001.0 en los casos previstos.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7D1DB4A-7BDA-499B-A60B-9364BBD51E88}"/>
              </a:ext>
            </a:extLst>
          </p:cNvPr>
          <p:cNvSpPr>
            <a:spLocks noGrp="1"/>
          </p:cNvSpPr>
          <p:nvPr/>
        </p:nvSpPr>
        <p:spPr>
          <a:xfrm>
            <a:off x="781050" y="44100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68FB14C-9180-40D0-9171-0FC699A48EE3}"/>
              </a:ext>
            </a:extLst>
          </p:cNvPr>
          <p:cNvSpPr>
            <a:spLocks noGrp="1"/>
          </p:cNvSpPr>
          <p:nvPr/>
        </p:nvSpPr>
        <p:spPr>
          <a:xfrm>
            <a:off x="1019175" y="4324350"/>
            <a:ext cx="59531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Los ejercicios 5 a 9 localizaron cada error y evitaron valores incorrectos.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A798A05-82AA-4506-A0C6-8F752E218FF0}"/>
              </a:ext>
            </a:extLst>
          </p:cNvPr>
          <p:cNvSpPr>
            <a:spLocks noGrp="1"/>
          </p:cNvSpPr>
          <p:nvPr/>
        </p:nvSpPr>
        <p:spPr>
          <a:xfrm>
            <a:off x="781050" y="50577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6A19492-BB76-4BAB-871C-4BFA6B108A6A}"/>
              </a:ext>
            </a:extLst>
          </p:cNvPr>
          <p:cNvSpPr>
            <a:spLocks noGrp="1"/>
          </p:cNvSpPr>
          <p:nvPr/>
        </p:nvSpPr>
        <p:spPr>
          <a:xfrm>
            <a:off x="1019175" y="4972050"/>
            <a:ext cx="59531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JavaFX permitió revisar cada resultado sin mezclar símbolos, salidas y fallas.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3DA997C2-AD9F-4A4E-811D-F21AA31E7E4F}"/>
              </a:ext>
            </a:extLst>
          </p:cNvPr>
          <p:cNvSpPr>
            <a:spLocks noGrp="1"/>
          </p:cNvSpPr>
          <p:nvPr/>
        </p:nvSpPr>
        <p:spPr>
          <a:xfrm>
            <a:off x="7810500" y="2000250"/>
            <a:ext cx="3048000" cy="2952750"/>
          </a:xfrm>
          <a:prstGeom prst="roundRect">
            <a:avLst>
              <a:gd name="adj" fmla="val 5161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F96A3E7-3333-4741-B615-9ADCFE9962F2}"/>
              </a:ext>
            </a:extLst>
          </p:cNvPr>
          <p:cNvSpPr>
            <a:spLocks noGrp="1"/>
          </p:cNvSpPr>
          <p:nvPr/>
        </p:nvSpPr>
        <p:spPr>
          <a:xfrm>
            <a:off x="8143875" y="2333625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500" b="1">
                <a:solidFill>
                  <a:srgbClr val="29483D"/>
                </a:solidFill>
              </a:defRPr>
            </a:pPr>
            <a:r>
              <a:rPr sz="4500" b="1">
                <a:solidFill>
                  <a:srgbClr val="29483D"/>
                </a:solidFill>
              </a:rPr>
              <a:t>10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E263A3B-918D-4375-9A31-E27E2568F988}"/>
              </a:ext>
            </a:extLst>
          </p:cNvPr>
          <p:cNvSpPr>
            <a:spLocks noGrp="1"/>
          </p:cNvSpPr>
          <p:nvPr/>
        </p:nvSpPr>
        <p:spPr>
          <a:xfrm>
            <a:off x="8143875" y="309562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ejercicios ejecutados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6E1A70D-7060-4192-BB8E-C948B0C3A23E}"/>
              </a:ext>
            </a:extLst>
          </p:cNvPr>
          <p:cNvSpPr>
            <a:spLocks noGrp="1"/>
          </p:cNvSpPr>
          <p:nvPr/>
        </p:nvSpPr>
        <p:spPr>
          <a:xfrm>
            <a:off x="8143875" y="3762375"/>
            <a:ext cx="238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66716C"/>
                </a:solidFill>
              </a:defRPr>
            </a:pPr>
            <a:r>
              <a:rPr sz="1650" b="1">
                <a:solidFill>
                  <a:srgbClr val="66716C"/>
                </a:solidFill>
              </a:rPr>
              <a:t>5 correctos</a:t>
            </a:r>
          </a:p>
          <a:p>
            <a:pPr algn="ctr">
              <a:buNone/>
              <a:defRPr sz="1650" b="1">
                <a:solidFill>
                  <a:srgbClr val="66716C"/>
                </a:solidFill>
              </a:defRPr>
            </a:pPr>
            <a:r>
              <a:rPr sz="1650" b="1">
                <a:solidFill>
                  <a:srgbClr val="66716C"/>
                </a:solidFill>
              </a:rPr>
              <a:t>5 con errores</a:t>
            </a:r>
          </a:p>
          <a:p>
            <a:pPr algn="ctr">
              <a:buNone/>
              <a:defRPr sz="1650" b="1">
                <a:solidFill>
                  <a:srgbClr val="66716C"/>
                </a:solidFill>
              </a:defRPr>
            </a:pPr>
            <a:r>
              <a:rPr sz="1650" b="1">
                <a:solidFill>
                  <a:srgbClr val="66716C"/>
                </a:solidFill>
              </a:rPr>
              <a:t>20 capturas</a:t>
            </a:r>
          </a:p>
        </p:txBody>
      </p:sp>
    </p:spTree>
    <p:extLst>
      <p:ext uri="{BB962C8B-B14F-4D97-AF65-F5344CB8AC3E}">
        <p14:creationId xmlns:p14="http://schemas.microsoft.com/office/powerpoint/2010/main" val="2039817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FC3FB05-C9AC-41A6-AAD0-CC47D6EC13D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Referencias bibliográficas en formato APA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3AC4DBC-8A2B-4511-AC94-01486416718B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E0F4D9D-FFB6-458E-8C4C-B8082CCD6BE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BDAFDD1-2B03-4B92-9C84-123049F42C19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1028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r>
              <a:rPr sz="1275" b="0">
                <a:solidFill>
                  <a:srgbClr val="17201D"/>
                </a:solidFill>
              </a:rPr>
              <a:t>Aho, A. V., Lam, M. S., Sethi, R., &amp; Ullman, J. D. (2007). Compiladores: Principios, técnicas y herramientas (2.ª ed.). Pearson Educación.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15BCD36-198F-4DBB-95AB-5597B3C69EAD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10287000" cy="9525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D8540D3-1D00-4BA5-A640-D3ADF3D88D84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1028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r>
              <a:rPr sz="1275" b="0" dirty="0" err="1">
                <a:solidFill>
                  <a:srgbClr val="17201D"/>
                </a:solidFill>
              </a:rPr>
              <a:t>OpenJFX</a:t>
            </a:r>
            <a:r>
              <a:rPr sz="1275" b="0" dirty="0">
                <a:solidFill>
                  <a:srgbClr val="17201D"/>
                </a:solidFill>
              </a:rPr>
              <a:t>. (2026). Getting started with JavaFX: Maven. </a:t>
            </a:r>
            <a:r>
              <a:rPr sz="1275" b="0" dirty="0">
                <a:solidFill>
                  <a:srgbClr val="17201D"/>
                </a:solidFill>
                <a:hlinkClick r:id="rId3"/>
              </a:rPr>
              <a:t>https://openjfx.io/openjfx-docs/maven</a:t>
            </a:r>
            <a:endParaRPr lang="es-MX" sz="1275" b="0" dirty="0">
              <a:solidFill>
                <a:srgbClr val="17201D"/>
              </a:solidFill>
            </a:endParaRPr>
          </a:p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endParaRPr sz="1275" b="0" dirty="0">
              <a:solidFill>
                <a:srgbClr val="17201D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530156C-90A6-4E4C-91F8-E6DFA8F9E8A7}"/>
              </a:ext>
            </a:extLst>
          </p:cNvPr>
          <p:cNvSpPr>
            <a:spLocks noGrp="1"/>
          </p:cNvSpPr>
          <p:nvPr/>
        </p:nvSpPr>
        <p:spPr>
          <a:xfrm>
            <a:off x="876300" y="3314700"/>
            <a:ext cx="10287000" cy="9525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A530D98-C37E-4BBD-B1CB-68A1F8DC489D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1028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r>
              <a:rPr sz="1275" b="0" dirty="0" err="1">
                <a:solidFill>
                  <a:srgbClr val="17201D"/>
                </a:solidFill>
              </a:rPr>
              <a:t>OpenJFX</a:t>
            </a:r>
            <a:r>
              <a:rPr sz="1275" b="0" dirty="0">
                <a:solidFill>
                  <a:srgbClr val="17201D"/>
                </a:solidFill>
              </a:rPr>
              <a:t>. (2026). Introduction to FXML. </a:t>
            </a:r>
            <a:r>
              <a:rPr sz="1275" b="0" dirty="0">
                <a:solidFill>
                  <a:srgbClr val="17201D"/>
                </a:solidFill>
                <a:hlinkClick r:id="rId4"/>
              </a:rPr>
              <a:t>https://openjfx.io/javadoc/26/javafx.fxml/javafx/fxml/doc-files/introduction_to_fxml.html</a:t>
            </a:r>
            <a:endParaRPr lang="es-MX" sz="1275" b="0" dirty="0">
              <a:solidFill>
                <a:srgbClr val="17201D"/>
              </a:solidFill>
            </a:endParaRPr>
          </a:p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endParaRPr sz="1275" b="0" dirty="0">
              <a:solidFill>
                <a:srgbClr val="17201D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C657AFA-051C-4BB5-AEB2-2E2FF7C76516}"/>
              </a:ext>
            </a:extLst>
          </p:cNvPr>
          <p:cNvSpPr>
            <a:spLocks noGrp="1"/>
          </p:cNvSpPr>
          <p:nvPr/>
        </p:nvSpPr>
        <p:spPr>
          <a:xfrm>
            <a:off x="876300" y="4267200"/>
            <a:ext cx="10287000" cy="9525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A892C3-4830-4F69-B691-F3723B7DEAC5}"/>
              </a:ext>
            </a:extLst>
          </p:cNvPr>
          <p:cNvSpPr>
            <a:spLocks noGrp="1"/>
          </p:cNvSpPr>
          <p:nvPr/>
        </p:nvSpPr>
        <p:spPr>
          <a:xfrm>
            <a:off x="876300" y="4381500"/>
            <a:ext cx="1028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r>
              <a:rPr sz="1275" b="0" dirty="0">
                <a:solidFill>
                  <a:srgbClr val="17201D"/>
                </a:solidFill>
              </a:rPr>
              <a:t>Oracle. (2023). The Java Language Specification, Java SE 17: Chapters 4–5. </a:t>
            </a:r>
            <a:r>
              <a:rPr sz="1275" b="0" dirty="0">
                <a:solidFill>
                  <a:srgbClr val="17201D"/>
                </a:solidFill>
                <a:hlinkClick r:id="rId5"/>
              </a:rPr>
              <a:t>https://docs.oracle.com/javase/specs/jls/se17/html/</a:t>
            </a:r>
            <a:endParaRPr lang="es-MX" sz="1275" b="0" dirty="0">
              <a:solidFill>
                <a:srgbClr val="17201D"/>
              </a:solidFill>
            </a:endParaRPr>
          </a:p>
          <a:p>
            <a:pPr algn="l">
              <a:buNone/>
              <a:defRPr sz="1275" b="0">
                <a:solidFill>
                  <a:srgbClr val="17201D"/>
                </a:solidFill>
              </a:defRPr>
            </a:pPr>
            <a:endParaRPr sz="1275" b="0" dirty="0">
              <a:solidFill>
                <a:srgbClr val="17201D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76D37DC-363E-4E8D-83AA-1289C83AE924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10287000" cy="9525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19F851C-60AB-4236-91F0-5A4812860CAD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10287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C"/>
                </a:solidFill>
              </a:defRPr>
            </a:pPr>
            <a:r>
              <a:rPr sz="1275" b="0">
                <a:solidFill>
                  <a:srgbClr val="66716C"/>
                </a:solidFill>
              </a:rPr>
              <a:t>Tecnológico Nacional de México. (2026). Instrumentación didáctica de Lenguajes y Autómatas II, agosto-diciembre de 2026 [Documento institucional].</a:t>
            </a:r>
          </a:p>
        </p:txBody>
      </p:sp>
    </p:spTree>
    <p:extLst>
      <p:ext uri="{BB962C8B-B14F-4D97-AF65-F5344CB8AC3E}">
        <p14:creationId xmlns:p14="http://schemas.microsoft.com/office/powerpoint/2010/main" val="1559843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DADC8F2B-097A-4DAC-8D08-7763ECBC28B3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Repositorio del proyecto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4C0A65-7C9D-4B69-A726-C84BF0C4FBD3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F638479-CC6F-4A70-BE0B-8278CFE194C3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769CACE-D66D-4EF4-8964-8E3E333CDAFE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838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El repositorio reúne el proyecto JavaFX de la Unidad 1, el pom.xml y los archivos utilizados en las actividades 1.2 y 1.3.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DCBC773-15DF-4689-9AE3-BFC5F6507ADB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106299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37BAABD-FB51-4379-AEB4-050D77C6EDB8}"/>
              </a:ext>
            </a:extLst>
          </p:cNvPr>
          <p:cNvSpPr>
            <a:spLocks noGrp="1"/>
          </p:cNvSpPr>
          <p:nvPr/>
        </p:nvSpPr>
        <p:spPr>
          <a:xfrm>
            <a:off x="1095375" y="39719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9483D"/>
                </a:solidFill>
              </a:defRPr>
            </a:pPr>
            <a:r>
              <a:rPr sz="1350" b="1">
                <a:solidFill>
                  <a:srgbClr val="29483D"/>
                </a:solidFill>
              </a:rPr>
              <a:t>Enlace del repositorio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59B40E5-9DFB-4670-BFA3-521B5A58CFC4}"/>
              </a:ext>
            </a:extLst>
          </p:cNvPr>
          <p:cNvSpPr>
            <a:spLocks noGrp="1"/>
          </p:cNvSpPr>
          <p:nvPr/>
        </p:nvSpPr>
        <p:spPr>
          <a:xfrm>
            <a:off x="1095375" y="4400550"/>
            <a:ext cx="966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17201D"/>
                </a:solidFill>
              </a:defRPr>
            </a:pPr>
            <a:r>
              <a:rPr lang="es-MX" sz="1200" b="1" dirty="0">
                <a:solidFill>
                  <a:srgbClr val="17201D"/>
                </a:solidFill>
                <a:hlinkClick r:id="rId3"/>
              </a:rPr>
              <a:t>https://github.com/amaurycolochos-cpu/LENGUAJES-Y-AUTOMATAS-II/tree/main/LYA-II-Tema-1/AnalizadorSemantico-Unidad-1-JavaFX</a:t>
            </a:r>
            <a:endParaRPr lang="es-MX" sz="1200" b="1" dirty="0">
              <a:solidFill>
                <a:srgbClr val="17201D"/>
              </a:solidFill>
            </a:endParaRPr>
          </a:p>
          <a:p>
            <a:pPr algn="l">
              <a:buNone/>
              <a:defRPr sz="1725" b="1">
                <a:solidFill>
                  <a:srgbClr val="17201D"/>
                </a:solidFill>
              </a:defRPr>
            </a:pPr>
            <a:endParaRPr sz="1200" b="1" dirty="0">
              <a:solidFill>
                <a:srgbClr val="17201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8082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</Words>
  <Application>Microsoft Office PowerPoint</Application>
  <DocSecurity>0</DocSecurity>
  <PresentationFormat>Panorámica</PresentationFormat>
  <Paragraphs>149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-apple-system</vt:lpstr>
      <vt:lpstr>Aptos</vt:lpstr>
      <vt:lpstr>Aptos Display</vt:lpstr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amaury rokete</cp:lastModifiedBy>
  <cp:revision>1</cp:revision>
  <dcterms:created xsi:type="dcterms:W3CDTF">2026-09-02T06:47:47Z</dcterms:created>
  <dcterms:modified xsi:type="dcterms:W3CDTF">2026-09-02T06:56:50Z</dcterms:modified>
</cp:coreProperties>
</file>