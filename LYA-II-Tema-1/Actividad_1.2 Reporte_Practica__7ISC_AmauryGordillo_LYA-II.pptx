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jfx.io/openjfx-docs/maven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docs.oracle.com/javase/specs/jls/se17/html/" TargetMode="External"/><Relationship Id="rId4" Type="http://schemas.openxmlformats.org/officeDocument/2006/relationships/hyperlink" Target="https://openjfx.io/javadoc/26/javafx.fxml/javafx/fxml/doc-files/introduction_to_fxml.html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maurycolochos-cpu/LENGUAJES-Y-AUTOMATAS-II/tree/main/LYA-II-Tema-1/AnalizadorSemantico-Unidad-1-JavaFX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Imagen 4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280834" y="0"/>
            <a:ext cx="11911166" cy="6858000"/>
          </a:xfrm>
          <a:prstGeom prst="rect">
            <a:avLst/>
          </a:prstGeom>
        </p:spPr>
      </p:pic>
      <p:sp>
        <p:nvSpPr>
          <p:cNvPr id="2" name="institutional-navy-band">
            <a:extLst>
              <a:ext uri="{FF2B5EF4-FFF2-40B4-BE49-F238E27FC236}">
                <a16:creationId xmlns:a16="http://schemas.microsoft.com/office/drawing/2014/main" id="{3AE6E076-F470-4AFA-B05E-BB577D99A602}"/>
              </a:ext>
            </a:extLst>
          </p:cNvPr>
          <p:cNvSpPr>
            <a:spLocks noGrp="1"/>
          </p:cNvSpPr>
          <p:nvPr/>
        </p:nvSpPr>
        <p:spPr>
          <a:xfrm>
            <a:off x="-47626" y="0"/>
            <a:ext cx="328459" cy="6858000"/>
          </a:xfrm>
          <a:prstGeom prst="rect">
            <a:avLst/>
          </a:prstGeom>
          <a:solidFill>
            <a:srgbClr val="082958"/>
          </a:solidFill>
          <a:ln w="0">
            <a:noFill/>
            <a:prstDash val="solid"/>
          </a:ln>
        </p:spPr>
      </p:sp>
      <p:sp>
        <p:nvSpPr>
          <p:cNvPr id="3" name="institutional-gold-accent">
            <a:extLst>
              <a:ext uri="{FF2B5EF4-FFF2-40B4-BE49-F238E27FC236}">
                <a16:creationId xmlns:a16="http://schemas.microsoft.com/office/drawing/2014/main" id="{511065C0-35AD-4DAE-B610-DF6B7F488372}"/>
              </a:ext>
            </a:extLst>
          </p:cNvPr>
          <p:cNvSpPr>
            <a:spLocks noGrp="1"/>
          </p:cNvSpPr>
          <p:nvPr/>
        </p:nvSpPr>
        <p:spPr>
          <a:xfrm>
            <a:off x="280987" y="47625"/>
            <a:ext cx="28575" cy="6438900"/>
          </a:xfrm>
          <a:prstGeom prst="rect">
            <a:avLst/>
          </a:prstGeom>
          <a:solidFill>
            <a:srgbClr val="C8972C"/>
          </a:solidFill>
          <a:ln w="0">
            <a:noFill/>
            <a:prstDash val="solid"/>
          </a:ln>
        </p:spPr>
      </p:sp>
      <p:sp>
        <p:nvSpPr>
          <p:cNvPr id="4" name="top-rule">
            <a:extLst>
              <a:ext uri="{FF2B5EF4-FFF2-40B4-BE49-F238E27FC236}">
                <a16:creationId xmlns:a16="http://schemas.microsoft.com/office/drawing/2014/main" id="{A402DA1E-9E80-4154-8892-48887862CA94}"/>
              </a:ext>
            </a:extLst>
          </p:cNvPr>
          <p:cNvSpPr>
            <a:spLocks noGrp="1"/>
          </p:cNvSpPr>
          <p:nvPr/>
        </p:nvSpPr>
        <p:spPr>
          <a:xfrm>
            <a:off x="838200" y="1009650"/>
            <a:ext cx="10515600" cy="0"/>
          </a:xfrm>
          <a:prstGeom prst="line">
            <a:avLst/>
          </a:prstGeom>
          <a:noFill/>
          <a:ln w="11430">
            <a:solidFill>
              <a:srgbClr val="DCEBFA"/>
            </a:solidFill>
            <a:prstDash val="solid"/>
          </a:ln>
        </p:spPr>
      </p:sp>
      <p:sp>
        <p:nvSpPr>
          <p:cNvPr id="6" name="institution-name">
            <a:extLst>
              <a:ext uri="{FF2B5EF4-FFF2-40B4-BE49-F238E27FC236}">
                <a16:creationId xmlns:a16="http://schemas.microsoft.com/office/drawing/2014/main" id="{E0E92947-86F7-4A12-A128-7B0159F83BDC}"/>
              </a:ext>
            </a:extLst>
          </p:cNvPr>
          <p:cNvSpPr>
            <a:spLocks noGrp="1"/>
          </p:cNvSpPr>
          <p:nvPr/>
        </p:nvSpPr>
        <p:spPr>
          <a:xfrm>
            <a:off x="3641008" y="892277"/>
            <a:ext cx="5464892" cy="6667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650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defRPr>
            </a:pPr>
            <a:r>
              <a:rPr sz="2500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rPr>
              <a:t>TECNOLÓGICO NACIONAL DE MÉXICO</a:t>
            </a:r>
          </a:p>
        </p:txBody>
      </p:sp>
      <p:sp>
        <p:nvSpPr>
          <p:cNvPr id="9" name="degree-title">
            <a:extLst>
              <a:ext uri="{FF2B5EF4-FFF2-40B4-BE49-F238E27FC236}">
                <a16:creationId xmlns:a16="http://schemas.microsoft.com/office/drawing/2014/main" id="{897E2AE5-15D9-4AB6-9730-7184F55D8F9A}"/>
              </a:ext>
            </a:extLst>
          </p:cNvPr>
          <p:cNvSpPr>
            <a:spLocks noGrp="1"/>
          </p:cNvSpPr>
          <p:nvPr/>
        </p:nvSpPr>
        <p:spPr>
          <a:xfrm>
            <a:off x="3429000" y="1454252"/>
            <a:ext cx="5524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2000"/>
              </a:lnSpc>
              <a:buNone/>
              <a:defRPr sz="2325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defRPr>
            </a:pPr>
            <a:r>
              <a:rPr sz="2000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rPr>
              <a:t>INGENIERÍA EN</a:t>
            </a:r>
          </a:p>
          <a:p>
            <a:pPr algn="ctr">
              <a:lnSpc>
                <a:spcPct val="92000"/>
              </a:lnSpc>
              <a:buNone/>
              <a:defRPr sz="2325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defRPr>
            </a:pPr>
            <a:r>
              <a:rPr sz="2000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rPr>
              <a:t>SISTEMAS COMPUTACIONALES</a:t>
            </a:r>
          </a:p>
        </p:txBody>
      </p:sp>
      <p:sp>
        <p:nvSpPr>
          <p:cNvPr id="10" name="degree-gold-rule-left">
            <a:extLst>
              <a:ext uri="{FF2B5EF4-FFF2-40B4-BE49-F238E27FC236}">
                <a16:creationId xmlns:a16="http://schemas.microsoft.com/office/drawing/2014/main" id="{C8050B62-10E2-4D95-BEEE-6E1978022F99}"/>
              </a:ext>
            </a:extLst>
          </p:cNvPr>
          <p:cNvSpPr>
            <a:spLocks noGrp="1"/>
          </p:cNvSpPr>
          <p:nvPr/>
        </p:nvSpPr>
        <p:spPr>
          <a:xfrm>
            <a:off x="4848225" y="2209800"/>
            <a:ext cx="990600" cy="0"/>
          </a:xfrm>
          <a:prstGeom prst="line">
            <a:avLst/>
          </a:prstGeom>
          <a:noFill/>
          <a:ln w="15240">
            <a:solidFill>
              <a:srgbClr val="C8972C"/>
            </a:solidFill>
            <a:prstDash val="solid"/>
          </a:ln>
        </p:spPr>
      </p:sp>
      <p:sp>
        <p:nvSpPr>
          <p:cNvPr id="11" name="degree-gold-rule-right">
            <a:extLst>
              <a:ext uri="{FF2B5EF4-FFF2-40B4-BE49-F238E27FC236}">
                <a16:creationId xmlns:a16="http://schemas.microsoft.com/office/drawing/2014/main" id="{12397A49-149B-4ECA-A15E-F885934091D1}"/>
              </a:ext>
            </a:extLst>
          </p:cNvPr>
          <p:cNvSpPr>
            <a:spLocks noGrp="1"/>
          </p:cNvSpPr>
          <p:nvPr/>
        </p:nvSpPr>
        <p:spPr>
          <a:xfrm>
            <a:off x="6353175" y="2209800"/>
            <a:ext cx="990600" cy="0"/>
          </a:xfrm>
          <a:prstGeom prst="line">
            <a:avLst/>
          </a:prstGeom>
          <a:noFill/>
          <a:ln w="15240">
            <a:solidFill>
              <a:srgbClr val="C8972C"/>
            </a:solidFill>
            <a:prstDash val="solid"/>
          </a:ln>
        </p:spPr>
      </p:sp>
      <p:sp>
        <p:nvSpPr>
          <p:cNvPr id="13" name="course-title-line-1">
            <a:extLst>
              <a:ext uri="{FF2B5EF4-FFF2-40B4-BE49-F238E27FC236}">
                <a16:creationId xmlns:a16="http://schemas.microsoft.com/office/drawing/2014/main" id="{24A5C187-BE41-45B6-8BF3-A2878D2FD52B}"/>
              </a:ext>
            </a:extLst>
          </p:cNvPr>
          <p:cNvSpPr>
            <a:spLocks noGrp="1"/>
          </p:cNvSpPr>
          <p:nvPr/>
        </p:nvSpPr>
        <p:spPr>
          <a:xfrm>
            <a:off x="2362199" y="2633663"/>
            <a:ext cx="74676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0833" lnSpcReduction="10000"/>
          </a:bodyPr>
          <a:lstStyle/>
          <a:p>
            <a:pPr algn="ctr">
              <a:buNone/>
              <a:defRPr sz="4125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defRPr>
            </a:pPr>
            <a:r>
              <a:rPr sz="4125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rPr>
              <a:t>LENGUAJES Y AUTOMATAS II</a:t>
            </a:r>
          </a:p>
        </p:txBody>
      </p:sp>
      <p:sp>
        <p:nvSpPr>
          <p:cNvPr id="15" name="activity-left-trace-1">
            <a:extLst>
              <a:ext uri="{FF2B5EF4-FFF2-40B4-BE49-F238E27FC236}">
                <a16:creationId xmlns:a16="http://schemas.microsoft.com/office/drawing/2014/main" id="{7D063C37-CCC4-4D1E-800C-E1EC27DFD060}"/>
              </a:ext>
            </a:extLst>
          </p:cNvPr>
          <p:cNvSpPr>
            <a:spLocks noGrp="1"/>
          </p:cNvSpPr>
          <p:nvPr/>
        </p:nvSpPr>
        <p:spPr>
          <a:xfrm>
            <a:off x="2038350" y="3771900"/>
            <a:ext cx="514350" cy="0"/>
          </a:xfrm>
          <a:prstGeom prst="line">
            <a:avLst/>
          </a:prstGeom>
          <a:noFill/>
          <a:ln w="13335">
            <a:solidFill>
              <a:srgbClr val="2862AA"/>
            </a:solidFill>
            <a:prstDash val="solid"/>
          </a:ln>
        </p:spPr>
      </p:sp>
      <p:sp>
        <p:nvSpPr>
          <p:cNvPr id="16" name="activity-left-trace-2">
            <a:extLst>
              <a:ext uri="{FF2B5EF4-FFF2-40B4-BE49-F238E27FC236}">
                <a16:creationId xmlns:a16="http://schemas.microsoft.com/office/drawing/2014/main" id="{3CFD8881-ED44-45BD-9DF0-783461E898DA}"/>
              </a:ext>
            </a:extLst>
          </p:cNvPr>
          <p:cNvSpPr>
            <a:spLocks noGrp="1"/>
          </p:cNvSpPr>
          <p:nvPr/>
        </p:nvSpPr>
        <p:spPr>
          <a:xfrm>
            <a:off x="2552700" y="3676650"/>
            <a:ext cx="0" cy="95250"/>
          </a:xfrm>
          <a:prstGeom prst="line">
            <a:avLst/>
          </a:prstGeom>
          <a:noFill/>
          <a:ln w="13335">
            <a:solidFill>
              <a:srgbClr val="2862AA"/>
            </a:solidFill>
            <a:prstDash val="solid"/>
          </a:ln>
        </p:spPr>
      </p:sp>
      <p:sp>
        <p:nvSpPr>
          <p:cNvPr id="17" name="activity-left-trace-3">
            <a:extLst>
              <a:ext uri="{FF2B5EF4-FFF2-40B4-BE49-F238E27FC236}">
                <a16:creationId xmlns:a16="http://schemas.microsoft.com/office/drawing/2014/main" id="{40CE4708-D5C7-40D2-BE07-C709D6A81A4E}"/>
              </a:ext>
            </a:extLst>
          </p:cNvPr>
          <p:cNvSpPr>
            <a:spLocks noGrp="1"/>
          </p:cNvSpPr>
          <p:nvPr/>
        </p:nvSpPr>
        <p:spPr>
          <a:xfrm>
            <a:off x="2552700" y="3676650"/>
            <a:ext cx="514350" cy="0"/>
          </a:xfrm>
          <a:prstGeom prst="line">
            <a:avLst/>
          </a:prstGeom>
          <a:noFill/>
          <a:ln w="13335">
            <a:solidFill>
              <a:srgbClr val="2862AA"/>
            </a:solidFill>
            <a:prstDash val="solid"/>
          </a:ln>
        </p:spPr>
      </p:sp>
      <p:sp>
        <p:nvSpPr>
          <p:cNvPr id="18" name="activity-left-node">
            <a:extLst>
              <a:ext uri="{FF2B5EF4-FFF2-40B4-BE49-F238E27FC236}">
                <a16:creationId xmlns:a16="http://schemas.microsoft.com/office/drawing/2014/main" id="{61DC4950-E910-4AA5-840B-B61E8D5D8C11}"/>
              </a:ext>
            </a:extLst>
          </p:cNvPr>
          <p:cNvSpPr>
            <a:spLocks noGrp="1"/>
          </p:cNvSpPr>
          <p:nvPr/>
        </p:nvSpPr>
        <p:spPr>
          <a:xfrm>
            <a:off x="3086100" y="3638550"/>
            <a:ext cx="85725" cy="85725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8972C"/>
            </a:solidFill>
            <a:prstDash val="solid"/>
          </a:ln>
        </p:spPr>
      </p:sp>
      <p:sp>
        <p:nvSpPr>
          <p:cNvPr id="19" name="activity-right-node">
            <a:extLst>
              <a:ext uri="{FF2B5EF4-FFF2-40B4-BE49-F238E27FC236}">
                <a16:creationId xmlns:a16="http://schemas.microsoft.com/office/drawing/2014/main" id="{825A2979-FD3A-4780-A5BF-2B891AF31213}"/>
              </a:ext>
            </a:extLst>
          </p:cNvPr>
          <p:cNvSpPr>
            <a:spLocks noGrp="1"/>
          </p:cNvSpPr>
          <p:nvPr/>
        </p:nvSpPr>
        <p:spPr>
          <a:xfrm>
            <a:off x="9020175" y="3638550"/>
            <a:ext cx="85725" cy="85725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8972C"/>
            </a:solidFill>
            <a:prstDash val="solid"/>
          </a:ln>
        </p:spPr>
      </p:sp>
      <p:sp>
        <p:nvSpPr>
          <p:cNvPr id="20" name="activity-right-trace-1">
            <a:extLst>
              <a:ext uri="{FF2B5EF4-FFF2-40B4-BE49-F238E27FC236}">
                <a16:creationId xmlns:a16="http://schemas.microsoft.com/office/drawing/2014/main" id="{38B16BE7-5C8D-4EAB-B2EE-18E787DD60AA}"/>
              </a:ext>
            </a:extLst>
          </p:cNvPr>
          <p:cNvSpPr>
            <a:spLocks noGrp="1"/>
          </p:cNvSpPr>
          <p:nvPr/>
        </p:nvSpPr>
        <p:spPr>
          <a:xfrm>
            <a:off x="9105900" y="3676650"/>
            <a:ext cx="514350" cy="0"/>
          </a:xfrm>
          <a:prstGeom prst="line">
            <a:avLst/>
          </a:prstGeom>
          <a:noFill/>
          <a:ln w="13335">
            <a:solidFill>
              <a:srgbClr val="2862AA"/>
            </a:solidFill>
            <a:prstDash val="solid"/>
          </a:ln>
        </p:spPr>
      </p:sp>
      <p:sp>
        <p:nvSpPr>
          <p:cNvPr id="21" name="activity-right-trace-2">
            <a:extLst>
              <a:ext uri="{FF2B5EF4-FFF2-40B4-BE49-F238E27FC236}">
                <a16:creationId xmlns:a16="http://schemas.microsoft.com/office/drawing/2014/main" id="{B0073C7F-4C58-47DE-BB0A-AFC31EDFE384}"/>
              </a:ext>
            </a:extLst>
          </p:cNvPr>
          <p:cNvSpPr>
            <a:spLocks noGrp="1"/>
          </p:cNvSpPr>
          <p:nvPr/>
        </p:nvSpPr>
        <p:spPr>
          <a:xfrm>
            <a:off x="9620250" y="3676650"/>
            <a:ext cx="0" cy="95250"/>
          </a:xfrm>
          <a:prstGeom prst="line">
            <a:avLst/>
          </a:prstGeom>
          <a:noFill/>
          <a:ln w="13335">
            <a:solidFill>
              <a:srgbClr val="2862AA"/>
            </a:solidFill>
            <a:prstDash val="solid"/>
          </a:ln>
        </p:spPr>
      </p:sp>
      <p:sp>
        <p:nvSpPr>
          <p:cNvPr id="22" name="activity-right-trace-3">
            <a:extLst>
              <a:ext uri="{FF2B5EF4-FFF2-40B4-BE49-F238E27FC236}">
                <a16:creationId xmlns:a16="http://schemas.microsoft.com/office/drawing/2014/main" id="{0A4D59B6-4962-4FEF-A21B-2AF53EF32F99}"/>
              </a:ext>
            </a:extLst>
          </p:cNvPr>
          <p:cNvSpPr>
            <a:spLocks noGrp="1"/>
          </p:cNvSpPr>
          <p:nvPr/>
        </p:nvSpPr>
        <p:spPr>
          <a:xfrm>
            <a:off x="9620250" y="3771900"/>
            <a:ext cx="514350" cy="0"/>
          </a:xfrm>
          <a:prstGeom prst="line">
            <a:avLst/>
          </a:prstGeom>
          <a:noFill/>
          <a:ln w="13335">
            <a:solidFill>
              <a:srgbClr val="2862AA"/>
            </a:solidFill>
            <a:prstDash val="solid"/>
          </a:ln>
        </p:spPr>
      </p:sp>
      <p:sp>
        <p:nvSpPr>
          <p:cNvPr id="23" name="activity-title">
            <a:extLst>
              <a:ext uri="{FF2B5EF4-FFF2-40B4-BE49-F238E27FC236}">
                <a16:creationId xmlns:a16="http://schemas.microsoft.com/office/drawing/2014/main" id="{F746EC2E-9743-49CF-891C-11DBE19DF422}"/>
              </a:ext>
            </a:extLst>
          </p:cNvPr>
          <p:cNvSpPr>
            <a:spLocks noGrp="1"/>
          </p:cNvSpPr>
          <p:nvPr/>
        </p:nvSpPr>
        <p:spPr>
          <a:xfrm>
            <a:off x="3238500" y="3581400"/>
            <a:ext cx="5715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9498"/>
          </a:bodyPr>
          <a:lstStyle/>
          <a:p>
            <a:pPr algn="ctr">
              <a:buNone/>
              <a:defRPr sz="1875" b="1">
                <a:solidFill>
                  <a:srgbClr val="2862AA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2862AA"/>
                </a:solidFill>
                <a:latin typeface="Aptos Display"/>
                <a:ea typeface="Aptos Display"/>
                <a:cs typeface="Aptos Display"/>
              </a:rPr>
              <a:t>ACTIVIDAD 1.2 — </a:t>
            </a:r>
            <a:r>
              <a:rPr b="0" i="0">
                <a:solidFill>
                  <a:srgbClr val="212529"/>
                </a:solidFill>
                <a:latin typeface="-apple-system"/>
                <a:ea typeface="-apple-system"/>
                <a:cs typeface="-apple-system"/>
              </a:rPr>
              <a:t>REPORTE DE PRACTICA</a:t>
            </a:r>
          </a:p>
          <a:p>
            <a:pPr algn="ctr">
              <a:buNone/>
              <a:defRPr sz="1875" b="1">
                <a:solidFill>
                  <a:srgbClr val="2862AA"/>
                </a:solidFill>
                <a:latin typeface="Aptos Display"/>
                <a:ea typeface="Aptos Display"/>
                <a:cs typeface="Aptos Display"/>
              </a:defRPr>
            </a:pPr>
            <a:endParaRPr sz="1875" b="1">
              <a:solidFill>
                <a:srgbClr val="2862AA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4" name="students-heading">
            <a:extLst>
              <a:ext uri="{FF2B5EF4-FFF2-40B4-BE49-F238E27FC236}">
                <a16:creationId xmlns:a16="http://schemas.microsoft.com/office/drawing/2014/main" id="{B3090DA1-DD45-4D5A-810A-68C80D1D5495}"/>
              </a:ext>
            </a:extLst>
          </p:cNvPr>
          <p:cNvSpPr>
            <a:spLocks noGrp="1"/>
          </p:cNvSpPr>
          <p:nvPr/>
        </p:nvSpPr>
        <p:spPr>
          <a:xfrm>
            <a:off x="2857500" y="4143375"/>
            <a:ext cx="4667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75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rPr>
              <a:t>PRESENTA</a:t>
            </a:r>
          </a:p>
        </p:txBody>
      </p:sp>
      <p:sp>
        <p:nvSpPr>
          <p:cNvPr id="25" name="enrollment-heading">
            <a:extLst>
              <a:ext uri="{FF2B5EF4-FFF2-40B4-BE49-F238E27FC236}">
                <a16:creationId xmlns:a16="http://schemas.microsoft.com/office/drawing/2014/main" id="{8497282D-0F32-46CC-9BD6-A908719C1476}"/>
              </a:ext>
            </a:extLst>
          </p:cNvPr>
          <p:cNvSpPr>
            <a:spLocks noGrp="1"/>
          </p:cNvSpPr>
          <p:nvPr/>
        </p:nvSpPr>
        <p:spPr>
          <a:xfrm>
            <a:off x="7715250" y="4143375"/>
            <a:ext cx="1619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1275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rPr>
              <a:t>MATRÍCULA</a:t>
            </a:r>
          </a:p>
        </p:txBody>
      </p:sp>
      <p:sp>
        <p:nvSpPr>
          <p:cNvPr id="26" name="students-top-rule">
            <a:extLst>
              <a:ext uri="{FF2B5EF4-FFF2-40B4-BE49-F238E27FC236}">
                <a16:creationId xmlns:a16="http://schemas.microsoft.com/office/drawing/2014/main" id="{A7922C15-D34B-4B95-9915-A3A8D77C7F79}"/>
              </a:ext>
            </a:extLst>
          </p:cNvPr>
          <p:cNvSpPr>
            <a:spLocks noGrp="1"/>
          </p:cNvSpPr>
          <p:nvPr/>
        </p:nvSpPr>
        <p:spPr>
          <a:xfrm>
            <a:off x="2857500" y="4381500"/>
            <a:ext cx="6477000" cy="0"/>
          </a:xfrm>
          <a:prstGeom prst="line">
            <a:avLst/>
          </a:prstGeom>
          <a:noFill/>
          <a:ln w="14288">
            <a:solidFill>
              <a:srgbClr val="0B3473"/>
            </a:solidFill>
            <a:prstDash val="solid"/>
          </a:ln>
        </p:spPr>
      </p:sp>
      <p:sp>
        <p:nvSpPr>
          <p:cNvPr id="28" name="students-row-divider">
            <a:extLst>
              <a:ext uri="{FF2B5EF4-FFF2-40B4-BE49-F238E27FC236}">
                <a16:creationId xmlns:a16="http://schemas.microsoft.com/office/drawing/2014/main" id="{0EBB92DB-59C3-4BDC-99A0-F2F4D93B78A4}"/>
              </a:ext>
            </a:extLst>
          </p:cNvPr>
          <p:cNvSpPr>
            <a:spLocks noGrp="1"/>
          </p:cNvSpPr>
          <p:nvPr/>
        </p:nvSpPr>
        <p:spPr>
          <a:xfrm>
            <a:off x="2857500" y="4800600"/>
            <a:ext cx="6477000" cy="0"/>
          </a:xfrm>
          <a:prstGeom prst="line">
            <a:avLst/>
          </a:prstGeom>
          <a:noFill/>
          <a:ln w="9525">
            <a:solidFill>
              <a:srgbClr val="DCEBFA"/>
            </a:solidFill>
            <a:prstDash val="solid"/>
          </a:ln>
        </p:spPr>
      </p:sp>
      <p:sp>
        <p:nvSpPr>
          <p:cNvPr id="29" name="students-column-divider">
            <a:extLst>
              <a:ext uri="{FF2B5EF4-FFF2-40B4-BE49-F238E27FC236}">
                <a16:creationId xmlns:a16="http://schemas.microsoft.com/office/drawing/2014/main" id="{D19BD447-A808-4FDA-A54C-331FE02FEA74}"/>
              </a:ext>
            </a:extLst>
          </p:cNvPr>
          <p:cNvSpPr>
            <a:spLocks noGrp="1"/>
          </p:cNvSpPr>
          <p:nvPr/>
        </p:nvSpPr>
        <p:spPr>
          <a:xfrm>
            <a:off x="7639050" y="4476750"/>
            <a:ext cx="0" cy="647700"/>
          </a:xfrm>
          <a:prstGeom prst="line">
            <a:avLst/>
          </a:prstGeom>
          <a:noFill/>
          <a:ln w="9525">
            <a:solidFill>
              <a:srgbClr val="9DB9DB"/>
            </a:solidFill>
            <a:prstDash val="solid"/>
          </a:ln>
        </p:spPr>
      </p:sp>
      <p:sp>
        <p:nvSpPr>
          <p:cNvPr id="30" name="student-row-one-marker">
            <a:extLst>
              <a:ext uri="{FF2B5EF4-FFF2-40B4-BE49-F238E27FC236}">
                <a16:creationId xmlns:a16="http://schemas.microsoft.com/office/drawing/2014/main" id="{4F497FA1-C313-4F3D-9493-840BF4D89598}"/>
              </a:ext>
            </a:extLst>
          </p:cNvPr>
          <p:cNvSpPr>
            <a:spLocks noGrp="1"/>
          </p:cNvSpPr>
          <p:nvPr/>
        </p:nvSpPr>
        <p:spPr>
          <a:xfrm>
            <a:off x="2876550" y="4486275"/>
            <a:ext cx="38100" cy="209550"/>
          </a:xfrm>
          <a:prstGeom prst="rect">
            <a:avLst/>
          </a:prstGeom>
          <a:solidFill>
            <a:srgbClr val="C8972C"/>
          </a:solidFill>
          <a:ln w="0">
            <a:noFill/>
            <a:prstDash val="solid"/>
          </a:ln>
        </p:spPr>
      </p:sp>
      <p:sp>
        <p:nvSpPr>
          <p:cNvPr id="34" name="student-two-name">
            <a:extLst>
              <a:ext uri="{FF2B5EF4-FFF2-40B4-BE49-F238E27FC236}">
                <a16:creationId xmlns:a16="http://schemas.microsoft.com/office/drawing/2014/main" id="{3EF7C761-CF7A-4E70-9E2B-16269734FC91}"/>
              </a:ext>
            </a:extLst>
          </p:cNvPr>
          <p:cNvSpPr>
            <a:spLocks noGrp="1"/>
          </p:cNvSpPr>
          <p:nvPr/>
        </p:nvSpPr>
        <p:spPr>
          <a:xfrm>
            <a:off x="3056554" y="4467225"/>
            <a:ext cx="4333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0">
                <a:solidFill>
                  <a:srgbClr val="102B5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B5C"/>
                </a:solidFill>
                <a:latin typeface="Aptos"/>
                <a:ea typeface="Aptos"/>
                <a:cs typeface="Aptos"/>
              </a:rPr>
              <a:t>Amaury Jahaziel Gordillo Hernández</a:t>
            </a:r>
          </a:p>
        </p:txBody>
      </p:sp>
      <p:sp>
        <p:nvSpPr>
          <p:cNvPr id="35" name="student-two-id">
            <a:extLst>
              <a:ext uri="{FF2B5EF4-FFF2-40B4-BE49-F238E27FC236}">
                <a16:creationId xmlns:a16="http://schemas.microsoft.com/office/drawing/2014/main" id="{05E44B11-B863-4ECE-A2F6-C9964031DF71}"/>
              </a:ext>
            </a:extLst>
          </p:cNvPr>
          <p:cNvSpPr>
            <a:spLocks noGrp="1"/>
          </p:cNvSpPr>
          <p:nvPr/>
        </p:nvSpPr>
        <p:spPr>
          <a:xfrm>
            <a:off x="7791450" y="4438649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1425" b="0">
                <a:solidFill>
                  <a:srgbClr val="102B5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B5C"/>
                </a:solidFill>
                <a:latin typeface="Aptos"/>
                <a:ea typeface="Aptos"/>
                <a:cs typeface="Aptos"/>
              </a:rPr>
              <a:t>231260074</a:t>
            </a:r>
          </a:p>
        </p:txBody>
      </p:sp>
      <p:sp>
        <p:nvSpPr>
          <p:cNvPr id="36" name="teacher-heading">
            <a:extLst>
              <a:ext uri="{FF2B5EF4-FFF2-40B4-BE49-F238E27FC236}">
                <a16:creationId xmlns:a16="http://schemas.microsoft.com/office/drawing/2014/main" id="{F388D88D-A3F7-4DA5-9D23-808A58C08C1E}"/>
              </a:ext>
            </a:extLst>
          </p:cNvPr>
          <p:cNvSpPr>
            <a:spLocks noGrp="1"/>
          </p:cNvSpPr>
          <p:nvPr/>
        </p:nvSpPr>
        <p:spPr>
          <a:xfrm>
            <a:off x="4191000" y="5467350"/>
            <a:ext cx="38100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75" b="1">
                <a:solidFill>
                  <a:srgbClr val="55739E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55739E"/>
                </a:solidFill>
                <a:latin typeface="Aptos Display"/>
                <a:ea typeface="Aptos Display"/>
                <a:cs typeface="Aptos Display"/>
              </a:rPr>
              <a:t>DOCENTE</a:t>
            </a:r>
          </a:p>
        </p:txBody>
      </p:sp>
      <p:sp>
        <p:nvSpPr>
          <p:cNvPr id="37" name="teacher-name">
            <a:extLst>
              <a:ext uri="{FF2B5EF4-FFF2-40B4-BE49-F238E27FC236}">
                <a16:creationId xmlns:a16="http://schemas.microsoft.com/office/drawing/2014/main" id="{AA678B21-6A90-4BCE-8092-FF0E0979DE5C}"/>
              </a:ext>
            </a:extLst>
          </p:cNvPr>
          <p:cNvSpPr>
            <a:spLocks noGrp="1"/>
          </p:cNvSpPr>
          <p:nvPr/>
        </p:nvSpPr>
        <p:spPr>
          <a:xfrm>
            <a:off x="2857500" y="5705475"/>
            <a:ext cx="64770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1800" b="1">
                <a:latin typeface="Aptos Display"/>
                <a:ea typeface="Aptos Display"/>
                <a:cs typeface="Aptos Display"/>
              </a:rPr>
              <a:t>ING. FRANCISCO JAVIER MINGO VELAZQUEZ</a:t>
            </a:r>
            <a:endParaRPr sz="1800">
              <a:latin typeface="Arial"/>
              <a:ea typeface="Arial"/>
              <a:cs typeface="Arial"/>
            </a:endParaRPr>
          </a:p>
        </p:txBody>
      </p:sp>
      <p:sp>
        <p:nvSpPr>
          <p:cNvPr id="38" name="footer-rule">
            <a:extLst>
              <a:ext uri="{FF2B5EF4-FFF2-40B4-BE49-F238E27FC236}">
                <a16:creationId xmlns:a16="http://schemas.microsoft.com/office/drawing/2014/main" id="{7C40688F-E9E3-4093-9368-ADED90666EB5}"/>
              </a:ext>
            </a:extLst>
          </p:cNvPr>
          <p:cNvSpPr>
            <a:spLocks noGrp="1"/>
          </p:cNvSpPr>
          <p:nvPr/>
        </p:nvSpPr>
        <p:spPr>
          <a:xfrm>
            <a:off x="1943100" y="6191250"/>
            <a:ext cx="8305800" cy="0"/>
          </a:xfrm>
          <a:prstGeom prst="line">
            <a:avLst/>
          </a:prstGeom>
          <a:noFill/>
          <a:ln w="11430">
            <a:solidFill>
              <a:srgbClr val="9DB9DB"/>
            </a:solidFill>
            <a:prstDash val="solid"/>
          </a:ln>
        </p:spPr>
      </p:sp>
      <p:sp>
        <p:nvSpPr>
          <p:cNvPr id="39" name="footer-rule-accent">
            <a:extLst>
              <a:ext uri="{FF2B5EF4-FFF2-40B4-BE49-F238E27FC236}">
                <a16:creationId xmlns:a16="http://schemas.microsoft.com/office/drawing/2014/main" id="{AA9604F1-D818-4EDE-AFC0-507B4EE53347}"/>
              </a:ext>
            </a:extLst>
          </p:cNvPr>
          <p:cNvSpPr>
            <a:spLocks noGrp="1"/>
          </p:cNvSpPr>
          <p:nvPr/>
        </p:nvSpPr>
        <p:spPr>
          <a:xfrm>
            <a:off x="5829300" y="6172200"/>
            <a:ext cx="533400" cy="38100"/>
          </a:xfrm>
          <a:prstGeom prst="rect">
            <a:avLst/>
          </a:prstGeom>
          <a:solidFill>
            <a:srgbClr val="C8972C"/>
          </a:solidFill>
          <a:ln w="0">
            <a:noFill/>
            <a:prstDash val="solid"/>
          </a:ln>
        </p:spPr>
      </p:sp>
      <p:sp>
        <p:nvSpPr>
          <p:cNvPr id="40" name="date-location">
            <a:extLst>
              <a:ext uri="{FF2B5EF4-FFF2-40B4-BE49-F238E27FC236}">
                <a16:creationId xmlns:a16="http://schemas.microsoft.com/office/drawing/2014/main" id="{8EF49A72-4459-4AD1-9919-B580F4EB3D0A}"/>
              </a:ext>
            </a:extLst>
          </p:cNvPr>
          <p:cNvSpPr>
            <a:spLocks noGrp="1"/>
          </p:cNvSpPr>
          <p:nvPr/>
        </p:nvSpPr>
        <p:spPr>
          <a:xfrm>
            <a:off x="2476500" y="6372225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350" b="0">
                <a:solidFill>
                  <a:srgbClr val="0B347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3473"/>
                </a:solidFill>
                <a:latin typeface="Aptos"/>
                <a:ea typeface="Aptos"/>
                <a:cs typeface="Aptos"/>
              </a:rPr>
              <a:t>18 DE </a:t>
            </a:r>
            <a:r>
              <a:rPr sz="1350">
                <a:solidFill>
                  <a:srgbClr val="0B3473"/>
                </a:solidFill>
                <a:latin typeface="Aptos"/>
                <a:ea typeface="Aptos"/>
                <a:cs typeface="Aptos"/>
              </a:rPr>
              <a:t>AGOSTO</a:t>
            </a:r>
            <a:r>
              <a:rPr sz="1350" b="0">
                <a:solidFill>
                  <a:srgbClr val="0B3473"/>
                </a:solidFill>
                <a:latin typeface="Aptos"/>
                <a:ea typeface="Aptos"/>
                <a:cs typeface="Aptos"/>
              </a:rPr>
              <a:t> DE 2026  ·  VENUSTIANO CARRANZA, CHIAPAS</a:t>
            </a:r>
          </a:p>
        </p:txBody>
      </p:sp>
      <p:pic>
        <p:nvPicPr>
          <p:cNvPr id="75" name="Imagen 4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01576" y="128441"/>
            <a:ext cx="1834529" cy="809723"/>
          </a:xfrm>
          <a:prstGeom prst="rect">
            <a:avLst/>
          </a:prstGeom>
          <a:ln>
            <a:noFill/>
          </a:ln>
        </p:spPr>
      </p:pic>
      <p:pic>
        <p:nvPicPr>
          <p:cNvPr id="76" name="Imagen 42"/>
          <p:cNvPicPr>
            <a:picLocks noChangeAspect="1"/>
          </p:cNvPicPr>
          <p:nvPr/>
        </p:nvPicPr>
        <p:blipFill rotWithShape="1">
          <a:blip r:embed="rId5"/>
          <a:srcRect/>
          <a:stretch/>
        </p:blipFill>
        <p:spPr>
          <a:xfrm>
            <a:off x="10619686" y="11882"/>
            <a:ext cx="1289022" cy="926282"/>
          </a:xfrm>
          <a:prstGeom prst="rect">
            <a:avLst/>
          </a:prstGeom>
          <a:ln>
            <a:noFill/>
          </a:ln>
        </p:spPr>
      </p:pic>
      <p:sp>
        <p:nvSpPr>
          <p:cNvPr id="5" name="activity-left-node">
            <a:extLst>
              <a:ext uri="{FF2B5EF4-FFF2-40B4-BE49-F238E27FC236}">
                <a16:creationId xmlns:a16="http://schemas.microsoft.com/office/drawing/2014/main" id="{AB38A2EA-B133-B170-0BFA-9B5674F0137F}"/>
              </a:ext>
            </a:extLst>
          </p:cNvPr>
          <p:cNvSpPr>
            <a:spLocks noGrp="1"/>
          </p:cNvSpPr>
          <p:nvPr/>
        </p:nvSpPr>
        <p:spPr>
          <a:xfrm>
            <a:off x="6053137" y="2148500"/>
            <a:ext cx="85725" cy="85725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8972C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240568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11">
            <a:extLst>
              <a:ext uri="{FF2B5EF4-FFF2-40B4-BE49-F238E27FC236}">
                <a16:creationId xmlns:a16="http://schemas.microsoft.com/office/drawing/2014/main" id="{3461B335-A852-4D43-AEA3-CB2AD402785B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108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17201D"/>
                </a:solidFill>
              </a:defRPr>
            </a:pPr>
            <a:r>
              <a:rPr sz="2700" b="1">
                <a:solidFill>
                  <a:srgbClr val="17201D"/>
                </a:solidFill>
              </a:rPr>
              <a:t>Introducción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6896E98-3069-4A13-9EEC-5FC61DD56D70}"/>
              </a:ext>
            </a:extLst>
          </p:cNvPr>
          <p:cNvSpPr>
            <a:spLocks noGrp="1"/>
          </p:cNvSpPr>
          <p:nvPr/>
        </p:nvSpPr>
        <p:spPr>
          <a:xfrm>
            <a:off x="685800" y="1162050"/>
            <a:ext cx="685800" cy="38100"/>
          </a:xfrm>
          <a:prstGeom prst="rect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2035A36-FC7D-43C8-A9FC-31D438CB45DD}"/>
              </a:ext>
            </a:extLst>
          </p:cNvPr>
          <p:cNvSpPr>
            <a:spLocks noGrp="1"/>
          </p:cNvSpPr>
          <p:nvPr/>
        </p:nvSpPr>
        <p:spPr>
          <a:xfrm>
            <a:off x="781050" y="1762125"/>
            <a:ext cx="723900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00" b="1">
                <a:solidFill>
                  <a:srgbClr val="17201D"/>
                </a:solidFill>
              </a:defRPr>
            </a:pPr>
            <a:r>
              <a:rPr sz="2100" b="1">
                <a:solidFill>
                  <a:srgbClr val="17201D"/>
                </a:solidFill>
              </a:rPr>
              <a:t>El analizador semántico se integró en una interfaz JavaFX para revisar el código y consultar sus resultados sin depender de la salida de consola.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3F5ECDA-7F54-4837-807F-5D5B3E906739}"/>
              </a:ext>
            </a:extLst>
          </p:cNvPr>
          <p:cNvSpPr>
            <a:spLocks noGrp="1"/>
          </p:cNvSpPr>
          <p:nvPr/>
        </p:nvSpPr>
        <p:spPr>
          <a:xfrm>
            <a:off x="781050" y="3190875"/>
            <a:ext cx="7239000" cy="1666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0">
                <a:solidFill>
                  <a:srgbClr val="66716C"/>
                </a:solidFill>
              </a:defRPr>
            </a:pPr>
            <a:r>
              <a:rPr sz="1650" b="0">
                <a:solidFill>
                  <a:srgbClr val="66716C"/>
                </a:solidFill>
              </a:rPr>
              <a:t>La ventana permite elegir una prueba, revisar el archivo cargado, ejecutar el análisis y consultar por separado la tabla de símbolos, las salidas y los errores. La lógica desarrollada previamente se conservó; el cambio principal fue incorporar una capa visual que facilitara la ejecución y la documentación de la práctica.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D3EBDF7B-A33D-4C0B-B812-FCAC9ACEFE17}"/>
              </a:ext>
            </a:extLst>
          </p:cNvPr>
          <p:cNvSpPr>
            <a:spLocks noGrp="1"/>
          </p:cNvSpPr>
          <p:nvPr/>
        </p:nvSpPr>
        <p:spPr>
          <a:xfrm>
            <a:off x="8572500" y="1952625"/>
            <a:ext cx="2524125" cy="2857500"/>
          </a:xfrm>
          <a:prstGeom prst="roundRect">
            <a:avLst>
              <a:gd name="adj" fmla="val 6038"/>
            </a:avLst>
          </a:prstGeom>
          <a:solidFill>
            <a:srgbClr val="29483D"/>
          </a:solidFill>
          <a:ln w="9525">
            <a:solidFill>
              <a:srgbClr val="29483D"/>
            </a:solidFill>
            <a:prstDash val="solid"/>
          </a:ln>
        </p:spPr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4683A49-0AAA-4B86-8EEA-8F53AB3BB443}"/>
              </a:ext>
            </a:extLst>
          </p:cNvPr>
          <p:cNvSpPr>
            <a:spLocks noGrp="1"/>
          </p:cNvSpPr>
          <p:nvPr/>
        </p:nvSpPr>
        <p:spPr>
          <a:xfrm>
            <a:off x="8905875" y="2286000"/>
            <a:ext cx="1857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Entrada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36FA65DE-36D2-4F74-B719-955B6F2B6CD8}"/>
              </a:ext>
            </a:extLst>
          </p:cNvPr>
          <p:cNvSpPr>
            <a:spLocks noGrp="1"/>
          </p:cNvSpPr>
          <p:nvPr/>
        </p:nvSpPr>
        <p:spPr>
          <a:xfrm>
            <a:off x="8905875" y="2714625"/>
            <a:ext cx="1857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800" b="1">
                <a:solidFill>
                  <a:srgbClr val="E8F0EC"/>
                </a:solidFill>
              </a:defRPr>
            </a:pPr>
            <a:r>
              <a:rPr sz="1800" b="1">
                <a:solidFill>
                  <a:srgbClr val="E8F0EC"/>
                </a:solidFill>
              </a:rPr>
              <a:t>Prueba seleccionada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D4B83E0-8BA3-4EE9-983C-49BED544EE58}"/>
              </a:ext>
            </a:extLst>
          </p:cNvPr>
          <p:cNvSpPr>
            <a:spLocks noGrp="1"/>
          </p:cNvSpPr>
          <p:nvPr/>
        </p:nvSpPr>
        <p:spPr>
          <a:xfrm>
            <a:off x="9429750" y="3219450"/>
            <a:ext cx="809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100" b="1">
                <a:solidFill>
                  <a:srgbClr val="CFE0D7"/>
                </a:solidFill>
              </a:defRPr>
            </a:pPr>
            <a:r>
              <a:rPr sz="2100" b="1">
                <a:solidFill>
                  <a:srgbClr val="CFE0D7"/>
                </a:solidFill>
              </a:rPr>
              <a:t>↓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A76B83E-1196-49ED-98F9-27E698693C67}"/>
              </a:ext>
            </a:extLst>
          </p:cNvPr>
          <p:cNvSpPr>
            <a:spLocks noGrp="1"/>
          </p:cNvSpPr>
          <p:nvPr/>
        </p:nvSpPr>
        <p:spPr>
          <a:xfrm>
            <a:off x="8905875" y="3714750"/>
            <a:ext cx="1857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Análisis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98888D73-C674-4FB9-910E-76A28FB236F5}"/>
              </a:ext>
            </a:extLst>
          </p:cNvPr>
          <p:cNvSpPr>
            <a:spLocks noGrp="1"/>
          </p:cNvSpPr>
          <p:nvPr/>
        </p:nvSpPr>
        <p:spPr>
          <a:xfrm>
            <a:off x="8810625" y="4143375"/>
            <a:ext cx="2047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725" b="1">
                <a:solidFill>
                  <a:srgbClr val="E8F0EC"/>
                </a:solidFill>
              </a:defRPr>
            </a:pPr>
            <a:r>
              <a:rPr sz="1725" b="1">
                <a:solidFill>
                  <a:srgbClr val="E8F0EC"/>
                </a:solidFill>
              </a:rPr>
              <a:t>Tabla, salidas y errores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C8A811A-0834-4D9A-8B9E-F2737CB0C7F4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0">
                <a:solidFill>
                  <a:srgbClr val="66716C"/>
                </a:solidFill>
              </a:defRPr>
            </a:pPr>
            <a:r>
              <a:rPr sz="900" b="0">
                <a:solidFill>
                  <a:srgbClr val="66716C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27164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ángulo 13">
            <a:extLst>
              <a:ext uri="{FF2B5EF4-FFF2-40B4-BE49-F238E27FC236}">
                <a16:creationId xmlns:a16="http://schemas.microsoft.com/office/drawing/2014/main" id="{2EF40386-B73F-4C98-861A-A6052E517302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108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17201D"/>
                </a:solidFill>
              </a:defRPr>
            </a:pPr>
            <a:r>
              <a:rPr sz="2700" b="1">
                <a:solidFill>
                  <a:srgbClr val="17201D"/>
                </a:solidFill>
              </a:rPr>
              <a:t>Justificación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0AECE97-FA56-42A6-8E41-93FDAD67E1DB}"/>
              </a:ext>
            </a:extLst>
          </p:cNvPr>
          <p:cNvSpPr>
            <a:spLocks noGrp="1"/>
          </p:cNvSpPr>
          <p:nvPr/>
        </p:nvSpPr>
        <p:spPr>
          <a:xfrm>
            <a:off x="685800" y="1162050"/>
            <a:ext cx="685800" cy="38100"/>
          </a:xfrm>
          <a:prstGeom prst="rect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914E3833-BB4B-431F-BCF0-575CD5BAC55E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4953000" cy="333375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C9D2CD"/>
            </a:solidFill>
            <a:prstDash val="solid"/>
          </a:ln>
        </p:spPr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10CD294-D3D9-46ED-997A-99C089040C28}"/>
              </a:ext>
            </a:extLst>
          </p:cNvPr>
          <p:cNvSpPr>
            <a:spLocks noGrp="1"/>
          </p:cNvSpPr>
          <p:nvPr/>
        </p:nvSpPr>
        <p:spPr>
          <a:xfrm>
            <a:off x="1028700" y="2095500"/>
            <a:ext cx="4095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025" b="1">
                <a:solidFill>
                  <a:srgbClr val="29483D"/>
                </a:solidFill>
              </a:defRPr>
            </a:pPr>
            <a:r>
              <a:rPr sz="2025" b="1">
                <a:solidFill>
                  <a:srgbClr val="29483D"/>
                </a:solidFill>
              </a:rPr>
              <a:t>¿Por qué se adaptó?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1A4D606-0C00-48C3-8BAF-6E26ABE0C5B3}"/>
              </a:ext>
            </a:extLst>
          </p:cNvPr>
          <p:cNvSpPr>
            <a:spLocks noGrp="1"/>
          </p:cNvSpPr>
          <p:nvPr/>
        </p:nvSpPr>
        <p:spPr>
          <a:xfrm>
            <a:off x="1028700" y="2714625"/>
            <a:ext cx="4095750" cy="1762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0">
                <a:solidFill>
                  <a:srgbClr val="17201D"/>
                </a:solidFill>
              </a:defRPr>
            </a:pPr>
            <a:r>
              <a:rPr sz="1650" b="0">
                <a:solidFill>
                  <a:srgbClr val="17201D"/>
                </a:solidFill>
              </a:rPr>
              <a:t>El analizador ya resolvía declaraciones, asignaciones y expresiones, pero la práctica debía ejecutarse con JavaFX. Por eso se mantuvieron las clases que funcionaban y se añadió una interfaz que permite comprobar cada resultado de manera más clara.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E01702B-0F7F-46BC-BBB7-BAD86854720D}"/>
              </a:ext>
            </a:extLst>
          </p:cNvPr>
          <p:cNvSpPr>
            <a:spLocks noGrp="1"/>
          </p:cNvSpPr>
          <p:nvPr/>
        </p:nvSpPr>
        <p:spPr>
          <a:xfrm>
            <a:off x="6477000" y="1952625"/>
            <a:ext cx="3810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950" b="1">
                <a:solidFill>
                  <a:srgbClr val="17201D"/>
                </a:solidFill>
              </a:defRPr>
            </a:pPr>
            <a:r>
              <a:rPr sz="1950" b="1">
                <a:solidFill>
                  <a:srgbClr val="17201D"/>
                </a:solidFill>
              </a:rPr>
              <a:t>La práctica permite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91772D72-9419-444F-AEB1-AA806A3745A4}"/>
              </a:ext>
            </a:extLst>
          </p:cNvPr>
          <p:cNvSpPr>
            <a:spLocks noGrp="1"/>
          </p:cNvSpPr>
          <p:nvPr/>
        </p:nvSpPr>
        <p:spPr>
          <a:xfrm>
            <a:off x="6477000" y="2705100"/>
            <a:ext cx="95250" cy="95250"/>
          </a:xfrm>
          <a:prstGeom prst="ellipse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CCEF24A-0C2B-41E6-AAE2-C338E59BEB27}"/>
              </a:ext>
            </a:extLst>
          </p:cNvPr>
          <p:cNvSpPr>
            <a:spLocks noGrp="1"/>
          </p:cNvSpPr>
          <p:nvPr/>
        </p:nvSpPr>
        <p:spPr>
          <a:xfrm>
            <a:off x="6715125" y="2619375"/>
            <a:ext cx="414337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0">
                <a:solidFill>
                  <a:srgbClr val="17201D"/>
                </a:solidFill>
              </a:defRPr>
            </a:pPr>
            <a:r>
              <a:rPr sz="1575" b="0">
                <a:solidFill>
                  <a:srgbClr val="17201D"/>
                </a:solidFill>
              </a:rPr>
              <a:t>Conservar la lógica que ya había sido comprobada.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45B5E4F4-C721-4795-BAB7-1355BA16D647}"/>
              </a:ext>
            </a:extLst>
          </p:cNvPr>
          <p:cNvSpPr>
            <a:spLocks noGrp="1"/>
          </p:cNvSpPr>
          <p:nvPr/>
        </p:nvSpPr>
        <p:spPr>
          <a:xfrm>
            <a:off x="6477000" y="3486150"/>
            <a:ext cx="95250" cy="95250"/>
          </a:xfrm>
          <a:prstGeom prst="ellipse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871FC61-58BB-4D61-B6A0-4991D138BB42}"/>
              </a:ext>
            </a:extLst>
          </p:cNvPr>
          <p:cNvSpPr>
            <a:spLocks noGrp="1"/>
          </p:cNvSpPr>
          <p:nvPr/>
        </p:nvSpPr>
        <p:spPr>
          <a:xfrm>
            <a:off x="6715125" y="3400425"/>
            <a:ext cx="414337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0">
                <a:solidFill>
                  <a:srgbClr val="17201D"/>
                </a:solidFill>
              </a:defRPr>
            </a:pPr>
            <a:r>
              <a:rPr sz="1575" b="0">
                <a:solidFill>
                  <a:srgbClr val="17201D"/>
                </a:solidFill>
              </a:rPr>
              <a:t>Separar la interfaz del proceso de análisis.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0043A60E-01E0-4E40-AE19-BD205D3137E3}"/>
              </a:ext>
            </a:extLst>
          </p:cNvPr>
          <p:cNvSpPr>
            <a:spLocks noGrp="1"/>
          </p:cNvSpPr>
          <p:nvPr/>
        </p:nvSpPr>
        <p:spPr>
          <a:xfrm>
            <a:off x="6477000" y="4267200"/>
            <a:ext cx="95250" cy="95250"/>
          </a:xfrm>
          <a:prstGeom prst="ellipse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2E0160F-D234-4C1A-810C-839B7C524F89}"/>
              </a:ext>
            </a:extLst>
          </p:cNvPr>
          <p:cNvSpPr>
            <a:spLocks noGrp="1"/>
          </p:cNvSpPr>
          <p:nvPr/>
        </p:nvSpPr>
        <p:spPr>
          <a:xfrm>
            <a:off x="6715125" y="4181475"/>
            <a:ext cx="414337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0">
                <a:solidFill>
                  <a:srgbClr val="17201D"/>
                </a:solidFill>
              </a:defRPr>
            </a:pPr>
            <a:r>
              <a:rPr sz="1575" b="0">
                <a:solidFill>
                  <a:srgbClr val="17201D"/>
                </a:solidFill>
              </a:rPr>
              <a:t>Mostrar los resultados de una forma más fácil de revisar.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22EAB3F7-3567-48F5-8CE3-4116E0EC17A1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0">
                <a:solidFill>
                  <a:srgbClr val="66716C"/>
                </a:solidFill>
              </a:defRPr>
            </a:pPr>
            <a:r>
              <a:rPr sz="900" b="0">
                <a:solidFill>
                  <a:srgbClr val="66716C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498584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97D7BEE6-1483-4895-9BA4-A077714E6F7F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108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17201D"/>
                </a:solidFill>
              </a:defRPr>
            </a:pPr>
            <a:r>
              <a:rPr sz="2700" b="1">
                <a:solidFill>
                  <a:srgbClr val="17201D"/>
                </a:solidFill>
              </a:rPr>
              <a:t>Objetivo general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AF0F799-0E6D-4CB7-921E-751C2FF89906}"/>
              </a:ext>
            </a:extLst>
          </p:cNvPr>
          <p:cNvSpPr>
            <a:spLocks noGrp="1"/>
          </p:cNvSpPr>
          <p:nvPr/>
        </p:nvSpPr>
        <p:spPr>
          <a:xfrm>
            <a:off x="685800" y="1162050"/>
            <a:ext cx="685800" cy="38100"/>
          </a:xfrm>
          <a:prstGeom prst="rect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4FB27BD1-A155-471E-97B6-7AB6CFB86E81}"/>
              </a:ext>
            </a:extLst>
          </p:cNvPr>
          <p:cNvSpPr>
            <a:spLocks noGrp="1"/>
          </p:cNvSpPr>
          <p:nvPr/>
        </p:nvSpPr>
        <p:spPr>
          <a:xfrm>
            <a:off x="1285875" y="2047875"/>
            <a:ext cx="9620250" cy="2333625"/>
          </a:xfrm>
          <a:prstGeom prst="roundRect">
            <a:avLst>
              <a:gd name="adj" fmla="val 6531"/>
            </a:avLst>
          </a:prstGeom>
          <a:solidFill>
            <a:srgbClr val="DDE7E1"/>
          </a:solidFill>
          <a:ln w="9525">
            <a:solidFill>
              <a:srgbClr val="DDE7E1"/>
            </a:solidFill>
            <a:prstDash val="solid"/>
          </a:ln>
        </p:spPr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50653CB7-B6F5-4922-8323-C9CF16032CAC}"/>
              </a:ext>
            </a:extLst>
          </p:cNvPr>
          <p:cNvSpPr>
            <a:spLocks noGrp="1"/>
          </p:cNvSpPr>
          <p:nvPr/>
        </p:nvSpPr>
        <p:spPr>
          <a:xfrm>
            <a:off x="1809750" y="2571750"/>
            <a:ext cx="85725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250" b="1">
                <a:solidFill>
                  <a:srgbClr val="17201D"/>
                </a:solidFill>
              </a:defRPr>
            </a:pPr>
            <a:r>
              <a:rPr sz="2250" b="1">
                <a:solidFill>
                  <a:srgbClr val="17201D"/>
                </a:solidFill>
              </a:rPr>
              <a:t>Integrar en JavaFX el analizador semántico de la Unidad 1 para cargar casos de prueba, registrar identificadores, comprobar tipos y presentar de manera ordenada la tabla de símbolos, las salidas y los errores encontrados.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1030297-F095-42DF-919B-23F2E1828EEF}"/>
              </a:ext>
            </a:extLst>
          </p:cNvPr>
          <p:cNvSpPr>
            <a:spLocks noGrp="1"/>
          </p:cNvSpPr>
          <p:nvPr/>
        </p:nvSpPr>
        <p:spPr>
          <a:xfrm>
            <a:off x="2047875" y="4905375"/>
            <a:ext cx="8096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650" b="0">
                <a:solidFill>
                  <a:srgbClr val="66716C"/>
                </a:solidFill>
              </a:defRPr>
            </a:pPr>
            <a:r>
              <a:rPr sz="1650" b="0">
                <a:solidFill>
                  <a:srgbClr val="66716C"/>
                </a:solidFill>
              </a:rPr>
              <a:t>El objetivo se verificó con un programa correcto y otro preparado con seis errores semánticos.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80D8423-A764-49DC-B8D2-2187B8E987F4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0">
                <a:solidFill>
                  <a:srgbClr val="66716C"/>
                </a:solidFill>
              </a:defRPr>
            </a:pPr>
            <a:r>
              <a:rPr sz="900" b="0">
                <a:solidFill>
                  <a:srgbClr val="66716C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399624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ángulo 13">
            <a:extLst>
              <a:ext uri="{FF2B5EF4-FFF2-40B4-BE49-F238E27FC236}">
                <a16:creationId xmlns:a16="http://schemas.microsoft.com/office/drawing/2014/main" id="{CD72AA95-DC0F-43BB-B542-ABD44A0759EC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108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17201D"/>
                </a:solidFill>
              </a:defRPr>
            </a:pPr>
            <a:r>
              <a:rPr sz="2700" b="1">
                <a:solidFill>
                  <a:srgbClr val="17201D"/>
                </a:solidFill>
              </a:rPr>
              <a:t>Objetivos específicos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DF33250-A447-4711-9C02-2281F8B93F34}"/>
              </a:ext>
            </a:extLst>
          </p:cNvPr>
          <p:cNvSpPr>
            <a:spLocks noGrp="1"/>
          </p:cNvSpPr>
          <p:nvPr/>
        </p:nvSpPr>
        <p:spPr>
          <a:xfrm>
            <a:off x="685800" y="1162050"/>
            <a:ext cx="685800" cy="38100"/>
          </a:xfrm>
          <a:prstGeom prst="rect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69904D94-0DCF-443A-943E-CA849E6EA66C}"/>
              </a:ext>
            </a:extLst>
          </p:cNvPr>
          <p:cNvSpPr>
            <a:spLocks noGrp="1"/>
          </p:cNvSpPr>
          <p:nvPr/>
        </p:nvSpPr>
        <p:spPr>
          <a:xfrm>
            <a:off x="1095375" y="1895475"/>
            <a:ext cx="95250" cy="95250"/>
          </a:xfrm>
          <a:prstGeom prst="ellipse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592CAC3-5CFE-44C7-BAEC-4EFFA465EE42}"/>
              </a:ext>
            </a:extLst>
          </p:cNvPr>
          <p:cNvSpPr>
            <a:spLocks noGrp="1"/>
          </p:cNvSpPr>
          <p:nvPr/>
        </p:nvSpPr>
        <p:spPr>
          <a:xfrm>
            <a:off x="1333500" y="1809750"/>
            <a:ext cx="957262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0">
                <a:solidFill>
                  <a:srgbClr val="17201D"/>
                </a:solidFill>
              </a:defRPr>
            </a:pPr>
            <a:r>
              <a:rPr sz="1575" b="0">
                <a:solidFill>
                  <a:srgbClr val="17201D"/>
                </a:solidFill>
              </a:rPr>
              <a:t>Conservar el motor de análisis y sus reglas semánticas.</a:t>
            </a: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55716D4E-3021-4B35-A716-17DEE7933CC8}"/>
              </a:ext>
            </a:extLst>
          </p:cNvPr>
          <p:cNvSpPr>
            <a:spLocks noGrp="1"/>
          </p:cNvSpPr>
          <p:nvPr/>
        </p:nvSpPr>
        <p:spPr>
          <a:xfrm>
            <a:off x="1095375" y="2657475"/>
            <a:ext cx="95250" cy="95250"/>
          </a:xfrm>
          <a:prstGeom prst="ellipse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6F3CB282-3CE3-4A78-8B5D-E0AFCB44BB16}"/>
              </a:ext>
            </a:extLst>
          </p:cNvPr>
          <p:cNvSpPr>
            <a:spLocks noGrp="1"/>
          </p:cNvSpPr>
          <p:nvPr/>
        </p:nvSpPr>
        <p:spPr>
          <a:xfrm>
            <a:off x="1333500" y="2571750"/>
            <a:ext cx="957262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0">
                <a:solidFill>
                  <a:srgbClr val="17201D"/>
                </a:solidFill>
              </a:defRPr>
            </a:pPr>
            <a:r>
              <a:rPr sz="1575" b="0">
                <a:solidFill>
                  <a:srgbClr val="17201D"/>
                </a:solidFill>
              </a:rPr>
              <a:t>Construir la ventana mediante FXML y estilos CSS.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751680CE-046E-475D-B029-E06C7E86AEF3}"/>
              </a:ext>
            </a:extLst>
          </p:cNvPr>
          <p:cNvSpPr>
            <a:spLocks noGrp="1"/>
          </p:cNvSpPr>
          <p:nvPr/>
        </p:nvSpPr>
        <p:spPr>
          <a:xfrm>
            <a:off x="1095375" y="3419475"/>
            <a:ext cx="95250" cy="95250"/>
          </a:xfrm>
          <a:prstGeom prst="ellipse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FCDA1A5-FC0B-4CF2-A963-4943922DC7F1}"/>
              </a:ext>
            </a:extLst>
          </p:cNvPr>
          <p:cNvSpPr>
            <a:spLocks noGrp="1"/>
          </p:cNvSpPr>
          <p:nvPr/>
        </p:nvSpPr>
        <p:spPr>
          <a:xfrm>
            <a:off x="1333500" y="3333750"/>
            <a:ext cx="957262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0">
                <a:solidFill>
                  <a:srgbClr val="17201D"/>
                </a:solidFill>
              </a:defRPr>
            </a:pPr>
            <a:r>
              <a:rPr sz="1575" b="0">
                <a:solidFill>
                  <a:srgbClr val="17201D"/>
                </a:solidFill>
              </a:rPr>
              <a:t>Conectar la selección de pruebas con el controlador JavaFX.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D131E8FC-E060-40F5-A613-C7FADEB81C6B}"/>
              </a:ext>
            </a:extLst>
          </p:cNvPr>
          <p:cNvSpPr>
            <a:spLocks noGrp="1"/>
          </p:cNvSpPr>
          <p:nvPr/>
        </p:nvSpPr>
        <p:spPr>
          <a:xfrm>
            <a:off x="1095375" y="4181475"/>
            <a:ext cx="95250" cy="95250"/>
          </a:xfrm>
          <a:prstGeom prst="ellipse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1BE580F-35E4-4A99-86B6-50CA6E853F13}"/>
              </a:ext>
            </a:extLst>
          </p:cNvPr>
          <p:cNvSpPr>
            <a:spLocks noGrp="1"/>
          </p:cNvSpPr>
          <p:nvPr/>
        </p:nvSpPr>
        <p:spPr>
          <a:xfrm>
            <a:off x="1333500" y="4095750"/>
            <a:ext cx="957262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0">
                <a:solidFill>
                  <a:srgbClr val="17201D"/>
                </a:solidFill>
              </a:defRPr>
            </a:pPr>
            <a:r>
              <a:rPr sz="1575" b="0">
                <a:solidFill>
                  <a:srgbClr val="17201D"/>
                </a:solidFill>
              </a:rPr>
              <a:t>Mostrar símbolos, valores, salidas y errores en pestañas separadas.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CA8B61B2-1EB4-45C2-BE1C-82E74D40A922}"/>
              </a:ext>
            </a:extLst>
          </p:cNvPr>
          <p:cNvSpPr>
            <a:spLocks noGrp="1"/>
          </p:cNvSpPr>
          <p:nvPr/>
        </p:nvSpPr>
        <p:spPr>
          <a:xfrm>
            <a:off x="1095375" y="4943475"/>
            <a:ext cx="95250" cy="95250"/>
          </a:xfrm>
          <a:prstGeom prst="ellipse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8B7B414E-DAB7-4F7D-85A7-0C7C84F7FB41}"/>
              </a:ext>
            </a:extLst>
          </p:cNvPr>
          <p:cNvSpPr>
            <a:spLocks noGrp="1"/>
          </p:cNvSpPr>
          <p:nvPr/>
        </p:nvSpPr>
        <p:spPr>
          <a:xfrm>
            <a:off x="1333500" y="4857750"/>
            <a:ext cx="957262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0">
                <a:solidFill>
                  <a:srgbClr val="17201D"/>
                </a:solidFill>
              </a:defRPr>
            </a:pPr>
            <a:r>
              <a:rPr sz="1575" b="0">
                <a:solidFill>
                  <a:srgbClr val="17201D"/>
                </a:solidFill>
              </a:rPr>
              <a:t>Ejecutar y documentar los dos casos de la actividad 1.2.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A4C71CE-4045-4484-BAF4-40D1B7A08E98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0">
                <a:solidFill>
                  <a:srgbClr val="66716C"/>
                </a:solidFill>
              </a:defRPr>
            </a:pPr>
            <a:r>
              <a:rPr sz="900" b="0">
                <a:solidFill>
                  <a:srgbClr val="66716C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349799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ángulo 15">
            <a:extLst>
              <a:ext uri="{FF2B5EF4-FFF2-40B4-BE49-F238E27FC236}">
                <a16:creationId xmlns:a16="http://schemas.microsoft.com/office/drawing/2014/main" id="{D11F87B1-F649-414F-A644-3820A8852F60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108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17201D"/>
                </a:solidFill>
              </a:defRPr>
            </a:pPr>
            <a:r>
              <a:rPr sz="2700" b="1">
                <a:solidFill>
                  <a:srgbClr val="17201D"/>
                </a:solidFill>
              </a:rPr>
              <a:t>Marco teórico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5134355-4037-4E3D-9B29-F2F0C5FDF4AD}"/>
              </a:ext>
            </a:extLst>
          </p:cNvPr>
          <p:cNvSpPr>
            <a:spLocks noGrp="1"/>
          </p:cNvSpPr>
          <p:nvPr/>
        </p:nvSpPr>
        <p:spPr>
          <a:xfrm>
            <a:off x="685800" y="1162050"/>
            <a:ext cx="685800" cy="38100"/>
          </a:xfrm>
          <a:prstGeom prst="rect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32BDA328-8F2E-4CB4-A26A-7BC18E3D6EE7}"/>
              </a:ext>
            </a:extLst>
          </p:cNvPr>
          <p:cNvSpPr>
            <a:spLocks noGrp="1"/>
          </p:cNvSpPr>
          <p:nvPr/>
        </p:nvSpPr>
        <p:spPr>
          <a:xfrm>
            <a:off x="685800" y="1857375"/>
            <a:ext cx="3105150" cy="3238500"/>
          </a:xfrm>
          <a:prstGeom prst="roundRect">
            <a:avLst>
              <a:gd name="adj" fmla="val 4908"/>
            </a:avLst>
          </a:prstGeom>
          <a:solidFill>
            <a:srgbClr val="FFFFFF"/>
          </a:solidFill>
          <a:ln w="9525">
            <a:solidFill>
              <a:srgbClr val="C9D2CD"/>
            </a:solidFill>
            <a:prstDash val="solid"/>
          </a:ln>
        </p:spPr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6E58FC8A-7619-479F-ABBA-75782D855FB4}"/>
              </a:ext>
            </a:extLst>
          </p:cNvPr>
          <p:cNvSpPr>
            <a:spLocks noGrp="1"/>
          </p:cNvSpPr>
          <p:nvPr/>
        </p:nvSpPr>
        <p:spPr>
          <a:xfrm>
            <a:off x="952500" y="2095500"/>
            <a:ext cx="428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9483D"/>
                </a:solidFill>
              </a:defRPr>
            </a:pPr>
            <a:r>
              <a:rPr sz="1275" b="1">
                <a:solidFill>
                  <a:srgbClr val="29483D"/>
                </a:solidFill>
              </a:rPr>
              <a:t>01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4CB11C8-5CD2-4024-A6DC-916410B51D79}"/>
              </a:ext>
            </a:extLst>
          </p:cNvPr>
          <p:cNvSpPr>
            <a:spLocks noGrp="1"/>
          </p:cNvSpPr>
          <p:nvPr/>
        </p:nvSpPr>
        <p:spPr>
          <a:xfrm>
            <a:off x="952500" y="2571750"/>
            <a:ext cx="2571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>
                <a:solidFill>
                  <a:srgbClr val="17201D"/>
                </a:solidFill>
              </a:defRPr>
            </a:pPr>
            <a:r>
              <a:rPr sz="1875" b="1">
                <a:solidFill>
                  <a:srgbClr val="17201D"/>
                </a:solidFill>
              </a:rPr>
              <a:t>Tabla de símbolos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6FEFA0D3-3363-4B0D-96B5-AEA977AF0B96}"/>
              </a:ext>
            </a:extLst>
          </p:cNvPr>
          <p:cNvSpPr>
            <a:spLocks noGrp="1"/>
          </p:cNvSpPr>
          <p:nvPr/>
        </p:nvSpPr>
        <p:spPr>
          <a:xfrm>
            <a:off x="952500" y="3476625"/>
            <a:ext cx="2571750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66716C"/>
                </a:solidFill>
              </a:defRPr>
            </a:pPr>
            <a:r>
              <a:rPr sz="1500" b="0">
                <a:solidFill>
                  <a:srgbClr val="66716C"/>
                </a:solidFill>
              </a:rPr>
              <a:t>Conserva el nombre, tipo, ámbito, dirección y valor de cada identificador válido.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3B48FA6B-405E-41F0-A716-68703AF60FA3}"/>
              </a:ext>
            </a:extLst>
          </p:cNvPr>
          <p:cNvSpPr>
            <a:spLocks noGrp="1"/>
          </p:cNvSpPr>
          <p:nvPr/>
        </p:nvSpPr>
        <p:spPr>
          <a:xfrm>
            <a:off x="4200525" y="1857375"/>
            <a:ext cx="3105150" cy="3238500"/>
          </a:xfrm>
          <a:prstGeom prst="roundRect">
            <a:avLst>
              <a:gd name="adj" fmla="val 4908"/>
            </a:avLst>
          </a:prstGeom>
          <a:solidFill>
            <a:srgbClr val="DDE7E1"/>
          </a:solidFill>
          <a:ln w="9525">
            <a:solidFill>
              <a:srgbClr val="C9D2CD"/>
            </a:solidFill>
            <a:prstDash val="solid"/>
          </a:ln>
        </p:spPr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48448DC-8A23-41AB-BC9C-7EACF1207AD8}"/>
              </a:ext>
            </a:extLst>
          </p:cNvPr>
          <p:cNvSpPr>
            <a:spLocks noGrp="1"/>
          </p:cNvSpPr>
          <p:nvPr/>
        </p:nvSpPr>
        <p:spPr>
          <a:xfrm>
            <a:off x="4467225" y="2095500"/>
            <a:ext cx="428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9483D"/>
                </a:solidFill>
              </a:defRPr>
            </a:pPr>
            <a:r>
              <a:rPr sz="1275" b="1">
                <a:solidFill>
                  <a:srgbClr val="29483D"/>
                </a:solidFill>
              </a:rPr>
              <a:t>02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2501FD7-A749-4719-99FA-95901E7219D7}"/>
              </a:ext>
            </a:extLst>
          </p:cNvPr>
          <p:cNvSpPr>
            <a:spLocks noGrp="1"/>
          </p:cNvSpPr>
          <p:nvPr/>
        </p:nvSpPr>
        <p:spPr>
          <a:xfrm>
            <a:off x="4467225" y="2571750"/>
            <a:ext cx="2571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>
                <a:solidFill>
                  <a:srgbClr val="17201D"/>
                </a:solidFill>
              </a:defRPr>
            </a:pPr>
            <a:r>
              <a:rPr sz="1875" b="1">
                <a:solidFill>
                  <a:srgbClr val="17201D"/>
                </a:solidFill>
              </a:rPr>
              <a:t>Comprobación semántica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BB58F646-F6AF-4B16-8412-CB91E76A56DF}"/>
              </a:ext>
            </a:extLst>
          </p:cNvPr>
          <p:cNvSpPr>
            <a:spLocks noGrp="1"/>
          </p:cNvSpPr>
          <p:nvPr/>
        </p:nvSpPr>
        <p:spPr>
          <a:xfrm>
            <a:off x="4467225" y="3476625"/>
            <a:ext cx="2571750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66716C"/>
                </a:solidFill>
              </a:defRPr>
            </a:pPr>
            <a:r>
              <a:rPr sz="1500" b="0">
                <a:solidFill>
                  <a:srgbClr val="66716C"/>
                </a:solidFill>
              </a:rPr>
              <a:t>Comprueba declaraciones, compatibilidad de tipos, expresiones y uso previo de variables.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2AB4D59F-0FD4-461C-A79C-A74EE1E14D0F}"/>
              </a:ext>
            </a:extLst>
          </p:cNvPr>
          <p:cNvSpPr>
            <a:spLocks noGrp="1"/>
          </p:cNvSpPr>
          <p:nvPr/>
        </p:nvSpPr>
        <p:spPr>
          <a:xfrm>
            <a:off x="7715250" y="1857375"/>
            <a:ext cx="3105150" cy="3238500"/>
          </a:xfrm>
          <a:prstGeom prst="roundRect">
            <a:avLst>
              <a:gd name="adj" fmla="val 4908"/>
            </a:avLst>
          </a:prstGeom>
          <a:solidFill>
            <a:srgbClr val="FFFFFF"/>
          </a:solidFill>
          <a:ln w="9525">
            <a:solidFill>
              <a:srgbClr val="C9D2CD"/>
            </a:solidFill>
            <a:prstDash val="solid"/>
          </a:ln>
        </p:spPr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FE0D399D-A9ED-4F5F-954F-C4915A0A81A0}"/>
              </a:ext>
            </a:extLst>
          </p:cNvPr>
          <p:cNvSpPr>
            <a:spLocks noGrp="1"/>
          </p:cNvSpPr>
          <p:nvPr/>
        </p:nvSpPr>
        <p:spPr>
          <a:xfrm>
            <a:off x="7981950" y="2095500"/>
            <a:ext cx="428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9483D"/>
                </a:solidFill>
              </a:defRPr>
            </a:pPr>
            <a:r>
              <a:rPr sz="1275" b="1">
                <a:solidFill>
                  <a:srgbClr val="29483D"/>
                </a:solidFill>
              </a:rPr>
              <a:t>03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F361431-A746-49ED-8D56-9ADBCA35137A}"/>
              </a:ext>
            </a:extLst>
          </p:cNvPr>
          <p:cNvSpPr>
            <a:spLocks noGrp="1"/>
          </p:cNvSpPr>
          <p:nvPr/>
        </p:nvSpPr>
        <p:spPr>
          <a:xfrm>
            <a:off x="7981950" y="2571750"/>
            <a:ext cx="2571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>
                <a:solidFill>
                  <a:srgbClr val="17201D"/>
                </a:solidFill>
              </a:defRPr>
            </a:pPr>
            <a:r>
              <a:rPr sz="1875" b="1">
                <a:solidFill>
                  <a:srgbClr val="17201D"/>
                </a:solidFill>
              </a:rPr>
              <a:t>JavaFX y FXML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2B0E3D88-B8B4-406B-A4B9-894348B00312}"/>
              </a:ext>
            </a:extLst>
          </p:cNvPr>
          <p:cNvSpPr>
            <a:spLocks noGrp="1"/>
          </p:cNvSpPr>
          <p:nvPr/>
        </p:nvSpPr>
        <p:spPr>
          <a:xfrm>
            <a:off x="7981950" y="3476625"/>
            <a:ext cx="2571750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66716C"/>
                </a:solidFill>
              </a:defRPr>
            </a:pPr>
            <a:r>
              <a:rPr sz="1500" b="0">
                <a:solidFill>
                  <a:srgbClr val="66716C"/>
                </a:solidFill>
              </a:rPr>
              <a:t>FXML define la vista; el controlador recibe las acciones y presenta el resultado del analizador.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6E9DD8D0-C733-4CDE-BB9B-B2AD106F5699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0">
                <a:solidFill>
                  <a:srgbClr val="66716C"/>
                </a:solidFill>
              </a:defRPr>
            </a:pPr>
            <a:r>
              <a:rPr sz="900" b="0">
                <a:solidFill>
                  <a:srgbClr val="66716C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329862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ángulo 16">
            <a:extLst>
              <a:ext uri="{FF2B5EF4-FFF2-40B4-BE49-F238E27FC236}">
                <a16:creationId xmlns:a16="http://schemas.microsoft.com/office/drawing/2014/main" id="{207E7420-A9DB-40DC-81A6-59026EEF9EB1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108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17201D"/>
                </a:solidFill>
              </a:defRPr>
            </a:pPr>
            <a:r>
              <a:rPr sz="2700" b="1">
                <a:solidFill>
                  <a:srgbClr val="17201D"/>
                </a:solidFill>
              </a:rPr>
              <a:t>Materiales y herramientas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5A0CB09-1456-4B6C-82BE-934D701E6918}"/>
              </a:ext>
            </a:extLst>
          </p:cNvPr>
          <p:cNvSpPr>
            <a:spLocks noGrp="1"/>
          </p:cNvSpPr>
          <p:nvPr/>
        </p:nvSpPr>
        <p:spPr>
          <a:xfrm>
            <a:off x="685800" y="1162050"/>
            <a:ext cx="685800" cy="38100"/>
          </a:xfrm>
          <a:prstGeom prst="rect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6AE7A770-D906-4F36-B6AB-BFC35DB8BCB7}"/>
              </a:ext>
            </a:extLst>
          </p:cNvPr>
          <p:cNvSpPr>
            <a:spLocks noGrp="1"/>
          </p:cNvSpPr>
          <p:nvPr/>
        </p:nvSpPr>
        <p:spPr>
          <a:xfrm>
            <a:off x="781050" y="1895475"/>
            <a:ext cx="95250" cy="95250"/>
          </a:xfrm>
          <a:prstGeom prst="ellipse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F6C7B9A-1DEC-454B-8F6D-5AE4A96390A4}"/>
              </a:ext>
            </a:extLst>
          </p:cNvPr>
          <p:cNvSpPr>
            <a:spLocks noGrp="1"/>
          </p:cNvSpPr>
          <p:nvPr/>
        </p:nvSpPr>
        <p:spPr>
          <a:xfrm>
            <a:off x="1019175" y="1809750"/>
            <a:ext cx="5381625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0">
                <a:solidFill>
                  <a:srgbClr val="17201D"/>
                </a:solidFill>
              </a:defRPr>
            </a:pPr>
            <a:r>
              <a:rPr sz="1575" b="0">
                <a:solidFill>
                  <a:srgbClr val="17201D"/>
                </a:solidFill>
              </a:rPr>
              <a:t>Computadora con Windows 11.</a:t>
            </a: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9ACCD6FE-8795-4B7B-B30D-3196748DF54F}"/>
              </a:ext>
            </a:extLst>
          </p:cNvPr>
          <p:cNvSpPr>
            <a:spLocks noGrp="1"/>
          </p:cNvSpPr>
          <p:nvPr/>
        </p:nvSpPr>
        <p:spPr>
          <a:xfrm>
            <a:off x="781050" y="2628900"/>
            <a:ext cx="95250" cy="95250"/>
          </a:xfrm>
          <a:prstGeom prst="ellipse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33B3D4B-56A3-4BB5-808F-6FFF5B8FD600}"/>
              </a:ext>
            </a:extLst>
          </p:cNvPr>
          <p:cNvSpPr>
            <a:spLocks noGrp="1"/>
          </p:cNvSpPr>
          <p:nvPr/>
        </p:nvSpPr>
        <p:spPr>
          <a:xfrm>
            <a:off x="1019175" y="2543175"/>
            <a:ext cx="5381625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0">
                <a:solidFill>
                  <a:srgbClr val="17201D"/>
                </a:solidFill>
              </a:defRPr>
            </a:pPr>
            <a:r>
              <a:rPr sz="1575" b="0">
                <a:solidFill>
                  <a:srgbClr val="17201D"/>
                </a:solidFill>
              </a:rPr>
              <a:t>JDK 17 de Eclipse Adoptium.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57B2F5A1-C9EA-4123-B503-C25FCEB57416}"/>
              </a:ext>
            </a:extLst>
          </p:cNvPr>
          <p:cNvSpPr>
            <a:spLocks noGrp="1"/>
          </p:cNvSpPr>
          <p:nvPr/>
        </p:nvSpPr>
        <p:spPr>
          <a:xfrm>
            <a:off x="781050" y="3362325"/>
            <a:ext cx="95250" cy="95250"/>
          </a:xfrm>
          <a:prstGeom prst="ellipse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98B915F-4756-4764-8B42-4DD3856C1885}"/>
              </a:ext>
            </a:extLst>
          </p:cNvPr>
          <p:cNvSpPr>
            <a:spLocks noGrp="1"/>
          </p:cNvSpPr>
          <p:nvPr/>
        </p:nvSpPr>
        <p:spPr>
          <a:xfrm>
            <a:off x="1019175" y="3276600"/>
            <a:ext cx="5381625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0">
                <a:solidFill>
                  <a:srgbClr val="17201D"/>
                </a:solidFill>
              </a:defRPr>
            </a:pPr>
            <a:r>
              <a:rPr sz="1575" b="0">
                <a:solidFill>
                  <a:srgbClr val="17201D"/>
                </a:solidFill>
              </a:rPr>
              <a:t>Visual Studio Code con extensiones para Java.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8E1AA837-1BEA-4EF9-8E88-603C1CBA490B}"/>
              </a:ext>
            </a:extLst>
          </p:cNvPr>
          <p:cNvSpPr>
            <a:spLocks noGrp="1"/>
          </p:cNvSpPr>
          <p:nvPr/>
        </p:nvSpPr>
        <p:spPr>
          <a:xfrm>
            <a:off x="781050" y="4095750"/>
            <a:ext cx="95250" cy="95250"/>
          </a:xfrm>
          <a:prstGeom prst="ellipse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C03A749-1FE9-49A5-A8A1-B2CC6301A042}"/>
              </a:ext>
            </a:extLst>
          </p:cNvPr>
          <p:cNvSpPr>
            <a:spLocks noGrp="1"/>
          </p:cNvSpPr>
          <p:nvPr/>
        </p:nvSpPr>
        <p:spPr>
          <a:xfrm>
            <a:off x="1019175" y="4010025"/>
            <a:ext cx="5381625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0">
                <a:solidFill>
                  <a:srgbClr val="17201D"/>
                </a:solidFill>
              </a:defRPr>
            </a:pPr>
            <a:r>
              <a:rPr sz="1575" b="0">
                <a:solidFill>
                  <a:srgbClr val="17201D"/>
                </a:solidFill>
              </a:rPr>
              <a:t>Maven y JavaFX 17.0.16 configurados en pom.xml.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0532E7E2-69A7-4AB5-9D9C-A4FB4AC5296A}"/>
              </a:ext>
            </a:extLst>
          </p:cNvPr>
          <p:cNvSpPr>
            <a:spLocks noGrp="1"/>
          </p:cNvSpPr>
          <p:nvPr/>
        </p:nvSpPr>
        <p:spPr>
          <a:xfrm>
            <a:off x="781050" y="4829175"/>
            <a:ext cx="95250" cy="95250"/>
          </a:xfrm>
          <a:prstGeom prst="ellipse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431B7D92-85B9-48ED-AF37-4DDCC17089D1}"/>
              </a:ext>
            </a:extLst>
          </p:cNvPr>
          <p:cNvSpPr>
            <a:spLocks noGrp="1"/>
          </p:cNvSpPr>
          <p:nvPr/>
        </p:nvSpPr>
        <p:spPr>
          <a:xfrm>
            <a:off x="1019175" y="4743450"/>
            <a:ext cx="5381625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0">
                <a:solidFill>
                  <a:srgbClr val="17201D"/>
                </a:solidFill>
              </a:defRPr>
            </a:pPr>
            <a:r>
              <a:rPr sz="1575" b="0">
                <a:solidFill>
                  <a:srgbClr val="17201D"/>
                </a:solidFill>
              </a:rPr>
              <a:t>FXML para la vista y CSS para la presentación visual.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A95946D5-6F1B-4FEF-AE50-ED032263603D}"/>
              </a:ext>
            </a:extLst>
          </p:cNvPr>
          <p:cNvSpPr>
            <a:spLocks noGrp="1"/>
          </p:cNvSpPr>
          <p:nvPr/>
        </p:nvSpPr>
        <p:spPr>
          <a:xfrm>
            <a:off x="7239000" y="1952625"/>
            <a:ext cx="3524250" cy="2857500"/>
          </a:xfrm>
          <a:prstGeom prst="roundRect">
            <a:avLst>
              <a:gd name="adj" fmla="val 5333"/>
            </a:avLst>
          </a:prstGeom>
          <a:solidFill>
            <a:srgbClr val="29483D"/>
          </a:solidFill>
          <a:ln w="9525">
            <a:solidFill>
              <a:srgbClr val="29483D"/>
            </a:solidFill>
            <a:prstDash val="solid"/>
          </a:ln>
        </p:spPr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7B5C9E7C-811B-47FC-BCD9-0ADD615123C0}"/>
              </a:ext>
            </a:extLst>
          </p:cNvPr>
          <p:cNvSpPr>
            <a:spLocks noGrp="1"/>
          </p:cNvSpPr>
          <p:nvPr/>
        </p:nvSpPr>
        <p:spPr>
          <a:xfrm>
            <a:off x="7620000" y="2286000"/>
            <a:ext cx="276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Ejecución utilizada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BEBC003E-4A26-485E-8BD2-8D2A54DE85A7}"/>
              </a:ext>
            </a:extLst>
          </p:cNvPr>
          <p:cNvSpPr>
            <a:spLocks noGrp="1"/>
          </p:cNvSpPr>
          <p:nvPr/>
        </p:nvSpPr>
        <p:spPr>
          <a:xfrm>
            <a:off x="7667625" y="2952750"/>
            <a:ext cx="2667000" cy="1476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Java 17</a:t>
            </a:r>
          </a:p>
          <a:p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Proyecto Maven</a:t>
            </a:r>
          </a:p>
          <a:p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Aplicación de consola</a:t>
            </a:r>
          </a:p>
          <a:p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Codificación UTF-8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F695AF6F-9675-4EDE-AB0F-FB59C3B02855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0">
                <a:solidFill>
                  <a:srgbClr val="66716C"/>
                </a:solidFill>
              </a:defRPr>
            </a:pPr>
            <a:r>
              <a:rPr sz="900" b="0">
                <a:solidFill>
                  <a:srgbClr val="66716C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1337995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ángulo 20">
            <a:extLst>
              <a:ext uri="{FF2B5EF4-FFF2-40B4-BE49-F238E27FC236}">
                <a16:creationId xmlns:a16="http://schemas.microsoft.com/office/drawing/2014/main" id="{74FBE281-F87E-4CF3-A2AE-9D2E9F556CBF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108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17201D"/>
                </a:solidFill>
              </a:defRPr>
            </a:pPr>
            <a:r>
              <a:rPr sz="2700" b="1">
                <a:solidFill>
                  <a:srgbClr val="17201D"/>
                </a:solidFill>
              </a:rPr>
              <a:t>Planteamiento de la práctica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60DAA26-6AC4-4772-A8E3-505436D9DDE7}"/>
              </a:ext>
            </a:extLst>
          </p:cNvPr>
          <p:cNvSpPr>
            <a:spLocks noGrp="1"/>
          </p:cNvSpPr>
          <p:nvPr/>
        </p:nvSpPr>
        <p:spPr>
          <a:xfrm>
            <a:off x="685800" y="1162050"/>
            <a:ext cx="685800" cy="38100"/>
          </a:xfrm>
          <a:prstGeom prst="rect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0A32FD5-14EE-49C1-BFBD-4B19FD1F1587}"/>
              </a:ext>
            </a:extLst>
          </p:cNvPr>
          <p:cNvSpPr>
            <a:spLocks noGrp="1"/>
          </p:cNvSpPr>
          <p:nvPr/>
        </p:nvSpPr>
        <p:spPr>
          <a:xfrm>
            <a:off x="781050" y="1762125"/>
            <a:ext cx="9715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025" b="1">
                <a:solidFill>
                  <a:srgbClr val="17201D"/>
                </a:solidFill>
              </a:defRPr>
            </a:pPr>
            <a:r>
              <a:rPr sz="2025" b="1">
                <a:solidFill>
                  <a:srgbClr val="17201D"/>
                </a:solidFill>
              </a:rPr>
              <a:t>La práctica requiere analizar dos archivos desde una misma ventana: uno debe finalizar correctamente y el segundo debe explicar seis errores semánticos preparados.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ABE2A6D7-2E7F-4F94-91A9-C920E9F98143}"/>
              </a:ext>
            </a:extLst>
          </p:cNvPr>
          <p:cNvSpPr>
            <a:spLocks noGrp="1"/>
          </p:cNvSpPr>
          <p:nvPr/>
        </p:nvSpPr>
        <p:spPr>
          <a:xfrm>
            <a:off x="781050" y="2952750"/>
            <a:ext cx="4857750" cy="20955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C9D2CD"/>
            </a:solidFill>
            <a:prstDash val="solid"/>
          </a:ln>
        </p:spPr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3366857-9966-47B2-BEA1-3B5FB04022CF}"/>
              </a:ext>
            </a:extLst>
          </p:cNvPr>
          <p:cNvSpPr>
            <a:spLocks noGrp="1"/>
          </p:cNvSpPr>
          <p:nvPr/>
        </p:nvSpPr>
        <p:spPr>
          <a:xfrm>
            <a:off x="1095375" y="3238500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29483D"/>
                </a:solidFill>
              </a:defRPr>
            </a:pPr>
            <a:r>
              <a:rPr sz="1800" b="1">
                <a:solidFill>
                  <a:srgbClr val="29483D"/>
                </a:solidFill>
              </a:rPr>
              <a:t>El sistema debe mostrar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CB4EA013-5C32-4E4E-BB03-786B878185BC}"/>
              </a:ext>
            </a:extLst>
          </p:cNvPr>
          <p:cNvSpPr>
            <a:spLocks noGrp="1"/>
          </p:cNvSpPr>
          <p:nvPr/>
        </p:nvSpPr>
        <p:spPr>
          <a:xfrm>
            <a:off x="1095375" y="3848100"/>
            <a:ext cx="95250" cy="95250"/>
          </a:xfrm>
          <a:prstGeom prst="ellipse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A0D7527-7DF0-4A74-913E-35E99E6C72B4}"/>
              </a:ext>
            </a:extLst>
          </p:cNvPr>
          <p:cNvSpPr>
            <a:spLocks noGrp="1"/>
          </p:cNvSpPr>
          <p:nvPr/>
        </p:nvSpPr>
        <p:spPr>
          <a:xfrm>
            <a:off x="1333500" y="3762375"/>
            <a:ext cx="3762375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17201D"/>
                </a:solidFill>
              </a:defRPr>
            </a:pPr>
            <a:r>
              <a:rPr sz="1425" b="0">
                <a:solidFill>
                  <a:srgbClr val="17201D"/>
                </a:solidFill>
              </a:rPr>
              <a:t>El código de la prueba seleccionada.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5763CEE2-476D-4182-AAEB-3D57DD9BD7F0}"/>
              </a:ext>
            </a:extLst>
          </p:cNvPr>
          <p:cNvSpPr>
            <a:spLocks noGrp="1"/>
          </p:cNvSpPr>
          <p:nvPr/>
        </p:nvSpPr>
        <p:spPr>
          <a:xfrm>
            <a:off x="1095375" y="4371975"/>
            <a:ext cx="95250" cy="95250"/>
          </a:xfrm>
          <a:prstGeom prst="ellipse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541FCD2-A8B9-4507-87E4-BDF6615B4E24}"/>
              </a:ext>
            </a:extLst>
          </p:cNvPr>
          <p:cNvSpPr>
            <a:spLocks noGrp="1"/>
          </p:cNvSpPr>
          <p:nvPr/>
        </p:nvSpPr>
        <p:spPr>
          <a:xfrm>
            <a:off x="1333500" y="4286250"/>
            <a:ext cx="3762375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17201D"/>
                </a:solidFill>
              </a:defRPr>
            </a:pPr>
            <a:r>
              <a:rPr sz="1425" b="0">
                <a:solidFill>
                  <a:srgbClr val="17201D"/>
                </a:solidFill>
              </a:rPr>
              <a:t>La tabla de símbolos y las salidas.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A6EAEFD4-6108-4B0F-A068-96DA0DFB3A40}"/>
              </a:ext>
            </a:extLst>
          </p:cNvPr>
          <p:cNvSpPr>
            <a:spLocks noGrp="1"/>
          </p:cNvSpPr>
          <p:nvPr/>
        </p:nvSpPr>
        <p:spPr>
          <a:xfrm>
            <a:off x="1095375" y="4800600"/>
            <a:ext cx="95250" cy="95250"/>
          </a:xfrm>
          <a:prstGeom prst="ellipse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F2BA40C5-C589-4F97-9803-BF9B82DEAE1D}"/>
              </a:ext>
            </a:extLst>
          </p:cNvPr>
          <p:cNvSpPr>
            <a:spLocks noGrp="1"/>
          </p:cNvSpPr>
          <p:nvPr/>
        </p:nvSpPr>
        <p:spPr>
          <a:xfrm>
            <a:off x="1333500" y="4667250"/>
            <a:ext cx="3762375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17201D"/>
                </a:solidFill>
              </a:defRPr>
            </a:pPr>
            <a:r>
              <a:rPr sz="1425" b="0" dirty="0">
                <a:solidFill>
                  <a:srgbClr val="17201D"/>
                </a:solidFill>
              </a:rPr>
              <a:t>El </a:t>
            </a:r>
            <a:r>
              <a:rPr sz="1425" b="0" dirty="0" err="1">
                <a:solidFill>
                  <a:srgbClr val="17201D"/>
                </a:solidFill>
              </a:rPr>
              <a:t>estado</a:t>
            </a:r>
            <a:r>
              <a:rPr sz="1425" b="0" dirty="0">
                <a:solidFill>
                  <a:srgbClr val="17201D"/>
                </a:solidFill>
              </a:rPr>
              <a:t> final del </a:t>
            </a:r>
            <a:r>
              <a:rPr sz="1425" b="0" dirty="0" err="1">
                <a:solidFill>
                  <a:srgbClr val="17201D"/>
                </a:solidFill>
              </a:rPr>
              <a:t>análisis</a:t>
            </a:r>
            <a:r>
              <a:rPr sz="1425" b="0" dirty="0">
                <a:solidFill>
                  <a:srgbClr val="17201D"/>
                </a:solidFill>
              </a:rPr>
              <a:t>.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8C600212-689B-423A-A850-8CDBE42692DC}"/>
              </a:ext>
            </a:extLst>
          </p:cNvPr>
          <p:cNvSpPr>
            <a:spLocks noGrp="1"/>
          </p:cNvSpPr>
          <p:nvPr/>
        </p:nvSpPr>
        <p:spPr>
          <a:xfrm>
            <a:off x="6381750" y="2952750"/>
            <a:ext cx="4857750" cy="2095500"/>
          </a:xfrm>
          <a:prstGeom prst="roundRect">
            <a:avLst>
              <a:gd name="adj" fmla="val 5455"/>
            </a:avLst>
          </a:prstGeom>
          <a:solidFill>
            <a:srgbClr val="F2E2E0"/>
          </a:solidFill>
          <a:ln w="9525">
            <a:solidFill>
              <a:srgbClr val="F2E2E0"/>
            </a:solidFill>
            <a:prstDash val="solid"/>
          </a:ln>
        </p:spPr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7F66A3B7-C473-4689-A06E-FD983D17B398}"/>
              </a:ext>
            </a:extLst>
          </p:cNvPr>
          <p:cNvSpPr>
            <a:spLocks noGrp="1"/>
          </p:cNvSpPr>
          <p:nvPr/>
        </p:nvSpPr>
        <p:spPr>
          <a:xfrm>
            <a:off x="6696075" y="3238500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9B403B"/>
                </a:solidFill>
              </a:defRPr>
            </a:pPr>
            <a:r>
              <a:rPr sz="1800" b="1">
                <a:solidFill>
                  <a:srgbClr val="9B403B"/>
                </a:solidFill>
              </a:rPr>
              <a:t>El sistema debe detectar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6ECBC419-583E-41F8-BB38-58CB7DA7A421}"/>
              </a:ext>
            </a:extLst>
          </p:cNvPr>
          <p:cNvSpPr>
            <a:spLocks noGrp="1"/>
          </p:cNvSpPr>
          <p:nvPr/>
        </p:nvSpPr>
        <p:spPr>
          <a:xfrm>
            <a:off x="6696075" y="3848100"/>
            <a:ext cx="95250" cy="95250"/>
          </a:xfrm>
          <a:prstGeom prst="ellipse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866FEF1F-D880-4F3D-99C9-ABEDB9E3C505}"/>
              </a:ext>
            </a:extLst>
          </p:cNvPr>
          <p:cNvSpPr>
            <a:spLocks noGrp="1"/>
          </p:cNvSpPr>
          <p:nvPr/>
        </p:nvSpPr>
        <p:spPr>
          <a:xfrm>
            <a:off x="6934200" y="3762375"/>
            <a:ext cx="3762375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17201D"/>
                </a:solidFill>
              </a:defRPr>
            </a:pPr>
            <a:r>
              <a:rPr sz="1425" b="0">
                <a:solidFill>
                  <a:srgbClr val="17201D"/>
                </a:solidFill>
              </a:rPr>
              <a:t>Declaraciones duplicadas.</a:t>
            </a: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F158C2E5-AE5C-498B-8542-13A15C65B1BB}"/>
              </a:ext>
            </a:extLst>
          </p:cNvPr>
          <p:cNvSpPr>
            <a:spLocks noGrp="1"/>
          </p:cNvSpPr>
          <p:nvPr/>
        </p:nvSpPr>
        <p:spPr>
          <a:xfrm>
            <a:off x="6696075" y="4371975"/>
            <a:ext cx="95250" cy="95250"/>
          </a:xfrm>
          <a:prstGeom prst="ellipse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641FD858-C06E-434C-BEA8-B3722844F01A}"/>
              </a:ext>
            </a:extLst>
          </p:cNvPr>
          <p:cNvSpPr>
            <a:spLocks noGrp="1"/>
          </p:cNvSpPr>
          <p:nvPr/>
        </p:nvSpPr>
        <p:spPr>
          <a:xfrm>
            <a:off x="6934200" y="4286250"/>
            <a:ext cx="3762375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17201D"/>
                </a:solidFill>
              </a:defRPr>
            </a:pPr>
            <a:r>
              <a:rPr sz="1425" b="0">
                <a:solidFill>
                  <a:srgbClr val="17201D"/>
                </a:solidFill>
              </a:rPr>
              <a:t>Asignaciones incompatibles.</a:t>
            </a: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7F82ABE7-79DF-4D24-80D2-8F0982598AF9}"/>
              </a:ext>
            </a:extLst>
          </p:cNvPr>
          <p:cNvSpPr>
            <a:spLocks noGrp="1"/>
          </p:cNvSpPr>
          <p:nvPr/>
        </p:nvSpPr>
        <p:spPr>
          <a:xfrm>
            <a:off x="6696075" y="4781396"/>
            <a:ext cx="95250" cy="95250"/>
          </a:xfrm>
          <a:prstGeom prst="ellipse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ABB72E16-0322-4549-A364-479380794D92}"/>
              </a:ext>
            </a:extLst>
          </p:cNvPr>
          <p:cNvSpPr>
            <a:spLocks noGrp="1"/>
          </p:cNvSpPr>
          <p:nvPr/>
        </p:nvSpPr>
        <p:spPr>
          <a:xfrm>
            <a:off x="6934200" y="4681537"/>
            <a:ext cx="3762375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17201D"/>
                </a:solidFill>
              </a:defRPr>
            </a:pPr>
            <a:r>
              <a:rPr sz="1425" b="0" dirty="0">
                <a:solidFill>
                  <a:srgbClr val="17201D"/>
                </a:solidFill>
              </a:rPr>
              <a:t>Variables </a:t>
            </a:r>
            <a:r>
              <a:rPr sz="1425" b="0" dirty="0" err="1">
                <a:solidFill>
                  <a:srgbClr val="17201D"/>
                </a:solidFill>
              </a:rPr>
              <a:t>inexistentes</a:t>
            </a:r>
            <a:r>
              <a:rPr sz="1425" b="0" dirty="0">
                <a:solidFill>
                  <a:srgbClr val="17201D"/>
                </a:solidFill>
              </a:rPr>
              <a:t> y </a:t>
            </a:r>
            <a:r>
              <a:rPr sz="1425" b="0" dirty="0" err="1">
                <a:solidFill>
                  <a:srgbClr val="17201D"/>
                </a:solidFill>
              </a:rPr>
              <a:t>división</a:t>
            </a:r>
            <a:r>
              <a:rPr sz="1425" b="0" dirty="0">
                <a:solidFill>
                  <a:srgbClr val="17201D"/>
                </a:solidFill>
              </a:rPr>
              <a:t> entre cero.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A53DA294-B578-47C8-A510-BCBFBD67E91F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0">
                <a:solidFill>
                  <a:srgbClr val="66716C"/>
                </a:solidFill>
              </a:defRPr>
            </a:pPr>
            <a:r>
              <a:rPr sz="900" b="0">
                <a:solidFill>
                  <a:srgbClr val="66716C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685144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ángulo 23">
            <a:extLst>
              <a:ext uri="{FF2B5EF4-FFF2-40B4-BE49-F238E27FC236}">
                <a16:creationId xmlns:a16="http://schemas.microsoft.com/office/drawing/2014/main" id="{7D2A42FD-53D3-4992-A648-A15D0224D880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108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17201D"/>
                </a:solidFill>
              </a:defRPr>
            </a:pPr>
            <a:r>
              <a:rPr sz="2700" b="1">
                <a:solidFill>
                  <a:srgbClr val="17201D"/>
                </a:solidFill>
              </a:rPr>
              <a:t>Diseño de la solución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A543DBB-85C1-4089-984C-6B35BADD08D7}"/>
              </a:ext>
            </a:extLst>
          </p:cNvPr>
          <p:cNvSpPr>
            <a:spLocks noGrp="1"/>
          </p:cNvSpPr>
          <p:nvPr/>
        </p:nvSpPr>
        <p:spPr>
          <a:xfrm>
            <a:off x="685800" y="1162050"/>
            <a:ext cx="685800" cy="38100"/>
          </a:xfrm>
          <a:prstGeom prst="rect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05EF276-997C-47E2-A42E-955A7DF1660B}"/>
              </a:ext>
            </a:extLst>
          </p:cNvPr>
          <p:cNvSpPr>
            <a:spLocks noGrp="1"/>
          </p:cNvSpPr>
          <p:nvPr/>
        </p:nvSpPr>
        <p:spPr>
          <a:xfrm>
            <a:off x="2286000" y="3143250"/>
            <a:ext cx="666750" cy="38100"/>
          </a:xfrm>
          <a:prstGeom prst="rect">
            <a:avLst/>
          </a:prstGeom>
          <a:solidFill>
            <a:srgbClr val="C9D2CD"/>
          </a:solidFill>
          <a:ln w="0">
            <a:solidFill>
              <a:srgbClr val="C9D2CD"/>
            </a:solidFill>
            <a:prstDash val="solid"/>
          </a:ln>
        </p:spPr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9FFEC55-D5AF-457B-A1A8-5D56095B4EDA}"/>
              </a:ext>
            </a:extLst>
          </p:cNvPr>
          <p:cNvSpPr>
            <a:spLocks noGrp="1"/>
          </p:cNvSpPr>
          <p:nvPr/>
        </p:nvSpPr>
        <p:spPr>
          <a:xfrm>
            <a:off x="4572000" y="3143250"/>
            <a:ext cx="666750" cy="38100"/>
          </a:xfrm>
          <a:prstGeom prst="rect">
            <a:avLst/>
          </a:prstGeom>
          <a:solidFill>
            <a:srgbClr val="C9D2CD"/>
          </a:solidFill>
          <a:ln w="0">
            <a:solidFill>
              <a:srgbClr val="C9D2CD"/>
            </a:solidFill>
            <a:prstDash val="solid"/>
          </a:ln>
        </p:spPr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4830030-4B8D-434A-A4A0-EDE9A1EF7BD0}"/>
              </a:ext>
            </a:extLst>
          </p:cNvPr>
          <p:cNvSpPr>
            <a:spLocks noGrp="1"/>
          </p:cNvSpPr>
          <p:nvPr/>
        </p:nvSpPr>
        <p:spPr>
          <a:xfrm>
            <a:off x="6858000" y="3143250"/>
            <a:ext cx="666750" cy="38100"/>
          </a:xfrm>
          <a:prstGeom prst="rect">
            <a:avLst/>
          </a:prstGeom>
          <a:solidFill>
            <a:srgbClr val="C9D2CD"/>
          </a:solidFill>
          <a:ln w="0">
            <a:solidFill>
              <a:srgbClr val="C9D2CD"/>
            </a:solidFill>
            <a:prstDash val="solid"/>
          </a:ln>
        </p:spPr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1C873F5-02F1-4220-B3E9-7995EC189D71}"/>
              </a:ext>
            </a:extLst>
          </p:cNvPr>
          <p:cNvSpPr>
            <a:spLocks noGrp="1"/>
          </p:cNvSpPr>
          <p:nvPr/>
        </p:nvSpPr>
        <p:spPr>
          <a:xfrm>
            <a:off x="9144000" y="3143250"/>
            <a:ext cx="666750" cy="38100"/>
          </a:xfrm>
          <a:prstGeom prst="rect">
            <a:avLst/>
          </a:prstGeom>
          <a:solidFill>
            <a:srgbClr val="C9D2CD"/>
          </a:solidFill>
          <a:ln w="0">
            <a:solidFill>
              <a:srgbClr val="C9D2CD"/>
            </a:solidFill>
            <a:prstDash val="solid"/>
          </a:ln>
        </p:spPr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A93C0D8F-244C-4AE5-9777-08CA9026AA2B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161925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9D2CD"/>
            </a:solidFill>
            <a:prstDash val="solid"/>
          </a:ln>
        </p:spPr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71509A4-D2E6-40C4-8724-2D327BC391DC}"/>
              </a:ext>
            </a:extLst>
          </p:cNvPr>
          <p:cNvSpPr>
            <a:spLocks noGrp="1"/>
          </p:cNvSpPr>
          <p:nvPr/>
        </p:nvSpPr>
        <p:spPr>
          <a:xfrm>
            <a:off x="809625" y="2781300"/>
            <a:ext cx="333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29483D"/>
                </a:solidFill>
              </a:defRPr>
            </a:pPr>
            <a:r>
              <a:rPr sz="975" b="1">
                <a:solidFill>
                  <a:srgbClr val="29483D"/>
                </a:solidFill>
              </a:rPr>
              <a:t>01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48ED0101-0B6F-4C70-BEF1-795295B91AC0}"/>
              </a:ext>
            </a:extLst>
          </p:cNvPr>
          <p:cNvSpPr>
            <a:spLocks noGrp="1"/>
          </p:cNvSpPr>
          <p:nvPr/>
        </p:nvSpPr>
        <p:spPr>
          <a:xfrm>
            <a:off x="838200" y="3143250"/>
            <a:ext cx="12858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425" b="1">
                <a:solidFill>
                  <a:srgbClr val="17201D"/>
                </a:solidFill>
              </a:defRPr>
            </a:pPr>
            <a:r>
              <a:rPr sz="1425" b="1">
                <a:solidFill>
                  <a:srgbClr val="17201D"/>
                </a:solidFill>
              </a:rPr>
              <a:t>Seleccionar prueba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6FD87C46-BD0B-4B87-B207-CC82BB096EAC}"/>
              </a:ext>
            </a:extLst>
          </p:cNvPr>
          <p:cNvSpPr>
            <a:spLocks noGrp="1"/>
          </p:cNvSpPr>
          <p:nvPr/>
        </p:nvSpPr>
        <p:spPr>
          <a:xfrm>
            <a:off x="2952750" y="2619375"/>
            <a:ext cx="161925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9D2CD"/>
            </a:solidFill>
            <a:prstDash val="solid"/>
          </a:ln>
        </p:spPr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C5CD465-65FD-46B5-A34D-A3FA9203931B}"/>
              </a:ext>
            </a:extLst>
          </p:cNvPr>
          <p:cNvSpPr>
            <a:spLocks noGrp="1"/>
          </p:cNvSpPr>
          <p:nvPr/>
        </p:nvSpPr>
        <p:spPr>
          <a:xfrm>
            <a:off x="3095625" y="2781300"/>
            <a:ext cx="333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29483D"/>
                </a:solidFill>
              </a:defRPr>
            </a:pPr>
            <a:r>
              <a:rPr sz="975" b="1">
                <a:solidFill>
                  <a:srgbClr val="29483D"/>
                </a:solidFill>
              </a:rPr>
              <a:t>02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2C7F8E5A-DAF5-414C-99BE-17EA4D03FE5A}"/>
              </a:ext>
            </a:extLst>
          </p:cNvPr>
          <p:cNvSpPr>
            <a:spLocks noGrp="1"/>
          </p:cNvSpPr>
          <p:nvPr/>
        </p:nvSpPr>
        <p:spPr>
          <a:xfrm>
            <a:off x="3124200" y="3143250"/>
            <a:ext cx="12858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425" b="1">
                <a:solidFill>
                  <a:srgbClr val="17201D"/>
                </a:solidFill>
              </a:defRPr>
            </a:pPr>
            <a:r>
              <a:rPr sz="1425" b="1">
                <a:solidFill>
                  <a:srgbClr val="17201D"/>
                </a:solidFill>
              </a:rPr>
              <a:t>Cargar código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B2FD5619-11D6-4EE6-BBD9-CD1C7B3B248D}"/>
              </a:ext>
            </a:extLst>
          </p:cNvPr>
          <p:cNvSpPr>
            <a:spLocks noGrp="1"/>
          </p:cNvSpPr>
          <p:nvPr/>
        </p:nvSpPr>
        <p:spPr>
          <a:xfrm>
            <a:off x="5238750" y="2619375"/>
            <a:ext cx="161925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9D2CD"/>
            </a:solidFill>
            <a:prstDash val="solid"/>
          </a:ln>
        </p:spPr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BC4A4390-9C2F-466F-9B37-2D0B0C4F3766}"/>
              </a:ext>
            </a:extLst>
          </p:cNvPr>
          <p:cNvSpPr>
            <a:spLocks noGrp="1"/>
          </p:cNvSpPr>
          <p:nvPr/>
        </p:nvSpPr>
        <p:spPr>
          <a:xfrm>
            <a:off x="5381625" y="2781300"/>
            <a:ext cx="333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29483D"/>
                </a:solidFill>
              </a:defRPr>
            </a:pPr>
            <a:r>
              <a:rPr sz="975" b="1">
                <a:solidFill>
                  <a:srgbClr val="29483D"/>
                </a:solidFill>
              </a:rPr>
              <a:t>03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C5F8851B-F7B4-40BB-A7F0-1422C296AABB}"/>
              </a:ext>
            </a:extLst>
          </p:cNvPr>
          <p:cNvSpPr>
            <a:spLocks noGrp="1"/>
          </p:cNvSpPr>
          <p:nvPr/>
        </p:nvSpPr>
        <p:spPr>
          <a:xfrm>
            <a:off x="5410200" y="3143250"/>
            <a:ext cx="12858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425" b="1">
                <a:solidFill>
                  <a:srgbClr val="17201D"/>
                </a:solidFill>
              </a:defRPr>
            </a:pPr>
            <a:r>
              <a:rPr sz="1425" b="1">
                <a:solidFill>
                  <a:srgbClr val="17201D"/>
                </a:solidFill>
              </a:rPr>
              <a:t>Ejecutar análisis</a:t>
            </a: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E680DCE1-1D49-4129-990C-2F28457F0E6D}"/>
              </a:ext>
            </a:extLst>
          </p:cNvPr>
          <p:cNvSpPr>
            <a:spLocks noGrp="1"/>
          </p:cNvSpPr>
          <p:nvPr/>
        </p:nvSpPr>
        <p:spPr>
          <a:xfrm>
            <a:off x="7524750" y="2619375"/>
            <a:ext cx="161925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9D2CD"/>
            </a:solidFill>
            <a:prstDash val="solid"/>
          </a:ln>
        </p:spPr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081B1C29-87D2-4FA9-9D93-BBB988D47295}"/>
              </a:ext>
            </a:extLst>
          </p:cNvPr>
          <p:cNvSpPr>
            <a:spLocks noGrp="1"/>
          </p:cNvSpPr>
          <p:nvPr/>
        </p:nvSpPr>
        <p:spPr>
          <a:xfrm>
            <a:off x="7667625" y="2781300"/>
            <a:ext cx="333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29483D"/>
                </a:solidFill>
              </a:defRPr>
            </a:pPr>
            <a:r>
              <a:rPr sz="975" b="1">
                <a:solidFill>
                  <a:srgbClr val="29483D"/>
                </a:solidFill>
              </a:rPr>
              <a:t>04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4DC1E161-AF5B-4709-B680-30DAF427B056}"/>
              </a:ext>
            </a:extLst>
          </p:cNvPr>
          <p:cNvSpPr>
            <a:spLocks noGrp="1"/>
          </p:cNvSpPr>
          <p:nvPr/>
        </p:nvSpPr>
        <p:spPr>
          <a:xfrm>
            <a:off x="7696200" y="3143250"/>
            <a:ext cx="12858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425" b="1">
                <a:solidFill>
                  <a:srgbClr val="17201D"/>
                </a:solidFill>
              </a:defRPr>
            </a:pPr>
            <a:r>
              <a:rPr sz="1425" b="1">
                <a:solidFill>
                  <a:srgbClr val="17201D"/>
                </a:solidFill>
              </a:rPr>
              <a:t>Actualizar tabla</a:t>
            </a:r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48963585-7E0C-4E75-B75B-CC58484B15EB}"/>
              </a:ext>
            </a:extLst>
          </p:cNvPr>
          <p:cNvSpPr>
            <a:spLocks noGrp="1"/>
          </p:cNvSpPr>
          <p:nvPr/>
        </p:nvSpPr>
        <p:spPr>
          <a:xfrm>
            <a:off x="9810750" y="2619375"/>
            <a:ext cx="1619250" cy="1143000"/>
          </a:xfrm>
          <a:prstGeom prst="roundRect">
            <a:avLst>
              <a:gd name="adj" fmla="val 10000"/>
            </a:avLst>
          </a:prstGeom>
          <a:solidFill>
            <a:srgbClr val="29483D"/>
          </a:solidFill>
          <a:ln w="9525">
            <a:solidFill>
              <a:srgbClr val="29483D"/>
            </a:solidFill>
            <a:prstDash val="solid"/>
          </a:ln>
        </p:spPr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291A2F80-FCE3-4C74-864B-4E51CD19EFE9}"/>
              </a:ext>
            </a:extLst>
          </p:cNvPr>
          <p:cNvSpPr>
            <a:spLocks noGrp="1"/>
          </p:cNvSpPr>
          <p:nvPr/>
        </p:nvSpPr>
        <p:spPr>
          <a:xfrm>
            <a:off x="9953625" y="2781300"/>
            <a:ext cx="333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DCE9E2"/>
                </a:solidFill>
              </a:defRPr>
            </a:pPr>
            <a:r>
              <a:rPr sz="975" b="1">
                <a:solidFill>
                  <a:srgbClr val="DCE9E2"/>
                </a:solidFill>
              </a:rPr>
              <a:t>05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A2C537AE-2992-4353-AD5E-79FAB643BD55}"/>
              </a:ext>
            </a:extLst>
          </p:cNvPr>
          <p:cNvSpPr>
            <a:spLocks noGrp="1"/>
          </p:cNvSpPr>
          <p:nvPr/>
        </p:nvSpPr>
        <p:spPr>
          <a:xfrm>
            <a:off x="9982200" y="3143250"/>
            <a:ext cx="12858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Mostrar resultado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14BC0B4E-6832-4E2D-A9ED-7668D5A940C2}"/>
              </a:ext>
            </a:extLst>
          </p:cNvPr>
          <p:cNvSpPr>
            <a:spLocks noGrp="1"/>
          </p:cNvSpPr>
          <p:nvPr/>
        </p:nvSpPr>
        <p:spPr>
          <a:xfrm>
            <a:off x="1714500" y="4476750"/>
            <a:ext cx="87630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650" b="0">
                <a:solidFill>
                  <a:srgbClr val="66716C"/>
                </a:solidFill>
              </a:defRPr>
            </a:pPr>
            <a:r>
              <a:rPr sz="1650" b="0">
                <a:solidFill>
                  <a:srgbClr val="66716C"/>
                </a:solidFill>
              </a:rPr>
              <a:t>El controlador crea un análisis independiente en cada ejecución, carga los símbolos válidos y separa las salidas de los mensajes de error.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826AE1A4-16D3-4875-88EA-4D647E96FF28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0">
                <a:solidFill>
                  <a:srgbClr val="66716C"/>
                </a:solidFill>
              </a:defRPr>
            </a:pPr>
            <a:r>
              <a:rPr sz="900" b="0">
                <a:solidFill>
                  <a:srgbClr val="66716C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1044548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ángulo 26">
            <a:extLst>
              <a:ext uri="{FF2B5EF4-FFF2-40B4-BE49-F238E27FC236}">
                <a16:creationId xmlns:a16="http://schemas.microsoft.com/office/drawing/2014/main" id="{9C81402B-6AD3-4E94-A5FD-2E14CD45C4EA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108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17201D"/>
                </a:solidFill>
              </a:defRPr>
            </a:pPr>
            <a:r>
              <a:rPr sz="2700" b="1">
                <a:solidFill>
                  <a:srgbClr val="17201D"/>
                </a:solidFill>
              </a:rPr>
              <a:t>Diagrama de clases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4EBFB07-7324-46A2-A7A2-7F68A544BEA7}"/>
              </a:ext>
            </a:extLst>
          </p:cNvPr>
          <p:cNvSpPr>
            <a:spLocks noGrp="1"/>
          </p:cNvSpPr>
          <p:nvPr/>
        </p:nvSpPr>
        <p:spPr>
          <a:xfrm>
            <a:off x="685800" y="1162050"/>
            <a:ext cx="685800" cy="38100"/>
          </a:xfrm>
          <a:prstGeom prst="rect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1BF5247-62F6-4819-9771-0FA7CCDCAF98}"/>
              </a:ext>
            </a:extLst>
          </p:cNvPr>
          <p:cNvSpPr>
            <a:spLocks noGrp="1"/>
          </p:cNvSpPr>
          <p:nvPr/>
        </p:nvSpPr>
        <p:spPr>
          <a:xfrm>
            <a:off x="2476500" y="3028950"/>
            <a:ext cx="666750" cy="38100"/>
          </a:xfrm>
          <a:prstGeom prst="rect">
            <a:avLst/>
          </a:prstGeom>
          <a:solidFill>
            <a:srgbClr val="C9D2CD"/>
          </a:solidFill>
          <a:ln w="0">
            <a:solidFill>
              <a:srgbClr val="C9D2CD"/>
            </a:solidFill>
            <a:prstDash val="solid"/>
          </a:ln>
        </p:spPr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4F1C358-3635-4C96-BC67-58632086BC40}"/>
              </a:ext>
            </a:extLst>
          </p:cNvPr>
          <p:cNvSpPr>
            <a:spLocks noGrp="1"/>
          </p:cNvSpPr>
          <p:nvPr/>
        </p:nvSpPr>
        <p:spPr>
          <a:xfrm>
            <a:off x="5429250" y="3028950"/>
            <a:ext cx="666750" cy="38100"/>
          </a:xfrm>
          <a:prstGeom prst="rect">
            <a:avLst/>
          </a:prstGeom>
          <a:solidFill>
            <a:srgbClr val="C9D2CD"/>
          </a:solidFill>
          <a:ln w="0">
            <a:solidFill>
              <a:srgbClr val="C9D2CD"/>
            </a:solidFill>
            <a:prstDash val="solid"/>
          </a:ln>
        </p:spPr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51DDFCD-03F4-4272-9357-01090448EB7A}"/>
              </a:ext>
            </a:extLst>
          </p:cNvPr>
          <p:cNvSpPr>
            <a:spLocks noGrp="1"/>
          </p:cNvSpPr>
          <p:nvPr/>
        </p:nvSpPr>
        <p:spPr>
          <a:xfrm>
            <a:off x="5429250" y="4257675"/>
            <a:ext cx="666750" cy="38100"/>
          </a:xfrm>
          <a:prstGeom prst="rect">
            <a:avLst/>
          </a:prstGeom>
          <a:solidFill>
            <a:srgbClr val="C9D2CD"/>
          </a:solidFill>
          <a:ln w="0">
            <a:solidFill>
              <a:srgbClr val="C9D2CD"/>
            </a:solidFill>
            <a:prstDash val="solid"/>
          </a:ln>
        </p:spPr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B30C7E0-7C68-4454-A601-AE89DCEC4FFB}"/>
              </a:ext>
            </a:extLst>
          </p:cNvPr>
          <p:cNvSpPr>
            <a:spLocks noGrp="1"/>
          </p:cNvSpPr>
          <p:nvPr/>
        </p:nvSpPr>
        <p:spPr>
          <a:xfrm>
            <a:off x="8667750" y="4171950"/>
            <a:ext cx="762000" cy="38100"/>
          </a:xfrm>
          <a:prstGeom prst="rect">
            <a:avLst/>
          </a:prstGeom>
          <a:solidFill>
            <a:srgbClr val="C9D2CD"/>
          </a:solidFill>
          <a:ln w="0">
            <a:solidFill>
              <a:srgbClr val="C9D2CD"/>
            </a:solidFill>
            <a:prstDash val="solid"/>
          </a:ln>
        </p:spPr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886C11C-D3AE-44C4-999D-0271C943A18A}"/>
              </a:ext>
            </a:extLst>
          </p:cNvPr>
          <p:cNvSpPr>
            <a:spLocks noGrp="1"/>
          </p:cNvSpPr>
          <p:nvPr/>
        </p:nvSpPr>
        <p:spPr>
          <a:xfrm>
            <a:off x="8667750" y="2152650"/>
            <a:ext cx="762000" cy="38100"/>
          </a:xfrm>
          <a:prstGeom prst="rect">
            <a:avLst/>
          </a:prstGeom>
          <a:solidFill>
            <a:srgbClr val="C9D2CD"/>
          </a:solidFill>
          <a:ln w="0">
            <a:solidFill>
              <a:srgbClr val="C9D2CD"/>
            </a:solidFill>
            <a:prstDash val="solid"/>
          </a:ln>
        </p:spPr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3CB9E446-D794-4F8E-BCF3-183F42B78431}"/>
              </a:ext>
            </a:extLst>
          </p:cNvPr>
          <p:cNvSpPr>
            <a:spLocks noGrp="1"/>
          </p:cNvSpPr>
          <p:nvPr/>
        </p:nvSpPr>
        <p:spPr>
          <a:xfrm>
            <a:off x="762000" y="2619375"/>
            <a:ext cx="1714500" cy="8572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C9D2CD"/>
            </a:solidFill>
            <a:prstDash val="solid"/>
          </a:ln>
        </p:spPr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55B3823-AF04-4E57-87D4-DE5BC2E26804}"/>
              </a:ext>
            </a:extLst>
          </p:cNvPr>
          <p:cNvSpPr>
            <a:spLocks noGrp="1"/>
          </p:cNvSpPr>
          <p:nvPr/>
        </p:nvSpPr>
        <p:spPr>
          <a:xfrm>
            <a:off x="857250" y="2857500"/>
            <a:ext cx="152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17201D"/>
                </a:solidFill>
              </a:defRPr>
            </a:pPr>
            <a:r>
              <a:rPr sz="1275" b="1">
                <a:solidFill>
                  <a:srgbClr val="17201D"/>
                </a:solidFill>
              </a:rPr>
              <a:t>AplicacionAnalizador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715C471D-B778-4B63-8D4C-91A7F0A230E7}"/>
              </a:ext>
            </a:extLst>
          </p:cNvPr>
          <p:cNvSpPr>
            <a:spLocks noGrp="1"/>
          </p:cNvSpPr>
          <p:nvPr/>
        </p:nvSpPr>
        <p:spPr>
          <a:xfrm>
            <a:off x="3143250" y="2428875"/>
            <a:ext cx="2286000" cy="1238250"/>
          </a:xfrm>
          <a:prstGeom prst="roundRect">
            <a:avLst>
              <a:gd name="adj" fmla="val 9231"/>
            </a:avLst>
          </a:prstGeom>
          <a:solidFill>
            <a:srgbClr val="29483D"/>
          </a:solidFill>
          <a:ln w="9525">
            <a:solidFill>
              <a:srgbClr val="29483D"/>
            </a:solidFill>
            <a:prstDash val="solid"/>
          </a:ln>
        </p:spPr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BFE0AFD-D2BC-45D4-93AF-9B04EBA52773}"/>
              </a:ext>
            </a:extLst>
          </p:cNvPr>
          <p:cNvSpPr>
            <a:spLocks noGrp="1"/>
          </p:cNvSpPr>
          <p:nvPr/>
        </p:nvSpPr>
        <p:spPr>
          <a:xfrm>
            <a:off x="3216070" y="2887611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 dirty="0" err="1">
                <a:solidFill>
                  <a:srgbClr val="FFFFFF"/>
                </a:solidFill>
              </a:rPr>
              <a:t>AnalizadorController</a:t>
            </a:r>
            <a:endParaRPr sz="1200" b="1" dirty="0">
              <a:solidFill>
                <a:srgbClr val="FFFFFF"/>
              </a:solidFill>
            </a:endParaRP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ED527C91-A741-41F8-AEE5-BE114A2ADAC7}"/>
              </a:ext>
            </a:extLst>
          </p:cNvPr>
          <p:cNvSpPr>
            <a:spLocks noGrp="1"/>
          </p:cNvSpPr>
          <p:nvPr/>
        </p:nvSpPr>
        <p:spPr>
          <a:xfrm>
            <a:off x="6096000" y="1714500"/>
            <a:ext cx="2571750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D2CD"/>
            </a:solidFill>
            <a:prstDash val="solid"/>
          </a:ln>
        </p:spPr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D8E7ED00-C768-4AB8-9332-52A7FC73B6F2}"/>
              </a:ext>
            </a:extLst>
          </p:cNvPr>
          <p:cNvSpPr>
            <a:spLocks noGrp="1"/>
          </p:cNvSpPr>
          <p:nvPr/>
        </p:nvSpPr>
        <p:spPr>
          <a:xfrm>
            <a:off x="6191250" y="1952625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17201D"/>
                </a:solidFill>
              </a:defRPr>
            </a:pPr>
            <a:r>
              <a:rPr sz="1275" b="1">
                <a:solidFill>
                  <a:srgbClr val="17201D"/>
                </a:solidFill>
              </a:rPr>
              <a:t>AnalizadorSemantico</a:t>
            </a: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9E9540CF-E690-4157-9599-88ACED151315}"/>
              </a:ext>
            </a:extLst>
          </p:cNvPr>
          <p:cNvSpPr>
            <a:spLocks noGrp="1"/>
          </p:cNvSpPr>
          <p:nvPr/>
        </p:nvSpPr>
        <p:spPr>
          <a:xfrm>
            <a:off x="6096000" y="3714750"/>
            <a:ext cx="2571750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D2CD"/>
            </a:solidFill>
            <a:prstDash val="solid"/>
          </a:ln>
        </p:spPr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8ABFCD05-D7FD-46EE-8890-C83C8FCD5ADB}"/>
              </a:ext>
            </a:extLst>
          </p:cNvPr>
          <p:cNvSpPr>
            <a:spLocks noGrp="1"/>
          </p:cNvSpPr>
          <p:nvPr/>
        </p:nvSpPr>
        <p:spPr>
          <a:xfrm>
            <a:off x="6191250" y="3952875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17201D"/>
                </a:solidFill>
              </a:defRPr>
            </a:pPr>
            <a:r>
              <a:rPr sz="1275" b="1">
                <a:solidFill>
                  <a:srgbClr val="17201D"/>
                </a:solidFill>
              </a:rPr>
              <a:t>TablaSimbolos</a:t>
            </a: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57D60FB2-CEC6-4EC1-A9EF-F0BDA5B20ABE}"/>
              </a:ext>
            </a:extLst>
          </p:cNvPr>
          <p:cNvSpPr>
            <a:spLocks noGrp="1"/>
          </p:cNvSpPr>
          <p:nvPr/>
        </p:nvSpPr>
        <p:spPr>
          <a:xfrm>
            <a:off x="9429750" y="3714750"/>
            <a:ext cx="1619250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D2CD"/>
            </a:solidFill>
            <a:prstDash val="solid"/>
          </a:ln>
        </p:spPr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AC3314FA-DA09-45C8-97BD-5727D6F3200F}"/>
              </a:ext>
            </a:extLst>
          </p:cNvPr>
          <p:cNvSpPr>
            <a:spLocks noGrp="1"/>
          </p:cNvSpPr>
          <p:nvPr/>
        </p:nvSpPr>
        <p:spPr>
          <a:xfrm>
            <a:off x="9525000" y="3952875"/>
            <a:ext cx="1428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17201D"/>
                </a:solidFill>
              </a:defRPr>
            </a:pPr>
            <a:r>
              <a:rPr sz="1275" b="1">
                <a:solidFill>
                  <a:srgbClr val="17201D"/>
                </a:solidFill>
              </a:rPr>
              <a:t>Simbolo</a:t>
            </a: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6504A79E-10CA-440F-88B9-59DFD8ED9E68}"/>
              </a:ext>
            </a:extLst>
          </p:cNvPr>
          <p:cNvSpPr>
            <a:spLocks noGrp="1"/>
          </p:cNvSpPr>
          <p:nvPr/>
        </p:nvSpPr>
        <p:spPr>
          <a:xfrm>
            <a:off x="9429750" y="1714500"/>
            <a:ext cx="1619250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D2CD"/>
            </a:solidFill>
            <a:prstDash val="solid"/>
          </a:ln>
        </p:spPr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4B979800-70C0-4C0E-B022-69F1170FA8B7}"/>
              </a:ext>
            </a:extLst>
          </p:cNvPr>
          <p:cNvSpPr>
            <a:spLocks noGrp="1"/>
          </p:cNvSpPr>
          <p:nvPr/>
        </p:nvSpPr>
        <p:spPr>
          <a:xfrm>
            <a:off x="9525000" y="1952625"/>
            <a:ext cx="1428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17201D"/>
                </a:solidFill>
              </a:defRPr>
            </a:pPr>
            <a:r>
              <a:rPr sz="1275" b="1">
                <a:solidFill>
                  <a:srgbClr val="17201D"/>
                </a:solidFill>
              </a:rPr>
              <a:t>AnalizadorExpresiones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2719296F-4BB4-43DF-8DCE-21EC72C92744}"/>
              </a:ext>
            </a:extLst>
          </p:cNvPr>
          <p:cNvSpPr>
            <a:spLocks noGrp="1"/>
          </p:cNvSpPr>
          <p:nvPr/>
        </p:nvSpPr>
        <p:spPr>
          <a:xfrm>
            <a:off x="2476500" y="2781300"/>
            <a:ext cx="666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0">
                <a:solidFill>
                  <a:srgbClr val="66716C"/>
                </a:solidFill>
              </a:defRPr>
            </a:pPr>
            <a:r>
              <a:rPr sz="825" b="0">
                <a:solidFill>
                  <a:srgbClr val="66716C"/>
                </a:solidFill>
              </a:rPr>
              <a:t>inicia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0427D926-FD91-4381-B5B4-6506850BC674}"/>
              </a:ext>
            </a:extLst>
          </p:cNvPr>
          <p:cNvSpPr>
            <a:spLocks noGrp="1"/>
          </p:cNvSpPr>
          <p:nvPr/>
        </p:nvSpPr>
        <p:spPr>
          <a:xfrm>
            <a:off x="5429250" y="2781300"/>
            <a:ext cx="666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0">
                <a:solidFill>
                  <a:srgbClr val="66716C"/>
                </a:solidFill>
              </a:defRPr>
            </a:pPr>
            <a:r>
              <a:rPr sz="825" b="0">
                <a:solidFill>
                  <a:srgbClr val="66716C"/>
                </a:solidFill>
              </a:rPr>
              <a:t>solicita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76D565F6-4A12-4465-AF3F-F464E6529FA7}"/>
              </a:ext>
            </a:extLst>
          </p:cNvPr>
          <p:cNvSpPr>
            <a:spLocks noGrp="1"/>
          </p:cNvSpPr>
          <p:nvPr/>
        </p:nvSpPr>
        <p:spPr>
          <a:xfrm>
            <a:off x="5429250" y="4000500"/>
            <a:ext cx="666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0">
                <a:solidFill>
                  <a:srgbClr val="66716C"/>
                </a:solidFill>
              </a:defRPr>
            </a:pPr>
            <a:r>
              <a:rPr sz="825" b="0">
                <a:solidFill>
                  <a:srgbClr val="66716C"/>
                </a:solidFill>
              </a:rPr>
              <a:t>consulta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0E73CBA3-6B29-42D2-909E-362C1F533DAA}"/>
              </a:ext>
            </a:extLst>
          </p:cNvPr>
          <p:cNvSpPr>
            <a:spLocks noGrp="1"/>
          </p:cNvSpPr>
          <p:nvPr/>
        </p:nvSpPr>
        <p:spPr>
          <a:xfrm>
            <a:off x="8667750" y="3905250"/>
            <a:ext cx="76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0">
                <a:solidFill>
                  <a:srgbClr val="66716C"/>
                </a:solidFill>
              </a:defRPr>
            </a:pPr>
            <a:r>
              <a:rPr sz="825" b="0">
                <a:solidFill>
                  <a:srgbClr val="66716C"/>
                </a:solidFill>
              </a:rPr>
              <a:t>contiene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EC15A18D-FA5E-4ED3-B983-596A934368E4}"/>
              </a:ext>
            </a:extLst>
          </p:cNvPr>
          <p:cNvSpPr>
            <a:spLocks noGrp="1"/>
          </p:cNvSpPr>
          <p:nvPr/>
        </p:nvSpPr>
        <p:spPr>
          <a:xfrm>
            <a:off x="8667750" y="1885950"/>
            <a:ext cx="76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0">
                <a:solidFill>
                  <a:srgbClr val="66716C"/>
                </a:solidFill>
              </a:defRPr>
            </a:pPr>
            <a:r>
              <a:rPr sz="825" b="0">
                <a:solidFill>
                  <a:srgbClr val="66716C"/>
                </a:solidFill>
              </a:rPr>
              <a:t>evalúa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C4C71D92-5BE9-4E92-8EFA-B84D3052270E}"/>
              </a:ext>
            </a:extLst>
          </p:cNvPr>
          <p:cNvSpPr>
            <a:spLocks noGrp="1"/>
          </p:cNvSpPr>
          <p:nvPr/>
        </p:nvSpPr>
        <p:spPr>
          <a:xfrm>
            <a:off x="2333625" y="5238750"/>
            <a:ext cx="7524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425" b="0">
                <a:solidFill>
                  <a:srgbClr val="66716C"/>
                </a:solidFill>
              </a:defRPr>
            </a:pPr>
            <a:r>
              <a:rPr sz="1425" b="0">
                <a:solidFill>
                  <a:srgbClr val="66716C"/>
                </a:solidFill>
              </a:rPr>
              <a:t>La vista FXML y styles.css complementan estas clases; ErrorSemantico conserva la línea y la explicación de cada diagnóstico.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16281D61-E2B9-4B66-897E-EA8B7B284FF6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0">
                <a:solidFill>
                  <a:srgbClr val="66716C"/>
                </a:solidFill>
              </a:defRPr>
            </a:pPr>
            <a:r>
              <a:rPr sz="900" b="0">
                <a:solidFill>
                  <a:srgbClr val="66716C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19167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ángulo 21">
            <a:extLst>
              <a:ext uri="{FF2B5EF4-FFF2-40B4-BE49-F238E27FC236}">
                <a16:creationId xmlns:a16="http://schemas.microsoft.com/office/drawing/2014/main" id="{2963198E-DFFC-4CD3-A2BA-FF534F57B09E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108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17201D"/>
                </a:solidFill>
              </a:defRPr>
            </a:pPr>
            <a:r>
              <a:rPr sz="2700" b="1">
                <a:solidFill>
                  <a:srgbClr val="17201D"/>
                </a:solidFill>
              </a:rPr>
              <a:t>Desarrollo del programa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07C6E54-9363-4DB8-8109-1F69A89E9407}"/>
              </a:ext>
            </a:extLst>
          </p:cNvPr>
          <p:cNvSpPr>
            <a:spLocks noGrp="1"/>
          </p:cNvSpPr>
          <p:nvPr/>
        </p:nvSpPr>
        <p:spPr>
          <a:xfrm>
            <a:off x="685800" y="1162050"/>
            <a:ext cx="685800" cy="38100"/>
          </a:xfrm>
          <a:prstGeom prst="rect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5FF5FCFB-5B11-4D93-98B4-B20C8F8BAA7A}"/>
              </a:ext>
            </a:extLst>
          </p:cNvPr>
          <p:cNvSpPr>
            <a:spLocks noGrp="1"/>
          </p:cNvSpPr>
          <p:nvPr/>
        </p:nvSpPr>
        <p:spPr>
          <a:xfrm>
            <a:off x="762000" y="1714500"/>
            <a:ext cx="4953000" cy="104775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C9D2CD"/>
            </a:solidFill>
            <a:prstDash val="solid"/>
          </a:ln>
        </p:spPr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7251684F-A8CD-41EF-B5F0-E1FEF84C350A}"/>
              </a:ext>
            </a:extLst>
          </p:cNvPr>
          <p:cNvSpPr>
            <a:spLocks noGrp="1"/>
          </p:cNvSpPr>
          <p:nvPr/>
        </p:nvSpPr>
        <p:spPr>
          <a:xfrm>
            <a:off x="990600" y="200025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29483D"/>
                </a:solidFill>
              </a:defRPr>
            </a:pPr>
            <a:r>
              <a:rPr sz="1650" b="1">
                <a:solidFill>
                  <a:srgbClr val="29483D"/>
                </a:solidFill>
              </a:rPr>
              <a:t>1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21BE8EF-B61B-49F4-B6DC-260B470ED603}"/>
              </a:ext>
            </a:extLst>
          </p:cNvPr>
          <p:cNvSpPr>
            <a:spLocks noGrp="1"/>
          </p:cNvSpPr>
          <p:nvPr/>
        </p:nvSpPr>
        <p:spPr>
          <a:xfrm>
            <a:off x="1571625" y="1952625"/>
            <a:ext cx="3810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17201D"/>
                </a:solidFill>
              </a:defRPr>
            </a:pPr>
            <a:r>
              <a:rPr sz="1500" b="0">
                <a:solidFill>
                  <a:srgbClr val="17201D"/>
                </a:solidFill>
              </a:rPr>
              <a:t>Se conservó el analizador semántico que ya funcionaba.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9D3D7632-A865-4DB1-84B4-CB87D6108BAF}"/>
              </a:ext>
            </a:extLst>
          </p:cNvPr>
          <p:cNvSpPr>
            <a:spLocks noGrp="1"/>
          </p:cNvSpPr>
          <p:nvPr/>
        </p:nvSpPr>
        <p:spPr>
          <a:xfrm>
            <a:off x="6334125" y="1714500"/>
            <a:ext cx="4953000" cy="104775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C9D2CD"/>
            </a:solidFill>
            <a:prstDash val="solid"/>
          </a:ln>
        </p:spPr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7A77ACA6-4218-4420-AA0E-9B252A5CA3E2}"/>
              </a:ext>
            </a:extLst>
          </p:cNvPr>
          <p:cNvSpPr>
            <a:spLocks noGrp="1"/>
          </p:cNvSpPr>
          <p:nvPr/>
        </p:nvSpPr>
        <p:spPr>
          <a:xfrm>
            <a:off x="6562725" y="200025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29483D"/>
                </a:solidFill>
              </a:defRPr>
            </a:pPr>
            <a:r>
              <a:rPr sz="1650" b="1">
                <a:solidFill>
                  <a:srgbClr val="29483D"/>
                </a:solidFill>
              </a:rPr>
              <a:t>2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6C63C0D-F3CB-40AD-9A37-F8BC8E57051B}"/>
              </a:ext>
            </a:extLst>
          </p:cNvPr>
          <p:cNvSpPr>
            <a:spLocks noGrp="1"/>
          </p:cNvSpPr>
          <p:nvPr/>
        </p:nvSpPr>
        <p:spPr>
          <a:xfrm>
            <a:off x="7143750" y="1952625"/>
            <a:ext cx="3810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17201D"/>
                </a:solidFill>
              </a:defRPr>
            </a:pPr>
            <a:r>
              <a:rPr sz="1500" b="0">
                <a:solidFill>
                  <a:srgbClr val="17201D"/>
                </a:solidFill>
              </a:rPr>
              <a:t>Se agregaron JavaFX Controls y FXML al pom.xml.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50D9DA45-94E1-4754-99DA-194C088E652E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4953000" cy="104775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C9D2CD"/>
            </a:solidFill>
            <a:prstDash val="solid"/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CC75299C-4B62-4246-97BF-6EC4224811EC}"/>
              </a:ext>
            </a:extLst>
          </p:cNvPr>
          <p:cNvSpPr>
            <a:spLocks noGrp="1"/>
          </p:cNvSpPr>
          <p:nvPr/>
        </p:nvSpPr>
        <p:spPr>
          <a:xfrm>
            <a:off x="990600" y="3381375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29483D"/>
                </a:solidFill>
              </a:defRPr>
            </a:pPr>
            <a:r>
              <a:rPr sz="1650" b="1">
                <a:solidFill>
                  <a:srgbClr val="29483D"/>
                </a:solidFill>
              </a:rPr>
              <a:t>3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2AABB0E-87FE-4623-A085-CB1AF6CDA590}"/>
              </a:ext>
            </a:extLst>
          </p:cNvPr>
          <p:cNvSpPr>
            <a:spLocks noGrp="1"/>
          </p:cNvSpPr>
          <p:nvPr/>
        </p:nvSpPr>
        <p:spPr>
          <a:xfrm>
            <a:off x="1571625" y="3333750"/>
            <a:ext cx="3810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17201D"/>
                </a:solidFill>
              </a:defRPr>
            </a:pPr>
            <a:r>
              <a:rPr sz="1500" b="0">
                <a:solidFill>
                  <a:srgbClr val="17201D"/>
                </a:solidFill>
              </a:rPr>
              <a:t>Se construyó la vista y su distribución en pestañas.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26490754-3985-412E-86DD-E1E70D747AAD}"/>
              </a:ext>
            </a:extLst>
          </p:cNvPr>
          <p:cNvSpPr>
            <a:spLocks noGrp="1"/>
          </p:cNvSpPr>
          <p:nvPr/>
        </p:nvSpPr>
        <p:spPr>
          <a:xfrm>
            <a:off x="6334125" y="3095625"/>
            <a:ext cx="4953000" cy="104775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C9D2CD"/>
            </a:solidFill>
            <a:prstDash val="solid"/>
          </a:ln>
        </p:spPr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CD57E740-49C4-447F-8468-BC11222BDE85}"/>
              </a:ext>
            </a:extLst>
          </p:cNvPr>
          <p:cNvSpPr>
            <a:spLocks noGrp="1"/>
          </p:cNvSpPr>
          <p:nvPr/>
        </p:nvSpPr>
        <p:spPr>
          <a:xfrm>
            <a:off x="6562725" y="3381375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29483D"/>
                </a:solidFill>
              </a:defRPr>
            </a:pPr>
            <a:r>
              <a:rPr sz="1650" b="1">
                <a:solidFill>
                  <a:srgbClr val="29483D"/>
                </a:solidFill>
              </a:rPr>
              <a:t>4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06896332-EC2A-48B8-BD8D-17E2F253D282}"/>
              </a:ext>
            </a:extLst>
          </p:cNvPr>
          <p:cNvSpPr>
            <a:spLocks noGrp="1"/>
          </p:cNvSpPr>
          <p:nvPr/>
        </p:nvSpPr>
        <p:spPr>
          <a:xfrm>
            <a:off x="7143750" y="3333750"/>
            <a:ext cx="3810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17201D"/>
                </a:solidFill>
              </a:defRPr>
            </a:pPr>
            <a:r>
              <a:rPr sz="1500" b="0">
                <a:solidFill>
                  <a:srgbClr val="17201D"/>
                </a:solidFill>
              </a:rPr>
              <a:t>Se conectaron botones, selector y tabla con el controlador.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1A762473-643D-4590-972E-B9029FFBDD78}"/>
              </a:ext>
            </a:extLst>
          </p:cNvPr>
          <p:cNvSpPr>
            <a:spLocks noGrp="1"/>
          </p:cNvSpPr>
          <p:nvPr/>
        </p:nvSpPr>
        <p:spPr>
          <a:xfrm>
            <a:off x="762000" y="4476750"/>
            <a:ext cx="4953000" cy="1047750"/>
          </a:xfrm>
          <a:prstGeom prst="roundRect">
            <a:avLst>
              <a:gd name="adj" fmla="val 10909"/>
            </a:avLst>
          </a:prstGeom>
          <a:solidFill>
            <a:srgbClr val="DDE7E1"/>
          </a:solidFill>
          <a:ln w="9525">
            <a:solidFill>
              <a:srgbClr val="C9D2CD"/>
            </a:solidFill>
            <a:prstDash val="solid"/>
          </a:ln>
        </p:spPr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45607E22-2E1A-493C-9983-D9CA6821732F}"/>
              </a:ext>
            </a:extLst>
          </p:cNvPr>
          <p:cNvSpPr>
            <a:spLocks noGrp="1"/>
          </p:cNvSpPr>
          <p:nvPr/>
        </p:nvSpPr>
        <p:spPr>
          <a:xfrm>
            <a:off x="990600" y="476250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29483D"/>
                </a:solidFill>
              </a:defRPr>
            </a:pPr>
            <a:r>
              <a:rPr sz="1650" b="1">
                <a:solidFill>
                  <a:srgbClr val="29483D"/>
                </a:solidFill>
              </a:rPr>
              <a:t>5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30C93520-02B1-4046-9D0A-C15B77FB9E6E}"/>
              </a:ext>
            </a:extLst>
          </p:cNvPr>
          <p:cNvSpPr>
            <a:spLocks noGrp="1"/>
          </p:cNvSpPr>
          <p:nvPr/>
        </p:nvSpPr>
        <p:spPr>
          <a:xfrm>
            <a:off x="1571625" y="4714875"/>
            <a:ext cx="3810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17201D"/>
                </a:solidFill>
              </a:defRPr>
            </a:pPr>
            <a:r>
              <a:rPr sz="1500" b="0">
                <a:solidFill>
                  <a:srgbClr val="17201D"/>
                </a:solidFill>
              </a:rPr>
              <a:t>Se integraron los dos archivos de prueba de la actividad.</a:t>
            </a: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C1AE6D2E-4DCC-4730-B28C-8B6A7153ADFB}"/>
              </a:ext>
            </a:extLst>
          </p:cNvPr>
          <p:cNvSpPr>
            <a:spLocks noGrp="1"/>
          </p:cNvSpPr>
          <p:nvPr/>
        </p:nvSpPr>
        <p:spPr>
          <a:xfrm>
            <a:off x="6334125" y="4476750"/>
            <a:ext cx="4953000" cy="104775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C9D2CD"/>
            </a:solidFill>
            <a:prstDash val="solid"/>
          </a:ln>
        </p:spPr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4E29B503-D659-4FD9-8C98-CE125D7567F7}"/>
              </a:ext>
            </a:extLst>
          </p:cNvPr>
          <p:cNvSpPr>
            <a:spLocks noGrp="1"/>
          </p:cNvSpPr>
          <p:nvPr/>
        </p:nvSpPr>
        <p:spPr>
          <a:xfrm>
            <a:off x="6562725" y="476250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29483D"/>
                </a:solidFill>
              </a:defRPr>
            </a:pPr>
            <a:r>
              <a:rPr sz="1650" b="1">
                <a:solidFill>
                  <a:srgbClr val="29483D"/>
                </a:solidFill>
              </a:rPr>
              <a:t>6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12B80FAB-DD9D-436E-9822-31087DA08C4E}"/>
              </a:ext>
            </a:extLst>
          </p:cNvPr>
          <p:cNvSpPr>
            <a:spLocks noGrp="1"/>
          </p:cNvSpPr>
          <p:nvPr/>
        </p:nvSpPr>
        <p:spPr>
          <a:xfrm>
            <a:off x="7143750" y="4714875"/>
            <a:ext cx="3810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17201D"/>
                </a:solidFill>
              </a:defRPr>
            </a:pPr>
            <a:r>
              <a:rPr sz="1500" b="0">
                <a:solidFill>
                  <a:srgbClr val="17201D"/>
                </a:solidFill>
              </a:rPr>
              <a:t>Se ejecutó clean javafx:run y se documentaron los resultados.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BB3AF65C-0F9C-44B7-99FE-9C73E2CDF889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0">
                <a:solidFill>
                  <a:srgbClr val="66716C"/>
                </a:solidFill>
              </a:defRPr>
            </a:pPr>
            <a:r>
              <a:rPr sz="900" b="0">
                <a:solidFill>
                  <a:srgbClr val="66716C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250207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ángulo 18">
            <a:extLst>
              <a:ext uri="{FF2B5EF4-FFF2-40B4-BE49-F238E27FC236}">
                <a16:creationId xmlns:a16="http://schemas.microsoft.com/office/drawing/2014/main" id="{65989055-34B8-4D59-BA96-D1242447B69B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108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17201D"/>
                </a:solidFill>
              </a:defRPr>
            </a:pPr>
            <a:r>
              <a:rPr sz="2700" b="1">
                <a:solidFill>
                  <a:srgbClr val="17201D"/>
                </a:solidFill>
              </a:rPr>
              <a:t>Explicación del código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7E5FDDE-4A40-4129-A8E0-5521DB8D54C9}"/>
              </a:ext>
            </a:extLst>
          </p:cNvPr>
          <p:cNvSpPr>
            <a:spLocks noGrp="1"/>
          </p:cNvSpPr>
          <p:nvPr/>
        </p:nvSpPr>
        <p:spPr>
          <a:xfrm>
            <a:off x="685800" y="1162050"/>
            <a:ext cx="685800" cy="38100"/>
          </a:xfrm>
          <a:prstGeom prst="rect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CC4C3373-CE5B-4B1C-8015-CA364BD027E6}"/>
              </a:ext>
            </a:extLst>
          </p:cNvPr>
          <p:cNvSpPr>
            <a:spLocks noGrp="1"/>
          </p:cNvSpPr>
          <p:nvPr/>
        </p:nvSpPr>
        <p:spPr>
          <a:xfrm>
            <a:off x="781050" y="1676400"/>
            <a:ext cx="3048000" cy="609600"/>
          </a:xfrm>
          <a:prstGeom prst="roundRect">
            <a:avLst>
              <a:gd name="adj" fmla="val 12500"/>
            </a:avLst>
          </a:prstGeom>
          <a:solidFill>
            <a:srgbClr val="DDE7E1"/>
          </a:solidFill>
          <a:ln w="9525">
            <a:solidFill>
              <a:srgbClr val="DDE7E1"/>
            </a:solidFill>
            <a:prstDash val="solid"/>
          </a:ln>
        </p:spPr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C126FA5-BC30-45B7-851A-2424998ECEF0}"/>
              </a:ext>
            </a:extLst>
          </p:cNvPr>
          <p:cNvSpPr>
            <a:spLocks noGrp="1"/>
          </p:cNvSpPr>
          <p:nvPr/>
        </p:nvSpPr>
        <p:spPr>
          <a:xfrm>
            <a:off x="981075" y="1828800"/>
            <a:ext cx="2647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1">
                <a:solidFill>
                  <a:srgbClr val="29483D"/>
                </a:solidFill>
              </a:defRPr>
            </a:pPr>
            <a:r>
              <a:rPr sz="1425" b="1">
                <a:solidFill>
                  <a:srgbClr val="29483D"/>
                </a:solidFill>
              </a:rPr>
              <a:t>AplicacionAnalizador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7781C41-782E-4255-9038-9F4D355D8EB8}"/>
              </a:ext>
            </a:extLst>
          </p:cNvPr>
          <p:cNvSpPr>
            <a:spLocks noGrp="1"/>
          </p:cNvSpPr>
          <p:nvPr/>
        </p:nvSpPr>
        <p:spPr>
          <a:xfrm>
            <a:off x="4238625" y="1771650"/>
            <a:ext cx="6667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17201D"/>
                </a:solidFill>
              </a:defRPr>
            </a:pPr>
            <a:r>
              <a:rPr sz="1500" b="0">
                <a:solidFill>
                  <a:srgbClr val="17201D"/>
                </a:solidFill>
              </a:rPr>
              <a:t>Carga analizador-view.fxml, aplica styles.css y muestra la ventana.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90C13727-0331-4167-9478-7FDEC0741448}"/>
              </a:ext>
            </a:extLst>
          </p:cNvPr>
          <p:cNvSpPr>
            <a:spLocks noGrp="1"/>
          </p:cNvSpPr>
          <p:nvPr/>
        </p:nvSpPr>
        <p:spPr>
          <a:xfrm>
            <a:off x="781050" y="2476500"/>
            <a:ext cx="3048000" cy="609600"/>
          </a:xfrm>
          <a:prstGeom prst="roundRect">
            <a:avLst>
              <a:gd name="adj" fmla="val 12500"/>
            </a:avLst>
          </a:prstGeom>
          <a:solidFill>
            <a:srgbClr val="29483D"/>
          </a:solidFill>
          <a:ln w="9525">
            <a:solidFill>
              <a:srgbClr val="29483D"/>
            </a:solidFill>
            <a:prstDash val="solid"/>
          </a:ln>
        </p:spPr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7C8B8AF-546A-4538-8446-F8B2D4891A8C}"/>
              </a:ext>
            </a:extLst>
          </p:cNvPr>
          <p:cNvSpPr>
            <a:spLocks noGrp="1"/>
          </p:cNvSpPr>
          <p:nvPr/>
        </p:nvSpPr>
        <p:spPr>
          <a:xfrm>
            <a:off x="981075" y="2628900"/>
            <a:ext cx="2647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AnalizadorController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21B6DBD-1270-480A-A360-3365562E1868}"/>
              </a:ext>
            </a:extLst>
          </p:cNvPr>
          <p:cNvSpPr>
            <a:spLocks noGrp="1"/>
          </p:cNvSpPr>
          <p:nvPr/>
        </p:nvSpPr>
        <p:spPr>
          <a:xfrm>
            <a:off x="4238625" y="2571750"/>
            <a:ext cx="6667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17201D"/>
                </a:solidFill>
              </a:defRPr>
            </a:pPr>
            <a:r>
              <a:rPr sz="1500" b="0">
                <a:solidFill>
                  <a:srgbClr val="17201D"/>
                </a:solidFill>
              </a:rPr>
              <a:t>Carga la prueba, ejecuta el análisis y actualiza tabla, salidas y errores.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18442789-9361-485C-B31D-9C58E19C090C}"/>
              </a:ext>
            </a:extLst>
          </p:cNvPr>
          <p:cNvSpPr>
            <a:spLocks noGrp="1"/>
          </p:cNvSpPr>
          <p:nvPr/>
        </p:nvSpPr>
        <p:spPr>
          <a:xfrm>
            <a:off x="781050" y="3276600"/>
            <a:ext cx="3048000" cy="609600"/>
          </a:xfrm>
          <a:prstGeom prst="roundRect">
            <a:avLst>
              <a:gd name="adj" fmla="val 12500"/>
            </a:avLst>
          </a:prstGeom>
          <a:solidFill>
            <a:srgbClr val="DDE7E1"/>
          </a:solidFill>
          <a:ln w="9525">
            <a:solidFill>
              <a:srgbClr val="DDE7E1"/>
            </a:solidFill>
            <a:prstDash val="solid"/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865F5482-5B8C-46BC-821F-EA8C2E21C591}"/>
              </a:ext>
            </a:extLst>
          </p:cNvPr>
          <p:cNvSpPr>
            <a:spLocks noGrp="1"/>
          </p:cNvSpPr>
          <p:nvPr/>
        </p:nvSpPr>
        <p:spPr>
          <a:xfrm>
            <a:off x="981075" y="3429000"/>
            <a:ext cx="2647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1">
                <a:solidFill>
                  <a:srgbClr val="29483D"/>
                </a:solidFill>
              </a:defRPr>
            </a:pPr>
            <a:r>
              <a:rPr sz="1425" b="1">
                <a:solidFill>
                  <a:srgbClr val="29483D"/>
                </a:solidFill>
              </a:rPr>
              <a:t>AnalizadorSemantico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3E8370C0-002B-4C97-AFB3-28E2655A9E98}"/>
              </a:ext>
            </a:extLst>
          </p:cNvPr>
          <p:cNvSpPr>
            <a:spLocks noGrp="1"/>
          </p:cNvSpPr>
          <p:nvPr/>
        </p:nvSpPr>
        <p:spPr>
          <a:xfrm>
            <a:off x="4238625" y="3371850"/>
            <a:ext cx="6667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17201D"/>
                </a:solidFill>
              </a:defRPr>
            </a:pPr>
            <a:r>
              <a:rPr sz="1500" b="0">
                <a:solidFill>
                  <a:srgbClr val="17201D"/>
                </a:solidFill>
              </a:rPr>
              <a:t>Procesa declaraciones, asignaciones, expresiones y mostrar(...).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FFD6D564-5CB1-480D-AEC4-FB7658E28CBD}"/>
              </a:ext>
            </a:extLst>
          </p:cNvPr>
          <p:cNvSpPr>
            <a:spLocks noGrp="1"/>
          </p:cNvSpPr>
          <p:nvPr/>
        </p:nvSpPr>
        <p:spPr>
          <a:xfrm>
            <a:off x="781050" y="4076700"/>
            <a:ext cx="3048000" cy="609600"/>
          </a:xfrm>
          <a:prstGeom prst="roundRect">
            <a:avLst>
              <a:gd name="adj" fmla="val 12500"/>
            </a:avLst>
          </a:prstGeom>
          <a:solidFill>
            <a:srgbClr val="DDE7E1"/>
          </a:solidFill>
          <a:ln w="9525">
            <a:solidFill>
              <a:srgbClr val="DDE7E1"/>
            </a:solidFill>
            <a:prstDash val="solid"/>
          </a:ln>
        </p:spPr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BC8FA0E1-315D-4F8E-A6FC-E3F4EFA360D4}"/>
              </a:ext>
            </a:extLst>
          </p:cNvPr>
          <p:cNvSpPr>
            <a:spLocks noGrp="1"/>
          </p:cNvSpPr>
          <p:nvPr/>
        </p:nvSpPr>
        <p:spPr>
          <a:xfrm>
            <a:off x="981075" y="4229100"/>
            <a:ext cx="2647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1">
                <a:solidFill>
                  <a:srgbClr val="29483D"/>
                </a:solidFill>
              </a:defRPr>
            </a:pPr>
            <a:r>
              <a:rPr sz="1425" b="1">
                <a:solidFill>
                  <a:srgbClr val="29483D"/>
                </a:solidFill>
              </a:rPr>
              <a:t>FXML y CSS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0575CD6F-F5BC-4CB7-8E57-BCE708208602}"/>
              </a:ext>
            </a:extLst>
          </p:cNvPr>
          <p:cNvSpPr>
            <a:spLocks noGrp="1"/>
          </p:cNvSpPr>
          <p:nvPr/>
        </p:nvSpPr>
        <p:spPr>
          <a:xfrm>
            <a:off x="4238625" y="4171950"/>
            <a:ext cx="6667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17201D"/>
                </a:solidFill>
              </a:defRPr>
            </a:pPr>
            <a:r>
              <a:rPr sz="1500" b="0">
                <a:solidFill>
                  <a:srgbClr val="17201D"/>
                </a:solidFill>
              </a:rPr>
              <a:t>Separan la estructura visual de la lógica del programa.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07B1BCEA-8A86-4ABF-B6F1-B2E90630BCC4}"/>
              </a:ext>
            </a:extLst>
          </p:cNvPr>
          <p:cNvSpPr>
            <a:spLocks noGrp="1"/>
          </p:cNvSpPr>
          <p:nvPr/>
        </p:nvSpPr>
        <p:spPr>
          <a:xfrm>
            <a:off x="781050" y="4876800"/>
            <a:ext cx="3048000" cy="609600"/>
          </a:xfrm>
          <a:prstGeom prst="roundRect">
            <a:avLst>
              <a:gd name="adj" fmla="val 12500"/>
            </a:avLst>
          </a:prstGeom>
          <a:solidFill>
            <a:srgbClr val="DDE7E1"/>
          </a:solidFill>
          <a:ln w="9525">
            <a:solidFill>
              <a:srgbClr val="DDE7E1"/>
            </a:solidFill>
            <a:prstDash val="solid"/>
          </a:ln>
        </p:spPr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A3ED2EE-A20E-4498-8529-F066AD22EDD9}"/>
              </a:ext>
            </a:extLst>
          </p:cNvPr>
          <p:cNvSpPr>
            <a:spLocks noGrp="1"/>
          </p:cNvSpPr>
          <p:nvPr/>
        </p:nvSpPr>
        <p:spPr>
          <a:xfrm>
            <a:off x="981075" y="5029200"/>
            <a:ext cx="2647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1">
                <a:solidFill>
                  <a:srgbClr val="29483D"/>
                </a:solidFill>
              </a:defRPr>
            </a:pPr>
            <a:r>
              <a:rPr sz="1425" b="1">
                <a:solidFill>
                  <a:srgbClr val="29483D"/>
                </a:solidFill>
              </a:rPr>
              <a:t>pom.xml y Maven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56C3821B-4C98-4062-A4A9-4369A4766D44}"/>
              </a:ext>
            </a:extLst>
          </p:cNvPr>
          <p:cNvSpPr>
            <a:spLocks noGrp="1"/>
          </p:cNvSpPr>
          <p:nvPr/>
        </p:nvSpPr>
        <p:spPr>
          <a:xfrm>
            <a:off x="4238625" y="4972050"/>
            <a:ext cx="6667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17201D"/>
                </a:solidFill>
              </a:defRPr>
            </a:pPr>
            <a:r>
              <a:rPr sz="1500" b="0">
                <a:solidFill>
                  <a:srgbClr val="17201D"/>
                </a:solidFill>
              </a:rPr>
              <a:t>Declaran JavaFX; clean limpia recursos previos y javafx:run inicia la aplicación.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48CC144F-AF5A-401D-BCF8-B90C3BC7FA30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0">
                <a:solidFill>
                  <a:srgbClr val="66716C"/>
                </a:solidFill>
              </a:defRPr>
            </a:pPr>
            <a:r>
              <a:rPr sz="900" b="0">
                <a:solidFill>
                  <a:srgbClr val="66716C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683887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ángulo 13">
            <a:extLst>
              <a:ext uri="{FF2B5EF4-FFF2-40B4-BE49-F238E27FC236}">
                <a16:creationId xmlns:a16="http://schemas.microsoft.com/office/drawing/2014/main" id="{A0251C1A-CEE9-48BA-BFC0-A105C2D1DC62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108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17201D"/>
                </a:solidFill>
              </a:defRPr>
            </a:pPr>
            <a:r>
              <a:rPr sz="2700" b="1">
                <a:solidFill>
                  <a:srgbClr val="17201D"/>
                </a:solidFill>
              </a:rPr>
              <a:t>Casos de prueba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EFE11DB-2CB5-48A2-A88D-B303573A11B8}"/>
              </a:ext>
            </a:extLst>
          </p:cNvPr>
          <p:cNvSpPr>
            <a:spLocks noGrp="1"/>
          </p:cNvSpPr>
          <p:nvPr/>
        </p:nvSpPr>
        <p:spPr>
          <a:xfrm>
            <a:off x="685800" y="1162050"/>
            <a:ext cx="685800" cy="38100"/>
          </a:xfrm>
          <a:prstGeom prst="rect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06970180-5C4F-4584-8C44-9B5346C60468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5095875" cy="34290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C9D2CD"/>
            </a:solidFill>
            <a:prstDash val="solid"/>
          </a:ln>
        </p:spPr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48E7746-4A88-4DF3-B87D-762EA08603E3}"/>
              </a:ext>
            </a:extLst>
          </p:cNvPr>
          <p:cNvSpPr>
            <a:spLocks noGrp="1"/>
          </p:cNvSpPr>
          <p:nvPr/>
        </p:nvSpPr>
        <p:spPr>
          <a:xfrm>
            <a:off x="1028700" y="2095500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>
                <a:solidFill>
                  <a:srgbClr val="29483D"/>
                </a:solidFill>
              </a:defRPr>
            </a:pPr>
            <a:r>
              <a:rPr sz="1875" b="1">
                <a:solidFill>
                  <a:srgbClr val="29483D"/>
                </a:solidFill>
              </a:rPr>
              <a:t>Caso 1 · Programa correcto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0157EB8-BDB8-4CA6-A4EA-A05404A10882}"/>
              </a:ext>
            </a:extLst>
          </p:cNvPr>
          <p:cNvSpPr>
            <a:spLocks noGrp="1"/>
          </p:cNvSpPr>
          <p:nvPr/>
        </p:nvSpPr>
        <p:spPr>
          <a:xfrm>
            <a:off x="1028700" y="2667000"/>
            <a:ext cx="4095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0">
                <a:solidFill>
                  <a:srgbClr val="17201D"/>
                </a:solidFill>
              </a:defRPr>
            </a:pPr>
            <a:r>
              <a:rPr sz="1575" b="0">
                <a:solidFill>
                  <a:srgbClr val="17201D"/>
                </a:solidFill>
              </a:rPr>
              <a:t>Declara cinco variables, calcula cantidad × precio y ejecuta dos instrucciones mostrar(...).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D2BEDBE-15FD-4E58-8376-0699AE8686AF}"/>
              </a:ext>
            </a:extLst>
          </p:cNvPr>
          <p:cNvSpPr>
            <a:spLocks noGrp="1"/>
          </p:cNvSpPr>
          <p:nvPr/>
        </p:nvSpPr>
        <p:spPr>
          <a:xfrm>
            <a:off x="1028700" y="3905250"/>
            <a:ext cx="209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1">
                <a:solidFill>
                  <a:srgbClr val="66716C"/>
                </a:solidFill>
              </a:defRPr>
            </a:pPr>
            <a:r>
              <a:rPr sz="1425" b="1">
                <a:solidFill>
                  <a:srgbClr val="66716C"/>
                </a:solidFill>
              </a:rPr>
              <a:t>Resultado esperado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97FBA06-D5AF-495D-B02C-673F296D0989}"/>
              </a:ext>
            </a:extLst>
          </p:cNvPr>
          <p:cNvSpPr>
            <a:spLocks noGrp="1"/>
          </p:cNvSpPr>
          <p:nvPr/>
        </p:nvSpPr>
        <p:spPr>
          <a:xfrm>
            <a:off x="1028700" y="4286250"/>
            <a:ext cx="3905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>
                <a:solidFill>
                  <a:srgbClr val="17201D"/>
                </a:solidFill>
              </a:defRPr>
            </a:pPr>
            <a:r>
              <a:rPr sz="1725" b="1">
                <a:solidFill>
                  <a:srgbClr val="17201D"/>
                </a:solidFill>
              </a:rPr>
              <a:t>Cinco símbolos, total 102.5 y dos salidas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914929AF-4B4D-4B01-A182-3B17F526142D}"/>
              </a:ext>
            </a:extLst>
          </p:cNvPr>
          <p:cNvSpPr>
            <a:spLocks noGrp="1"/>
          </p:cNvSpPr>
          <p:nvPr/>
        </p:nvSpPr>
        <p:spPr>
          <a:xfrm>
            <a:off x="6410325" y="1762125"/>
            <a:ext cx="5095875" cy="3429000"/>
          </a:xfrm>
          <a:prstGeom prst="roundRect">
            <a:avLst>
              <a:gd name="adj" fmla="val 4444"/>
            </a:avLst>
          </a:prstGeom>
          <a:solidFill>
            <a:srgbClr val="F2E2E0"/>
          </a:solidFill>
          <a:ln w="9525">
            <a:solidFill>
              <a:srgbClr val="F2E2E0"/>
            </a:solidFill>
            <a:prstDash val="solid"/>
          </a:ln>
        </p:spPr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CBE19B6-7FF9-47C1-8A74-138CCFDFED5B}"/>
              </a:ext>
            </a:extLst>
          </p:cNvPr>
          <p:cNvSpPr>
            <a:spLocks noGrp="1"/>
          </p:cNvSpPr>
          <p:nvPr/>
        </p:nvSpPr>
        <p:spPr>
          <a:xfrm>
            <a:off x="6753225" y="2095500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>
                <a:solidFill>
                  <a:srgbClr val="9B403B"/>
                </a:solidFill>
              </a:defRPr>
            </a:pPr>
            <a:r>
              <a:rPr sz="1875" b="1">
                <a:solidFill>
                  <a:srgbClr val="9B403B"/>
                </a:solidFill>
              </a:rPr>
              <a:t>Caso 2 · Programa con errores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03D5E0AC-6263-411A-91A3-E0F7871A8B73}"/>
              </a:ext>
            </a:extLst>
          </p:cNvPr>
          <p:cNvSpPr>
            <a:spLocks noGrp="1"/>
          </p:cNvSpPr>
          <p:nvPr/>
        </p:nvSpPr>
        <p:spPr>
          <a:xfrm>
            <a:off x="6753225" y="2667000"/>
            <a:ext cx="4095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0">
                <a:solidFill>
                  <a:srgbClr val="17201D"/>
                </a:solidFill>
              </a:defRPr>
            </a:pPr>
            <a:r>
              <a:rPr sz="1575" b="0">
                <a:solidFill>
                  <a:srgbClr val="17201D"/>
                </a:solidFill>
              </a:rPr>
              <a:t>Incluye duplicidad, tipos incompatibles, variables no declaradas y una división entre cero.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1CD57B0-5DE3-4186-A440-07D6362E1C01}"/>
              </a:ext>
            </a:extLst>
          </p:cNvPr>
          <p:cNvSpPr>
            <a:spLocks noGrp="1"/>
          </p:cNvSpPr>
          <p:nvPr/>
        </p:nvSpPr>
        <p:spPr>
          <a:xfrm>
            <a:off x="6753225" y="3905250"/>
            <a:ext cx="209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1">
                <a:solidFill>
                  <a:srgbClr val="66716C"/>
                </a:solidFill>
              </a:defRPr>
            </a:pPr>
            <a:r>
              <a:rPr sz="1425" b="1">
                <a:solidFill>
                  <a:srgbClr val="66716C"/>
                </a:solidFill>
              </a:rPr>
              <a:t>Resultado esperado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A6E0AB5-ED66-4639-AF21-662B0817183B}"/>
              </a:ext>
            </a:extLst>
          </p:cNvPr>
          <p:cNvSpPr>
            <a:spLocks noGrp="1"/>
          </p:cNvSpPr>
          <p:nvPr/>
        </p:nvSpPr>
        <p:spPr>
          <a:xfrm>
            <a:off x="6753225" y="4286250"/>
            <a:ext cx="3905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>
                <a:solidFill>
                  <a:srgbClr val="17201D"/>
                </a:solidFill>
              </a:defRPr>
            </a:pPr>
            <a:r>
              <a:rPr sz="1725" b="1">
                <a:solidFill>
                  <a:srgbClr val="17201D"/>
                </a:solidFill>
              </a:rPr>
              <a:t>Seis errores semánticos y ninguna salida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140078D1-DDFB-443D-A3AE-C47E0245DF4A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0">
                <a:solidFill>
                  <a:srgbClr val="66716C"/>
                </a:solidFill>
              </a:defRPr>
            </a:pPr>
            <a:r>
              <a:rPr sz="900" b="0">
                <a:solidFill>
                  <a:srgbClr val="66716C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7435555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C80A12CF-75CA-4951-B736-C3F35ADDC5D4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108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17201D"/>
                </a:solidFill>
              </a:defRPr>
            </a:pPr>
            <a:r>
              <a:rPr sz="2700" b="1">
                <a:solidFill>
                  <a:srgbClr val="17201D"/>
                </a:solidFill>
              </a:rPr>
              <a:t>Caso correcto · cinco símbolos registrados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4FD5155-35A2-4681-9BF6-508B88AF6E25}"/>
              </a:ext>
            </a:extLst>
          </p:cNvPr>
          <p:cNvSpPr>
            <a:spLocks noGrp="1"/>
          </p:cNvSpPr>
          <p:nvPr/>
        </p:nvSpPr>
        <p:spPr>
          <a:xfrm>
            <a:off x="685800" y="1162050"/>
            <a:ext cx="685800" cy="38100"/>
          </a:xfrm>
          <a:prstGeom prst="rect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2B7A4DB2-2A9C-42ED-BA3A-6992BC73D4A9}"/>
              </a:ext>
            </a:extLst>
          </p:cNvPr>
          <p:cNvSpPr>
            <a:spLocks noGrp="1"/>
          </p:cNvSpPr>
          <p:nvPr/>
        </p:nvSpPr>
        <p:spPr>
          <a:xfrm>
            <a:off x="685800" y="1476375"/>
            <a:ext cx="10820400" cy="47625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C9D2CD"/>
            </a:solidFill>
            <a:prstDash val="solid"/>
          </a:ln>
        </p:spPr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26EDCF5-400C-4E2B-9D8C-03E952BF3BCE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0">
                <a:solidFill>
                  <a:srgbClr val="66716C"/>
                </a:solidFill>
              </a:defRPr>
            </a:pPr>
            <a:r>
              <a:rPr sz="900" b="0">
                <a:solidFill>
                  <a:srgbClr val="66716C"/>
                </a:solidFill>
              </a:rPr>
              <a:t>14</a:t>
            </a:r>
          </a:p>
        </p:txBody>
      </p:sp>
      <p:pic>
        <p:nvPicPr>
          <p:cNvPr id="13" name="Imagen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132451" y="1628775"/>
            <a:ext cx="7927097" cy="44577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0252202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C80A12CF-75CA-4951-B736-C3F35ADDC5D4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108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17201D"/>
                </a:solidFill>
              </a:defRPr>
            </a:pPr>
            <a:r>
              <a:rPr sz="2700" b="1">
                <a:solidFill>
                  <a:srgbClr val="17201D"/>
                </a:solidFill>
              </a:rPr>
              <a:t>Caso correcto · las salidas coinciden con el cálculo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4FD5155-35A2-4681-9BF6-508B88AF6E25}"/>
              </a:ext>
            </a:extLst>
          </p:cNvPr>
          <p:cNvSpPr>
            <a:spLocks noGrp="1"/>
          </p:cNvSpPr>
          <p:nvPr/>
        </p:nvSpPr>
        <p:spPr>
          <a:xfrm>
            <a:off x="685800" y="1162050"/>
            <a:ext cx="685800" cy="38100"/>
          </a:xfrm>
          <a:prstGeom prst="rect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2B7A4DB2-2A9C-42ED-BA3A-6992BC73D4A9}"/>
              </a:ext>
            </a:extLst>
          </p:cNvPr>
          <p:cNvSpPr>
            <a:spLocks noGrp="1"/>
          </p:cNvSpPr>
          <p:nvPr/>
        </p:nvSpPr>
        <p:spPr>
          <a:xfrm>
            <a:off x="685800" y="1476375"/>
            <a:ext cx="10820400" cy="47625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C9D2CD"/>
            </a:solidFill>
            <a:prstDash val="solid"/>
          </a:ln>
        </p:spPr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26EDCF5-400C-4E2B-9D8C-03E952BF3BCE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0">
                <a:solidFill>
                  <a:srgbClr val="66716C"/>
                </a:solidFill>
              </a:defRPr>
            </a:pPr>
            <a:r>
              <a:rPr sz="900" b="0">
                <a:solidFill>
                  <a:srgbClr val="66716C"/>
                </a:solidFill>
              </a:rPr>
              <a:t>15</a:t>
            </a:r>
          </a:p>
        </p:txBody>
      </p:sp>
      <p:pic>
        <p:nvPicPr>
          <p:cNvPr id="13" name="Imagen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132451" y="1628775"/>
            <a:ext cx="7927097" cy="44577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0252202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D7A211F4-BA94-4E4B-895E-AE41C43FAB3B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108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17201D"/>
                </a:solidFill>
              </a:defRPr>
            </a:pPr>
            <a:r>
              <a:rPr sz="2700" b="1">
                <a:solidFill>
                  <a:srgbClr val="17201D"/>
                </a:solidFill>
              </a:rPr>
              <a:t>Caso con errores · solo se conservan símbolos válidos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73FB362-4039-4E2D-ABBB-880A87372846}"/>
              </a:ext>
            </a:extLst>
          </p:cNvPr>
          <p:cNvSpPr>
            <a:spLocks noGrp="1"/>
          </p:cNvSpPr>
          <p:nvPr/>
        </p:nvSpPr>
        <p:spPr>
          <a:xfrm>
            <a:off x="685800" y="1162050"/>
            <a:ext cx="685800" cy="38100"/>
          </a:xfrm>
          <a:prstGeom prst="rect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6E5A4C19-A980-4449-94BF-02578B6C64A7}"/>
              </a:ext>
            </a:extLst>
          </p:cNvPr>
          <p:cNvSpPr>
            <a:spLocks noGrp="1"/>
          </p:cNvSpPr>
          <p:nvPr/>
        </p:nvSpPr>
        <p:spPr>
          <a:xfrm>
            <a:off x="685800" y="1476375"/>
            <a:ext cx="10820400" cy="47625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C9D2CD"/>
            </a:solidFill>
            <a:prstDash val="solid"/>
          </a:ln>
        </p:spPr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DB8974A-69F5-48B5-B42A-46E8FC4DCF2B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0">
                <a:solidFill>
                  <a:srgbClr val="66716C"/>
                </a:solidFill>
              </a:defRPr>
            </a:pPr>
            <a:r>
              <a:rPr sz="900" b="0">
                <a:solidFill>
                  <a:srgbClr val="66716C"/>
                </a:solidFill>
              </a:rPr>
              <a:t>16</a:t>
            </a:r>
          </a:p>
        </p:txBody>
      </p:sp>
      <p:pic>
        <p:nvPicPr>
          <p:cNvPr id="13" name="Imagen 12"/>
          <p:cNvPicPr>
            <a:picLocks noChangeAspect="1"/>
          </p:cNvPicPr>
          <p:nvPr/>
        </p:nvPicPr>
        <p:blipFill>
          <a:blip r:embed="rId3"/>
          <a:srcRect l="8302" t="-3418" r="8675" b="2832"/>
          <a:stretch/>
        </p:blipFill>
        <p:spPr>
          <a:xfrm>
            <a:off x="2792361" y="1476375"/>
            <a:ext cx="6577781" cy="448381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536155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D7A211F4-BA94-4E4B-895E-AE41C43FAB3B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108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17201D"/>
                </a:solidFill>
              </a:defRPr>
            </a:pPr>
            <a:r>
              <a:rPr sz="2700" b="1">
                <a:solidFill>
                  <a:srgbClr val="17201D"/>
                </a:solidFill>
              </a:rPr>
              <a:t>Caso con errores · no se generaron salidas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73FB362-4039-4E2D-ABBB-880A87372846}"/>
              </a:ext>
            </a:extLst>
          </p:cNvPr>
          <p:cNvSpPr>
            <a:spLocks noGrp="1"/>
          </p:cNvSpPr>
          <p:nvPr/>
        </p:nvSpPr>
        <p:spPr>
          <a:xfrm>
            <a:off x="685800" y="1162050"/>
            <a:ext cx="685800" cy="38100"/>
          </a:xfrm>
          <a:prstGeom prst="rect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6E5A4C19-A980-4449-94BF-02578B6C64A7}"/>
              </a:ext>
            </a:extLst>
          </p:cNvPr>
          <p:cNvSpPr>
            <a:spLocks noGrp="1"/>
          </p:cNvSpPr>
          <p:nvPr/>
        </p:nvSpPr>
        <p:spPr>
          <a:xfrm>
            <a:off x="685800" y="1476375"/>
            <a:ext cx="10820400" cy="47625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C9D2CD"/>
            </a:solidFill>
            <a:prstDash val="solid"/>
          </a:ln>
        </p:spPr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DB8974A-69F5-48B5-B42A-46E8FC4DCF2B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0">
                <a:solidFill>
                  <a:srgbClr val="66716C"/>
                </a:solidFill>
              </a:defRPr>
            </a:pPr>
            <a:r>
              <a:rPr sz="900" b="0">
                <a:solidFill>
                  <a:srgbClr val="66716C"/>
                </a:solidFill>
              </a:rPr>
              <a:t>17</a:t>
            </a:r>
          </a:p>
        </p:txBody>
      </p:sp>
      <p:pic>
        <p:nvPicPr>
          <p:cNvPr id="13" name="Imagen 12"/>
          <p:cNvPicPr>
            <a:picLocks noChangeAspect="1"/>
          </p:cNvPicPr>
          <p:nvPr/>
        </p:nvPicPr>
        <p:blipFill>
          <a:blip r:embed="rId3"/>
          <a:srcRect l="8324" t="1619" r="8822"/>
          <a:stretch/>
        </p:blipFill>
        <p:spPr>
          <a:xfrm>
            <a:off x="2792361" y="1700981"/>
            <a:ext cx="6567949" cy="438549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536155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D7A211F4-BA94-4E4B-895E-AE41C43FAB3B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108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17201D"/>
                </a:solidFill>
              </a:defRPr>
            </a:pPr>
            <a:r>
              <a:rPr sz="2700" b="1">
                <a:solidFill>
                  <a:srgbClr val="17201D"/>
                </a:solidFill>
              </a:rPr>
              <a:t>Caso con errores · seis diagnósticos identificados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73FB362-4039-4E2D-ABBB-880A87372846}"/>
              </a:ext>
            </a:extLst>
          </p:cNvPr>
          <p:cNvSpPr>
            <a:spLocks noGrp="1"/>
          </p:cNvSpPr>
          <p:nvPr/>
        </p:nvSpPr>
        <p:spPr>
          <a:xfrm>
            <a:off x="685800" y="1162050"/>
            <a:ext cx="685800" cy="38100"/>
          </a:xfrm>
          <a:prstGeom prst="rect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6E5A4C19-A980-4449-94BF-02578B6C64A7}"/>
              </a:ext>
            </a:extLst>
          </p:cNvPr>
          <p:cNvSpPr>
            <a:spLocks noGrp="1"/>
          </p:cNvSpPr>
          <p:nvPr/>
        </p:nvSpPr>
        <p:spPr>
          <a:xfrm>
            <a:off x="685800" y="1476375"/>
            <a:ext cx="10820400" cy="47625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C9D2CD"/>
            </a:solidFill>
            <a:prstDash val="solid"/>
          </a:ln>
        </p:spPr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DB8974A-69F5-48B5-B42A-46E8FC4DCF2B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0">
                <a:solidFill>
                  <a:srgbClr val="66716C"/>
                </a:solidFill>
              </a:defRPr>
            </a:pPr>
            <a:r>
              <a:rPr sz="900" b="0">
                <a:solidFill>
                  <a:srgbClr val="66716C"/>
                </a:solidFill>
              </a:rPr>
              <a:t>18</a:t>
            </a:r>
          </a:p>
        </p:txBody>
      </p:sp>
      <p:pic>
        <p:nvPicPr>
          <p:cNvPr id="13" name="Imagen 12"/>
          <p:cNvPicPr>
            <a:picLocks noChangeAspect="1"/>
          </p:cNvPicPr>
          <p:nvPr/>
        </p:nvPicPr>
        <p:blipFill>
          <a:blip r:embed="rId3"/>
          <a:srcRect l="8821" r="8200"/>
          <a:stretch/>
        </p:blipFill>
        <p:spPr>
          <a:xfrm>
            <a:off x="2831690" y="1628775"/>
            <a:ext cx="6577781" cy="44577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7536155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ángulo 18">
            <a:extLst>
              <a:ext uri="{FF2B5EF4-FFF2-40B4-BE49-F238E27FC236}">
                <a16:creationId xmlns:a16="http://schemas.microsoft.com/office/drawing/2014/main" id="{299A72D4-AF39-4B45-A399-A62AA1E75681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108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17201D"/>
                </a:solidFill>
              </a:defRPr>
            </a:pPr>
            <a:r>
              <a:rPr sz="2700" b="1">
                <a:solidFill>
                  <a:srgbClr val="17201D"/>
                </a:solidFill>
              </a:rPr>
              <a:t>Resultados obtenidos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E4E74FF6-6557-435B-A888-16D982B62CF1}"/>
              </a:ext>
            </a:extLst>
          </p:cNvPr>
          <p:cNvSpPr>
            <a:spLocks noGrp="1"/>
          </p:cNvSpPr>
          <p:nvPr/>
        </p:nvSpPr>
        <p:spPr>
          <a:xfrm>
            <a:off x="685800" y="1162050"/>
            <a:ext cx="685800" cy="38100"/>
          </a:xfrm>
          <a:prstGeom prst="rect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3B73B08-AFF3-4606-9BB0-C07DE5FD97CA}"/>
              </a:ext>
            </a:extLst>
          </p:cNvPr>
          <p:cNvSpPr>
            <a:spLocks noGrp="1"/>
          </p:cNvSpPr>
          <p:nvPr/>
        </p:nvSpPr>
        <p:spPr>
          <a:xfrm>
            <a:off x="781050" y="1762125"/>
            <a:ext cx="647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00" b="1">
                <a:solidFill>
                  <a:srgbClr val="17201D"/>
                </a:solidFill>
              </a:defRPr>
            </a:pPr>
            <a:r>
              <a:rPr sz="2100" b="1" dirty="0">
                <a:solidFill>
                  <a:srgbClr val="17201D"/>
                </a:solidFill>
              </a:rPr>
              <a:t>JavaFX </a:t>
            </a:r>
            <a:r>
              <a:rPr sz="2100" b="1" dirty="0" err="1">
                <a:solidFill>
                  <a:srgbClr val="17201D"/>
                </a:solidFill>
              </a:rPr>
              <a:t>cumplió</a:t>
            </a:r>
            <a:r>
              <a:rPr sz="2100" b="1" dirty="0">
                <a:solidFill>
                  <a:srgbClr val="17201D"/>
                </a:solidFill>
              </a:rPr>
              <a:t> las </a:t>
            </a:r>
            <a:r>
              <a:rPr sz="2100" b="1" dirty="0" err="1">
                <a:solidFill>
                  <a:srgbClr val="17201D"/>
                </a:solidFill>
              </a:rPr>
              <a:t>funciones</a:t>
            </a:r>
            <a:r>
              <a:rPr sz="2100" b="1" dirty="0">
                <a:solidFill>
                  <a:srgbClr val="17201D"/>
                </a:solidFill>
              </a:rPr>
              <a:t> </a:t>
            </a:r>
            <a:r>
              <a:rPr sz="2100" b="1" dirty="0" err="1">
                <a:solidFill>
                  <a:srgbClr val="17201D"/>
                </a:solidFill>
              </a:rPr>
              <a:t>previstas</a:t>
            </a:r>
            <a:endParaRPr sz="2100" b="1" dirty="0">
              <a:solidFill>
                <a:srgbClr val="17201D"/>
              </a:solidFill>
            </a:endParaRP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4B0121AF-6E1A-4EA3-B076-A13540635337}"/>
              </a:ext>
            </a:extLst>
          </p:cNvPr>
          <p:cNvSpPr>
            <a:spLocks noGrp="1"/>
          </p:cNvSpPr>
          <p:nvPr/>
        </p:nvSpPr>
        <p:spPr>
          <a:xfrm>
            <a:off x="781050" y="2514600"/>
            <a:ext cx="95250" cy="95250"/>
          </a:xfrm>
          <a:prstGeom prst="ellipse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5FB37B6-CF2B-4555-A830-7FBB47F23217}"/>
              </a:ext>
            </a:extLst>
          </p:cNvPr>
          <p:cNvSpPr>
            <a:spLocks noGrp="1"/>
          </p:cNvSpPr>
          <p:nvPr/>
        </p:nvSpPr>
        <p:spPr>
          <a:xfrm>
            <a:off x="1019175" y="2428875"/>
            <a:ext cx="56673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0">
                <a:solidFill>
                  <a:srgbClr val="17201D"/>
                </a:solidFill>
              </a:defRPr>
            </a:pPr>
            <a:r>
              <a:rPr sz="1575" b="0">
                <a:solidFill>
                  <a:srgbClr val="17201D"/>
                </a:solidFill>
              </a:rPr>
              <a:t>Cargó correctamente los dos archivos de la actividad.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EFD74C18-60AB-4C5D-8233-CE8B376C1710}"/>
              </a:ext>
            </a:extLst>
          </p:cNvPr>
          <p:cNvSpPr>
            <a:spLocks noGrp="1"/>
          </p:cNvSpPr>
          <p:nvPr/>
        </p:nvSpPr>
        <p:spPr>
          <a:xfrm>
            <a:off x="781050" y="3162300"/>
            <a:ext cx="95250" cy="95250"/>
          </a:xfrm>
          <a:prstGeom prst="ellipse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5D2BE420-8FE7-418D-AF9B-886156CD8739}"/>
              </a:ext>
            </a:extLst>
          </p:cNvPr>
          <p:cNvSpPr>
            <a:spLocks noGrp="1"/>
          </p:cNvSpPr>
          <p:nvPr/>
        </p:nvSpPr>
        <p:spPr>
          <a:xfrm>
            <a:off x="1019175" y="3076575"/>
            <a:ext cx="56673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0">
                <a:solidFill>
                  <a:srgbClr val="17201D"/>
                </a:solidFill>
              </a:defRPr>
            </a:pPr>
            <a:r>
              <a:rPr sz="1575" b="0">
                <a:solidFill>
                  <a:srgbClr val="17201D"/>
                </a:solidFill>
              </a:rPr>
              <a:t>Registró cinco símbolos y calculó 102.5 en el caso correcto.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9806C61B-F463-4EE4-9A64-EC8155408282}"/>
              </a:ext>
            </a:extLst>
          </p:cNvPr>
          <p:cNvSpPr>
            <a:spLocks noGrp="1"/>
          </p:cNvSpPr>
          <p:nvPr/>
        </p:nvSpPr>
        <p:spPr>
          <a:xfrm>
            <a:off x="781050" y="3810000"/>
            <a:ext cx="95250" cy="95250"/>
          </a:xfrm>
          <a:prstGeom prst="ellipse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8EE8B3C-0D5B-4D0B-AFF6-3CB06C20F100}"/>
              </a:ext>
            </a:extLst>
          </p:cNvPr>
          <p:cNvSpPr>
            <a:spLocks noGrp="1"/>
          </p:cNvSpPr>
          <p:nvPr/>
        </p:nvSpPr>
        <p:spPr>
          <a:xfrm>
            <a:off x="1019175" y="3724275"/>
            <a:ext cx="56673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0">
                <a:solidFill>
                  <a:srgbClr val="17201D"/>
                </a:solidFill>
              </a:defRPr>
            </a:pPr>
            <a:r>
              <a:rPr sz="1575" b="0">
                <a:solidFill>
                  <a:srgbClr val="17201D"/>
                </a:solidFill>
              </a:rPr>
              <a:t>Mostró Producto: Cuaderno y Total: 102.5.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1B9CCD55-89AB-487C-84D4-D576078155E2}"/>
              </a:ext>
            </a:extLst>
          </p:cNvPr>
          <p:cNvSpPr>
            <a:spLocks noGrp="1"/>
          </p:cNvSpPr>
          <p:nvPr/>
        </p:nvSpPr>
        <p:spPr>
          <a:xfrm>
            <a:off x="781050" y="4457700"/>
            <a:ext cx="95250" cy="95250"/>
          </a:xfrm>
          <a:prstGeom prst="ellipse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7CE04CC8-007D-440C-965B-D3687BAE2722}"/>
              </a:ext>
            </a:extLst>
          </p:cNvPr>
          <p:cNvSpPr>
            <a:spLocks noGrp="1"/>
          </p:cNvSpPr>
          <p:nvPr/>
        </p:nvSpPr>
        <p:spPr>
          <a:xfrm>
            <a:off x="1019175" y="4371975"/>
            <a:ext cx="56673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0">
                <a:solidFill>
                  <a:srgbClr val="17201D"/>
                </a:solidFill>
              </a:defRPr>
            </a:pPr>
            <a:r>
              <a:rPr sz="1575" b="0">
                <a:solidFill>
                  <a:srgbClr val="17201D"/>
                </a:solidFill>
              </a:rPr>
              <a:t>Detectó los seis errores preparados en el segundo archivo.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7DBFB76F-DF8F-456A-8BD3-80498154D5C3}"/>
              </a:ext>
            </a:extLst>
          </p:cNvPr>
          <p:cNvSpPr>
            <a:spLocks noGrp="1"/>
          </p:cNvSpPr>
          <p:nvPr/>
        </p:nvSpPr>
        <p:spPr>
          <a:xfrm>
            <a:off x="781050" y="5105400"/>
            <a:ext cx="95250" cy="95250"/>
          </a:xfrm>
          <a:prstGeom prst="ellipse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4BB33286-DCAF-4B43-A61E-C06E1BA7F7B2}"/>
              </a:ext>
            </a:extLst>
          </p:cNvPr>
          <p:cNvSpPr>
            <a:spLocks noGrp="1"/>
          </p:cNvSpPr>
          <p:nvPr/>
        </p:nvSpPr>
        <p:spPr>
          <a:xfrm>
            <a:off x="1019175" y="5019675"/>
            <a:ext cx="56673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0">
                <a:solidFill>
                  <a:srgbClr val="17201D"/>
                </a:solidFill>
              </a:defRPr>
            </a:pPr>
            <a:r>
              <a:rPr sz="1575" b="0">
                <a:solidFill>
                  <a:srgbClr val="17201D"/>
                </a:solidFill>
              </a:rPr>
              <a:t>Separó la tabla, las salidas y los errores en pestañas.</a:t>
            </a: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4F17BBBF-7B88-44A0-911F-B869AE30A600}"/>
              </a:ext>
            </a:extLst>
          </p:cNvPr>
          <p:cNvSpPr>
            <a:spLocks noGrp="1"/>
          </p:cNvSpPr>
          <p:nvPr/>
        </p:nvSpPr>
        <p:spPr>
          <a:xfrm>
            <a:off x="7715250" y="2095500"/>
            <a:ext cx="3143250" cy="2667000"/>
          </a:xfrm>
          <a:prstGeom prst="roundRect">
            <a:avLst>
              <a:gd name="adj" fmla="val 5714"/>
            </a:avLst>
          </a:prstGeom>
          <a:solidFill>
            <a:srgbClr val="DDE7E1"/>
          </a:solidFill>
          <a:ln w="9525">
            <a:solidFill>
              <a:srgbClr val="DDE7E1"/>
            </a:solidFill>
            <a:prstDash val="solid"/>
          </a:ln>
        </p:spPr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4F2B9804-7E8C-43F0-AF2F-738BEE71E5C8}"/>
              </a:ext>
            </a:extLst>
          </p:cNvPr>
          <p:cNvSpPr>
            <a:spLocks noGrp="1"/>
          </p:cNvSpPr>
          <p:nvPr/>
        </p:nvSpPr>
        <p:spPr>
          <a:xfrm>
            <a:off x="8096250" y="2428875"/>
            <a:ext cx="2381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4500" b="1">
                <a:solidFill>
                  <a:srgbClr val="29483D"/>
                </a:solidFill>
              </a:defRPr>
            </a:pPr>
            <a:r>
              <a:rPr sz="4500" b="1">
                <a:solidFill>
                  <a:srgbClr val="29483D"/>
                </a:solidFill>
              </a:rPr>
              <a:t>2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CF88BD4E-7440-42D1-A792-86B42BDEC3AF}"/>
              </a:ext>
            </a:extLst>
          </p:cNvPr>
          <p:cNvSpPr>
            <a:spLocks noGrp="1"/>
          </p:cNvSpPr>
          <p:nvPr/>
        </p:nvSpPr>
        <p:spPr>
          <a:xfrm>
            <a:off x="8096250" y="3190875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650" b="1">
                <a:solidFill>
                  <a:srgbClr val="17201D"/>
                </a:solidFill>
              </a:defRPr>
            </a:pPr>
            <a:r>
              <a:rPr sz="1650" b="1">
                <a:solidFill>
                  <a:srgbClr val="17201D"/>
                </a:solidFill>
              </a:rPr>
              <a:t>casos ejecutados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AEE3F6A3-2937-49FD-8BEA-AB0CF5FB56D3}"/>
              </a:ext>
            </a:extLst>
          </p:cNvPr>
          <p:cNvSpPr>
            <a:spLocks noGrp="1"/>
          </p:cNvSpPr>
          <p:nvPr/>
        </p:nvSpPr>
        <p:spPr>
          <a:xfrm>
            <a:off x="8096250" y="3810000"/>
            <a:ext cx="23812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725" b="1">
                <a:solidFill>
                  <a:srgbClr val="66716C"/>
                </a:solidFill>
              </a:defRPr>
            </a:pPr>
            <a:r>
              <a:rPr sz="1725" b="1">
                <a:solidFill>
                  <a:srgbClr val="66716C"/>
                </a:solidFill>
              </a:rPr>
              <a:t>1 correcto</a:t>
            </a:r>
          </a:p>
          <a:p>
            <a:pPr algn="ctr">
              <a:buNone/>
              <a:defRPr sz="1725" b="1">
                <a:solidFill>
                  <a:srgbClr val="66716C"/>
                </a:solidFill>
              </a:defRPr>
            </a:pPr>
            <a:r>
              <a:rPr sz="1725" b="1">
                <a:solidFill>
                  <a:srgbClr val="66716C"/>
                </a:solidFill>
              </a:rPr>
              <a:t>1 con errores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07FDA25D-F4EF-4294-8B00-0EF40051975F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0">
                <a:solidFill>
                  <a:srgbClr val="66716C"/>
                </a:solidFill>
              </a:defRPr>
            </a:pPr>
            <a:r>
              <a:rPr sz="900" b="0">
                <a:solidFill>
                  <a:srgbClr val="66716C"/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7492611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48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A3A338E2-384C-4C2A-9434-6F63DB21A9C1}"/>
              </a:ext>
            </a:extLst>
          </p:cNvPr>
          <p:cNvSpPr>
            <a:spLocks noGrp="1"/>
          </p:cNvSpPr>
          <p:nvPr/>
        </p:nvSpPr>
        <p:spPr>
          <a:xfrm>
            <a:off x="781050" y="647700"/>
            <a:ext cx="304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250" b="1">
                <a:solidFill>
                  <a:srgbClr val="CFE0D7"/>
                </a:solidFill>
              </a:defRPr>
            </a:pPr>
            <a:r>
              <a:rPr sz="2250" b="1">
                <a:solidFill>
                  <a:srgbClr val="CFE0D7"/>
                </a:solidFill>
              </a:rPr>
              <a:t>Conclusión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67DA6D6-7AD0-48B6-B3D4-BBF2EC71DDE1}"/>
              </a:ext>
            </a:extLst>
          </p:cNvPr>
          <p:cNvSpPr>
            <a:spLocks noGrp="1"/>
          </p:cNvSpPr>
          <p:nvPr/>
        </p:nvSpPr>
        <p:spPr>
          <a:xfrm>
            <a:off x="781050" y="1381125"/>
            <a:ext cx="98107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225" b="1">
                <a:solidFill>
                  <a:srgbClr val="FFFFFF"/>
                </a:solidFill>
              </a:defRPr>
            </a:pPr>
            <a:r>
              <a:rPr sz="3225" b="1">
                <a:solidFill>
                  <a:srgbClr val="FFFFFF"/>
                </a:solidFill>
              </a:rPr>
              <a:t>La interfaz cambió; la lógica del analizador se mantuvo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78850CA-D0E0-4C3E-B99D-BC759E1755AD}"/>
              </a:ext>
            </a:extLst>
          </p:cNvPr>
          <p:cNvSpPr>
            <a:spLocks noGrp="1"/>
          </p:cNvSpPr>
          <p:nvPr/>
        </p:nvSpPr>
        <p:spPr>
          <a:xfrm>
            <a:off x="781050" y="2905125"/>
            <a:ext cx="9334500" cy="1952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0">
                <a:solidFill>
                  <a:srgbClr val="E4EEE9"/>
                </a:solidFill>
              </a:defRPr>
            </a:pPr>
            <a:r>
              <a:rPr sz="1800" b="0" dirty="0">
                <a:solidFill>
                  <a:srgbClr val="E4EEE9"/>
                </a:solidFill>
              </a:rPr>
              <a:t>La </a:t>
            </a:r>
            <a:r>
              <a:rPr sz="1800" b="0" dirty="0" err="1">
                <a:solidFill>
                  <a:srgbClr val="E4EEE9"/>
                </a:solidFill>
              </a:rPr>
              <a:t>práctica</a:t>
            </a:r>
            <a:r>
              <a:rPr sz="1800" b="0" dirty="0">
                <a:solidFill>
                  <a:srgbClr val="E4EEE9"/>
                </a:solidFill>
              </a:rPr>
              <a:t> JavaFX </a:t>
            </a:r>
            <a:r>
              <a:rPr lang="es-MX" dirty="0">
                <a:solidFill>
                  <a:srgbClr val="E4EEE9"/>
                </a:solidFill>
              </a:rPr>
              <a:t>hizo </a:t>
            </a:r>
            <a:r>
              <a:rPr sz="1800" b="0" dirty="0">
                <a:solidFill>
                  <a:srgbClr val="E4EEE9"/>
                </a:solidFill>
              </a:rPr>
              <a:t>La </a:t>
            </a:r>
            <a:r>
              <a:rPr sz="1800" b="0" dirty="0" err="1">
                <a:solidFill>
                  <a:srgbClr val="E4EEE9"/>
                </a:solidFill>
              </a:rPr>
              <a:t>interfaz</a:t>
            </a:r>
            <a:r>
              <a:rPr sz="1800" b="0" dirty="0">
                <a:solidFill>
                  <a:srgbClr val="E4EEE9"/>
                </a:solidFill>
              </a:rPr>
              <a:t> </a:t>
            </a:r>
            <a:r>
              <a:rPr sz="1800" b="0" dirty="0" err="1">
                <a:solidFill>
                  <a:srgbClr val="E4EEE9"/>
                </a:solidFill>
              </a:rPr>
              <a:t>hizo</a:t>
            </a:r>
            <a:r>
              <a:rPr sz="1800" b="0" dirty="0">
                <a:solidFill>
                  <a:srgbClr val="E4EEE9"/>
                </a:solidFill>
              </a:rPr>
              <a:t> </a:t>
            </a:r>
            <a:r>
              <a:rPr sz="1800" b="0" dirty="0" err="1">
                <a:solidFill>
                  <a:srgbClr val="E4EEE9"/>
                </a:solidFill>
              </a:rPr>
              <a:t>más</a:t>
            </a:r>
            <a:r>
              <a:rPr sz="1800" b="0" dirty="0">
                <a:solidFill>
                  <a:srgbClr val="E4EEE9"/>
                </a:solidFill>
              </a:rPr>
              <a:t> </a:t>
            </a:r>
            <a:r>
              <a:rPr sz="1800" b="0" dirty="0" err="1">
                <a:solidFill>
                  <a:srgbClr val="E4EEE9"/>
                </a:solidFill>
              </a:rPr>
              <a:t>clara</a:t>
            </a:r>
            <a:r>
              <a:rPr sz="1800" b="0" dirty="0">
                <a:solidFill>
                  <a:srgbClr val="E4EEE9"/>
                </a:solidFill>
              </a:rPr>
              <a:t> la </a:t>
            </a:r>
            <a:r>
              <a:rPr sz="1800" b="0" dirty="0" err="1">
                <a:solidFill>
                  <a:srgbClr val="E4EEE9"/>
                </a:solidFill>
              </a:rPr>
              <a:t>selección</a:t>
            </a:r>
            <a:r>
              <a:rPr sz="1800" b="0" dirty="0">
                <a:solidFill>
                  <a:srgbClr val="E4EEE9"/>
                </a:solidFill>
              </a:rPr>
              <a:t> de </a:t>
            </a:r>
            <a:r>
              <a:rPr sz="1800" b="0" dirty="0" err="1">
                <a:solidFill>
                  <a:srgbClr val="E4EEE9"/>
                </a:solidFill>
              </a:rPr>
              <a:t>pruebas</a:t>
            </a:r>
            <a:r>
              <a:rPr sz="1800" b="0" dirty="0">
                <a:solidFill>
                  <a:srgbClr val="E4EEE9"/>
                </a:solidFill>
              </a:rPr>
              <a:t> y la </a:t>
            </a:r>
            <a:r>
              <a:rPr sz="1800" b="0" dirty="0" err="1">
                <a:solidFill>
                  <a:srgbClr val="E4EEE9"/>
                </a:solidFill>
              </a:rPr>
              <a:t>revisión</a:t>
            </a:r>
            <a:r>
              <a:rPr sz="1800" b="0" dirty="0">
                <a:solidFill>
                  <a:srgbClr val="E4EEE9"/>
                </a:solidFill>
              </a:rPr>
              <a:t> de </a:t>
            </a:r>
            <a:r>
              <a:rPr sz="1800" b="0" dirty="0" err="1">
                <a:solidFill>
                  <a:srgbClr val="E4EEE9"/>
                </a:solidFill>
              </a:rPr>
              <a:t>cada</a:t>
            </a:r>
            <a:r>
              <a:rPr sz="1800" b="0" dirty="0">
                <a:solidFill>
                  <a:srgbClr val="E4EEE9"/>
                </a:solidFill>
              </a:rPr>
              <a:t> </a:t>
            </a:r>
            <a:r>
              <a:rPr sz="1800" b="0" dirty="0" err="1">
                <a:solidFill>
                  <a:srgbClr val="E4EEE9"/>
                </a:solidFill>
              </a:rPr>
              <a:t>resultado</a:t>
            </a:r>
            <a:r>
              <a:rPr sz="1800" b="0" dirty="0">
                <a:solidFill>
                  <a:srgbClr val="E4EEE9"/>
                </a:solidFill>
              </a:rPr>
              <a:t>. El </a:t>
            </a:r>
            <a:r>
              <a:rPr sz="1800" b="0" dirty="0" err="1">
                <a:solidFill>
                  <a:srgbClr val="E4EEE9"/>
                </a:solidFill>
              </a:rPr>
              <a:t>archivo</a:t>
            </a:r>
            <a:r>
              <a:rPr sz="1800" b="0" dirty="0">
                <a:solidFill>
                  <a:srgbClr val="E4EEE9"/>
                </a:solidFill>
              </a:rPr>
              <a:t> </a:t>
            </a:r>
            <a:r>
              <a:rPr sz="1800" b="0" dirty="0" err="1">
                <a:solidFill>
                  <a:srgbClr val="E4EEE9"/>
                </a:solidFill>
              </a:rPr>
              <a:t>correcto</a:t>
            </a:r>
            <a:r>
              <a:rPr sz="1800" b="0" dirty="0">
                <a:solidFill>
                  <a:srgbClr val="E4EEE9"/>
                </a:solidFill>
              </a:rPr>
              <a:t> </a:t>
            </a:r>
            <a:r>
              <a:rPr sz="1800" b="0" dirty="0" err="1">
                <a:solidFill>
                  <a:srgbClr val="E4EEE9"/>
                </a:solidFill>
              </a:rPr>
              <a:t>generó</a:t>
            </a:r>
            <a:r>
              <a:rPr sz="1800" b="0" dirty="0">
                <a:solidFill>
                  <a:srgbClr val="E4EEE9"/>
                </a:solidFill>
              </a:rPr>
              <a:t> </a:t>
            </a:r>
            <a:r>
              <a:rPr sz="1800" b="0" dirty="0" err="1">
                <a:solidFill>
                  <a:srgbClr val="E4EEE9"/>
                </a:solidFill>
              </a:rPr>
              <a:t>su</a:t>
            </a:r>
            <a:r>
              <a:rPr sz="1800" b="0" dirty="0">
                <a:solidFill>
                  <a:srgbClr val="E4EEE9"/>
                </a:solidFill>
              </a:rPr>
              <a:t> </a:t>
            </a:r>
            <a:r>
              <a:rPr sz="1800" b="0" dirty="0" err="1">
                <a:solidFill>
                  <a:srgbClr val="E4EEE9"/>
                </a:solidFill>
              </a:rPr>
              <a:t>tabla</a:t>
            </a:r>
            <a:r>
              <a:rPr sz="1800" b="0" dirty="0">
                <a:solidFill>
                  <a:srgbClr val="E4EEE9"/>
                </a:solidFill>
              </a:rPr>
              <a:t> y sus </a:t>
            </a:r>
            <a:r>
              <a:rPr sz="1800" b="0" dirty="0" err="1">
                <a:solidFill>
                  <a:srgbClr val="E4EEE9"/>
                </a:solidFill>
              </a:rPr>
              <a:t>salidas</a:t>
            </a:r>
            <a:r>
              <a:rPr sz="1800" b="0" dirty="0">
                <a:solidFill>
                  <a:srgbClr val="E4EEE9"/>
                </a:solidFill>
              </a:rPr>
              <a:t>, </a:t>
            </a:r>
            <a:r>
              <a:rPr sz="1800" b="0" dirty="0" err="1">
                <a:solidFill>
                  <a:srgbClr val="E4EEE9"/>
                </a:solidFill>
              </a:rPr>
              <a:t>mientras</a:t>
            </a:r>
            <a:r>
              <a:rPr sz="1800" b="0" dirty="0">
                <a:solidFill>
                  <a:srgbClr val="E4EEE9"/>
                </a:solidFill>
              </a:rPr>
              <a:t> que </a:t>
            </a:r>
            <a:r>
              <a:rPr sz="1800" b="0" dirty="0" err="1">
                <a:solidFill>
                  <a:srgbClr val="E4EEE9"/>
                </a:solidFill>
              </a:rPr>
              <a:t>el</a:t>
            </a:r>
            <a:r>
              <a:rPr sz="1800" b="0" dirty="0">
                <a:solidFill>
                  <a:srgbClr val="E4EEE9"/>
                </a:solidFill>
              </a:rPr>
              <a:t> </a:t>
            </a:r>
            <a:r>
              <a:rPr sz="1800" b="0" dirty="0" err="1">
                <a:solidFill>
                  <a:srgbClr val="E4EEE9"/>
                </a:solidFill>
              </a:rPr>
              <a:t>segundo</a:t>
            </a:r>
            <a:r>
              <a:rPr sz="1800" b="0" dirty="0">
                <a:solidFill>
                  <a:srgbClr val="E4EEE9"/>
                </a:solidFill>
              </a:rPr>
              <a:t> </a:t>
            </a:r>
            <a:r>
              <a:rPr sz="1800" b="0" dirty="0" err="1">
                <a:solidFill>
                  <a:srgbClr val="E4EEE9"/>
                </a:solidFill>
              </a:rPr>
              <a:t>caso</a:t>
            </a:r>
            <a:r>
              <a:rPr sz="1800" b="0" dirty="0">
                <a:solidFill>
                  <a:srgbClr val="E4EEE9"/>
                </a:solidFill>
              </a:rPr>
              <a:t> </a:t>
            </a:r>
            <a:r>
              <a:rPr sz="1800" b="0" dirty="0" err="1">
                <a:solidFill>
                  <a:srgbClr val="E4EEE9"/>
                </a:solidFill>
              </a:rPr>
              <a:t>conservó</a:t>
            </a:r>
            <a:r>
              <a:rPr sz="1800" b="0" dirty="0">
                <a:solidFill>
                  <a:srgbClr val="E4EEE9"/>
                </a:solidFill>
              </a:rPr>
              <a:t> la </a:t>
            </a:r>
            <a:r>
              <a:rPr sz="1800" b="0" dirty="0" err="1">
                <a:solidFill>
                  <a:srgbClr val="E4EEE9"/>
                </a:solidFill>
              </a:rPr>
              <a:t>información</a:t>
            </a:r>
            <a:r>
              <a:rPr sz="1800" b="0" dirty="0">
                <a:solidFill>
                  <a:srgbClr val="E4EEE9"/>
                </a:solidFill>
              </a:rPr>
              <a:t> </a:t>
            </a:r>
            <a:r>
              <a:rPr sz="1800" b="0" dirty="0" err="1">
                <a:solidFill>
                  <a:srgbClr val="E4EEE9"/>
                </a:solidFill>
              </a:rPr>
              <a:t>válida</a:t>
            </a:r>
            <a:r>
              <a:rPr sz="1800" b="0" dirty="0">
                <a:solidFill>
                  <a:srgbClr val="E4EEE9"/>
                </a:solidFill>
              </a:rPr>
              <a:t> y </a:t>
            </a:r>
            <a:r>
              <a:rPr sz="1800" b="0" dirty="0" err="1">
                <a:solidFill>
                  <a:srgbClr val="E4EEE9"/>
                </a:solidFill>
              </a:rPr>
              <a:t>explicó</a:t>
            </a:r>
            <a:r>
              <a:rPr sz="1800" b="0" dirty="0">
                <a:solidFill>
                  <a:srgbClr val="E4EEE9"/>
                </a:solidFill>
              </a:rPr>
              <a:t> seis </a:t>
            </a:r>
            <a:r>
              <a:rPr sz="1800" b="0" dirty="0" err="1">
                <a:solidFill>
                  <a:srgbClr val="E4EEE9"/>
                </a:solidFill>
              </a:rPr>
              <a:t>fallas</a:t>
            </a:r>
            <a:r>
              <a:rPr sz="1800" b="0" dirty="0">
                <a:solidFill>
                  <a:srgbClr val="E4EEE9"/>
                </a:solidFill>
              </a:rPr>
              <a:t> con </a:t>
            </a:r>
            <a:r>
              <a:rPr sz="1800" b="0" dirty="0" err="1">
                <a:solidFill>
                  <a:srgbClr val="E4EEE9"/>
                </a:solidFill>
              </a:rPr>
              <a:t>su</a:t>
            </a:r>
            <a:r>
              <a:rPr sz="1800" b="0" dirty="0">
                <a:solidFill>
                  <a:srgbClr val="E4EEE9"/>
                </a:solidFill>
              </a:rPr>
              <a:t> </a:t>
            </a:r>
            <a:r>
              <a:rPr sz="1800" b="0" dirty="0" err="1">
                <a:solidFill>
                  <a:srgbClr val="E4EEE9"/>
                </a:solidFill>
              </a:rPr>
              <a:t>línea</a:t>
            </a:r>
            <a:r>
              <a:rPr sz="1800" b="0" dirty="0">
                <a:solidFill>
                  <a:srgbClr val="E4EEE9"/>
                </a:solidFill>
              </a:rPr>
              <a:t> y causa. El </a:t>
            </a:r>
            <a:r>
              <a:rPr sz="1800" b="0" dirty="0" err="1">
                <a:solidFill>
                  <a:srgbClr val="E4EEE9"/>
                </a:solidFill>
              </a:rPr>
              <a:t>uso</a:t>
            </a:r>
            <a:r>
              <a:rPr sz="1800" b="0" dirty="0">
                <a:solidFill>
                  <a:srgbClr val="E4EEE9"/>
                </a:solidFill>
              </a:rPr>
              <a:t> de Maven </a:t>
            </a:r>
            <a:r>
              <a:rPr sz="1800" b="0" dirty="0" err="1">
                <a:solidFill>
                  <a:srgbClr val="E4EEE9"/>
                </a:solidFill>
              </a:rPr>
              <a:t>evitó</a:t>
            </a:r>
            <a:r>
              <a:rPr sz="1800" b="0" dirty="0">
                <a:solidFill>
                  <a:srgbClr val="E4EEE9"/>
                </a:solidFill>
              </a:rPr>
              <a:t> </a:t>
            </a:r>
            <a:r>
              <a:rPr sz="1800" b="0" dirty="0" err="1">
                <a:solidFill>
                  <a:srgbClr val="E4EEE9"/>
                </a:solidFill>
              </a:rPr>
              <a:t>configurar</a:t>
            </a:r>
            <a:r>
              <a:rPr sz="1800" b="0" dirty="0">
                <a:solidFill>
                  <a:srgbClr val="E4EEE9"/>
                </a:solidFill>
              </a:rPr>
              <a:t> JavaFX </a:t>
            </a:r>
            <a:r>
              <a:rPr sz="1800" b="0" dirty="0" err="1">
                <a:solidFill>
                  <a:srgbClr val="E4EEE9"/>
                </a:solidFill>
              </a:rPr>
              <a:t>manualmente</a:t>
            </a:r>
            <a:r>
              <a:rPr sz="1800" b="0" dirty="0">
                <a:solidFill>
                  <a:srgbClr val="E4EEE9"/>
                </a:solidFill>
              </a:rPr>
              <a:t> </a:t>
            </a:r>
            <a:r>
              <a:rPr sz="1800" b="0" dirty="0" err="1">
                <a:solidFill>
                  <a:srgbClr val="E4EEE9"/>
                </a:solidFill>
              </a:rPr>
              <a:t>en</a:t>
            </a:r>
            <a:r>
              <a:rPr sz="1800" b="0" dirty="0">
                <a:solidFill>
                  <a:srgbClr val="E4EEE9"/>
                </a:solidFill>
              </a:rPr>
              <a:t> </a:t>
            </a:r>
            <a:r>
              <a:rPr sz="1800" b="0" dirty="0" err="1">
                <a:solidFill>
                  <a:srgbClr val="E4EEE9"/>
                </a:solidFill>
              </a:rPr>
              <a:t>cada</a:t>
            </a:r>
            <a:r>
              <a:rPr sz="1800" b="0" dirty="0">
                <a:solidFill>
                  <a:srgbClr val="E4EEE9"/>
                </a:solidFill>
              </a:rPr>
              <a:t> </a:t>
            </a:r>
            <a:r>
              <a:rPr sz="1800" b="0" dirty="0" err="1">
                <a:solidFill>
                  <a:srgbClr val="E4EEE9"/>
                </a:solidFill>
              </a:rPr>
              <a:t>ejecución</a:t>
            </a:r>
            <a:r>
              <a:rPr sz="1800" b="0" dirty="0">
                <a:solidFill>
                  <a:srgbClr val="E4EEE9"/>
                </a:solidFill>
              </a:rPr>
              <a:t>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FE3B04B-F464-4654-917D-5CABFC75896A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0">
                <a:solidFill>
                  <a:srgbClr val="CFE0D7"/>
                </a:solidFill>
              </a:defRPr>
            </a:pPr>
            <a:r>
              <a:rPr sz="900" b="0">
                <a:solidFill>
                  <a:srgbClr val="CFE0D7"/>
                </a:solidFill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716957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A9375233-66DA-43BF-9E77-23810F74B232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108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17201D"/>
                </a:solidFill>
              </a:defRPr>
            </a:pPr>
            <a:r>
              <a:rPr sz="2700" b="1">
                <a:solidFill>
                  <a:srgbClr val="17201D"/>
                </a:solidFill>
              </a:rPr>
              <a:t>Referencias bibliográficas en formato APA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E3B081A-C1E3-4F36-8E8C-D93386862CE3}"/>
              </a:ext>
            </a:extLst>
          </p:cNvPr>
          <p:cNvSpPr>
            <a:spLocks noGrp="1"/>
          </p:cNvSpPr>
          <p:nvPr/>
        </p:nvSpPr>
        <p:spPr>
          <a:xfrm>
            <a:off x="685800" y="1162050"/>
            <a:ext cx="685800" cy="38100"/>
          </a:xfrm>
          <a:prstGeom prst="rect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4F981B8-50E0-4C32-9C3B-10143A1A768C}"/>
              </a:ext>
            </a:extLst>
          </p:cNvPr>
          <p:cNvSpPr>
            <a:spLocks noGrp="1"/>
          </p:cNvSpPr>
          <p:nvPr/>
        </p:nvSpPr>
        <p:spPr>
          <a:xfrm>
            <a:off x="876300" y="1571625"/>
            <a:ext cx="10287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17201D"/>
                </a:solidFill>
              </a:defRPr>
            </a:pPr>
            <a:r>
              <a:rPr sz="1275" b="0">
                <a:solidFill>
                  <a:srgbClr val="17201D"/>
                </a:solidFill>
              </a:rPr>
              <a:t>Aho, A. V., Lam, M. S., Sethi, R., &amp; Ullman, J. D. (2007). Compiladores: Principios, técnicas y herramientas (2.ª ed.). Pearson Educación.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8150D22-F633-4BEA-BDF0-691519553A7C}"/>
              </a:ext>
            </a:extLst>
          </p:cNvPr>
          <p:cNvSpPr>
            <a:spLocks noGrp="1"/>
          </p:cNvSpPr>
          <p:nvPr/>
        </p:nvSpPr>
        <p:spPr>
          <a:xfrm>
            <a:off x="876300" y="2352675"/>
            <a:ext cx="10287000" cy="9525"/>
          </a:xfrm>
          <a:prstGeom prst="rect">
            <a:avLst/>
          </a:prstGeom>
          <a:solidFill>
            <a:srgbClr val="C9D2CD"/>
          </a:solidFill>
          <a:ln w="0">
            <a:solidFill>
              <a:srgbClr val="C9D2CD"/>
            </a:solidFill>
            <a:prstDash val="solid"/>
          </a:ln>
        </p:spPr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985E11C-3511-44D4-B790-B8423DE3E20F}"/>
              </a:ext>
            </a:extLst>
          </p:cNvPr>
          <p:cNvSpPr>
            <a:spLocks noGrp="1"/>
          </p:cNvSpPr>
          <p:nvPr/>
        </p:nvSpPr>
        <p:spPr>
          <a:xfrm>
            <a:off x="876300" y="2486025"/>
            <a:ext cx="10287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17201D"/>
                </a:solidFill>
              </a:defRPr>
            </a:pPr>
            <a:r>
              <a:rPr sz="1275" b="0" dirty="0" err="1">
                <a:solidFill>
                  <a:srgbClr val="17201D"/>
                </a:solidFill>
              </a:rPr>
              <a:t>OpenJFX</a:t>
            </a:r>
            <a:r>
              <a:rPr sz="1275" b="0" dirty="0">
                <a:solidFill>
                  <a:srgbClr val="17201D"/>
                </a:solidFill>
              </a:rPr>
              <a:t>. (2026). Getting started with JavaFX: Maven. </a:t>
            </a:r>
            <a:r>
              <a:rPr sz="1275" b="0" dirty="0">
                <a:solidFill>
                  <a:srgbClr val="17201D"/>
                </a:solidFill>
                <a:hlinkClick r:id="rId3"/>
              </a:rPr>
              <a:t>https://openjfx.io/openjfx-docs/maven</a:t>
            </a:r>
            <a:endParaRPr lang="es-MX" sz="1275" b="0" dirty="0">
              <a:solidFill>
                <a:srgbClr val="17201D"/>
              </a:solidFill>
            </a:endParaRPr>
          </a:p>
          <a:p>
            <a:pPr algn="l">
              <a:buNone/>
              <a:defRPr sz="1275" b="0">
                <a:solidFill>
                  <a:srgbClr val="17201D"/>
                </a:solidFill>
              </a:defRPr>
            </a:pPr>
            <a:endParaRPr sz="1275" b="0" dirty="0">
              <a:solidFill>
                <a:srgbClr val="17201D"/>
              </a:solidFill>
            </a:endParaRPr>
          </a:p>
          <a:p>
            <a:pPr algn="l">
              <a:buNone/>
              <a:defRPr sz="1275" b="0">
                <a:solidFill>
                  <a:srgbClr val="17201D"/>
                </a:solidFill>
              </a:defRPr>
            </a:pPr>
            <a:endParaRPr sz="1275" b="0" dirty="0">
              <a:solidFill>
                <a:srgbClr val="17201D"/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0492AD7-76AA-491D-B878-A7E161FF7F5F}"/>
              </a:ext>
            </a:extLst>
          </p:cNvPr>
          <p:cNvSpPr>
            <a:spLocks noGrp="1"/>
          </p:cNvSpPr>
          <p:nvPr/>
        </p:nvSpPr>
        <p:spPr>
          <a:xfrm>
            <a:off x="876300" y="3267075"/>
            <a:ext cx="10287000" cy="9525"/>
          </a:xfrm>
          <a:prstGeom prst="rect">
            <a:avLst/>
          </a:prstGeom>
          <a:solidFill>
            <a:srgbClr val="C9D2CD"/>
          </a:solidFill>
          <a:ln w="0">
            <a:solidFill>
              <a:srgbClr val="C9D2CD"/>
            </a:solidFill>
            <a:prstDash val="solid"/>
          </a:ln>
        </p:spPr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95E9DB6-CF92-4E5C-B69B-223684F761FC}"/>
              </a:ext>
            </a:extLst>
          </p:cNvPr>
          <p:cNvSpPr>
            <a:spLocks noGrp="1"/>
          </p:cNvSpPr>
          <p:nvPr/>
        </p:nvSpPr>
        <p:spPr>
          <a:xfrm>
            <a:off x="876300" y="3400425"/>
            <a:ext cx="10287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17201D"/>
                </a:solidFill>
              </a:defRPr>
            </a:pPr>
            <a:r>
              <a:rPr sz="1275" b="0" dirty="0" err="1">
                <a:solidFill>
                  <a:srgbClr val="17201D"/>
                </a:solidFill>
              </a:rPr>
              <a:t>OpenJFX</a:t>
            </a:r>
            <a:r>
              <a:rPr sz="1275" b="0" dirty="0">
                <a:solidFill>
                  <a:srgbClr val="17201D"/>
                </a:solidFill>
              </a:rPr>
              <a:t>. (2026). Introduction to FXML. </a:t>
            </a:r>
            <a:r>
              <a:rPr sz="1275" b="0" dirty="0">
                <a:solidFill>
                  <a:srgbClr val="17201D"/>
                </a:solidFill>
                <a:hlinkClick r:id="rId4"/>
              </a:rPr>
              <a:t>https://openjfx.io/javadoc/26/javafx.fxml/javafx/fxml/doc-files/introduction_to_fxml.html</a:t>
            </a:r>
            <a:endParaRPr lang="es-MX" sz="1275" b="0" dirty="0">
              <a:solidFill>
                <a:srgbClr val="17201D"/>
              </a:solidFill>
            </a:endParaRPr>
          </a:p>
          <a:p>
            <a:pPr algn="l">
              <a:buNone/>
              <a:defRPr sz="1275" b="0">
                <a:solidFill>
                  <a:srgbClr val="17201D"/>
                </a:solidFill>
              </a:defRPr>
            </a:pPr>
            <a:endParaRPr sz="1275" b="0" dirty="0">
              <a:solidFill>
                <a:srgbClr val="17201D"/>
              </a:solidFill>
            </a:endParaRPr>
          </a:p>
          <a:p>
            <a:pPr algn="l">
              <a:buNone/>
              <a:defRPr sz="1275" b="0">
                <a:solidFill>
                  <a:srgbClr val="17201D"/>
                </a:solidFill>
              </a:defRPr>
            </a:pPr>
            <a:endParaRPr sz="1275" b="0" dirty="0">
              <a:solidFill>
                <a:srgbClr val="17201D"/>
              </a:solidFill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7EC29D0B-2066-45E4-9C17-69178F12CB15}"/>
              </a:ext>
            </a:extLst>
          </p:cNvPr>
          <p:cNvSpPr>
            <a:spLocks noGrp="1"/>
          </p:cNvSpPr>
          <p:nvPr/>
        </p:nvSpPr>
        <p:spPr>
          <a:xfrm>
            <a:off x="876300" y="4181475"/>
            <a:ext cx="10287000" cy="9525"/>
          </a:xfrm>
          <a:prstGeom prst="rect">
            <a:avLst/>
          </a:prstGeom>
          <a:solidFill>
            <a:srgbClr val="C9D2CD"/>
          </a:solidFill>
          <a:ln w="0">
            <a:solidFill>
              <a:srgbClr val="C9D2CD"/>
            </a:solidFill>
            <a:prstDash val="solid"/>
          </a:ln>
        </p:spPr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F6551259-3A30-4961-8976-2816432A4417}"/>
              </a:ext>
            </a:extLst>
          </p:cNvPr>
          <p:cNvSpPr>
            <a:spLocks noGrp="1"/>
          </p:cNvSpPr>
          <p:nvPr/>
        </p:nvSpPr>
        <p:spPr>
          <a:xfrm>
            <a:off x="809625" y="4381500"/>
            <a:ext cx="1028700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66716C"/>
                </a:solidFill>
              </a:defRPr>
            </a:pPr>
            <a:r>
              <a:rPr sz="1275" b="0" dirty="0">
                <a:solidFill>
                  <a:srgbClr val="66716C"/>
                </a:solidFill>
              </a:rPr>
              <a:t>Oracle. (2023). The Java Language Specification, Java SE 17: Chapters 4–5. </a:t>
            </a:r>
            <a:r>
              <a:rPr sz="1275" b="0" dirty="0">
                <a:solidFill>
                  <a:srgbClr val="66716C"/>
                </a:solidFill>
                <a:hlinkClick r:id="rId5"/>
              </a:rPr>
              <a:t>https://docs.oracle.com/javase/specs/jls/se17/html</a:t>
            </a:r>
            <a:r>
              <a:rPr lang="es-MX" sz="1275" b="0" dirty="0">
                <a:solidFill>
                  <a:srgbClr val="66716C"/>
                </a:solidFill>
                <a:hlinkClick r:id="rId5"/>
              </a:rPr>
              <a:t>/</a:t>
            </a:r>
            <a:endParaRPr lang="es-MX" sz="1275" b="0" dirty="0">
              <a:solidFill>
                <a:srgbClr val="66716C"/>
              </a:solidFill>
            </a:endParaRPr>
          </a:p>
          <a:p>
            <a:pPr algn="l">
              <a:buNone/>
              <a:defRPr sz="1275" b="0">
                <a:solidFill>
                  <a:srgbClr val="66716C"/>
                </a:solidFill>
              </a:defRPr>
            </a:pPr>
            <a:r>
              <a:rPr lang="es-MX" sz="1275" b="0" dirty="0">
                <a:solidFill>
                  <a:srgbClr val="66716C"/>
                </a:solidFill>
              </a:rPr>
              <a:t>
</a:t>
            </a:r>
            <a:r>
              <a:rPr sz="1275" b="0" dirty="0">
                <a:solidFill>
                  <a:srgbClr val="66716C"/>
                </a:solidFill>
              </a:rPr>
              <a:t>
</a:t>
            </a:r>
            <a:r>
              <a:rPr sz="1275" b="0" dirty="0" err="1">
                <a:solidFill>
                  <a:srgbClr val="66716C"/>
                </a:solidFill>
              </a:rPr>
              <a:t>Tecnológico</a:t>
            </a:r>
            <a:r>
              <a:rPr sz="1275" b="0" dirty="0">
                <a:solidFill>
                  <a:srgbClr val="66716C"/>
                </a:solidFill>
              </a:rPr>
              <a:t> Nacional de México. (2026). </a:t>
            </a:r>
            <a:r>
              <a:rPr sz="1275" b="0" dirty="0" err="1">
                <a:solidFill>
                  <a:srgbClr val="66716C"/>
                </a:solidFill>
              </a:rPr>
              <a:t>Instrumentación</a:t>
            </a:r>
            <a:r>
              <a:rPr sz="1275" b="0" dirty="0">
                <a:solidFill>
                  <a:srgbClr val="66716C"/>
                </a:solidFill>
              </a:rPr>
              <a:t> </a:t>
            </a:r>
            <a:r>
              <a:rPr sz="1275" b="0" dirty="0" err="1">
                <a:solidFill>
                  <a:srgbClr val="66716C"/>
                </a:solidFill>
              </a:rPr>
              <a:t>didáctica</a:t>
            </a:r>
            <a:r>
              <a:rPr sz="1275" b="0" dirty="0">
                <a:solidFill>
                  <a:srgbClr val="66716C"/>
                </a:solidFill>
              </a:rPr>
              <a:t> de </a:t>
            </a:r>
            <a:r>
              <a:rPr sz="1275" b="0" dirty="0" err="1">
                <a:solidFill>
                  <a:srgbClr val="66716C"/>
                </a:solidFill>
              </a:rPr>
              <a:t>Lenguajes</a:t>
            </a:r>
            <a:r>
              <a:rPr sz="1275" b="0" dirty="0">
                <a:solidFill>
                  <a:srgbClr val="66716C"/>
                </a:solidFill>
              </a:rPr>
              <a:t> y </a:t>
            </a:r>
            <a:r>
              <a:rPr sz="1275" b="0" dirty="0" err="1">
                <a:solidFill>
                  <a:srgbClr val="66716C"/>
                </a:solidFill>
              </a:rPr>
              <a:t>Autómatas</a:t>
            </a:r>
            <a:r>
              <a:rPr sz="1275" b="0" dirty="0">
                <a:solidFill>
                  <a:srgbClr val="66716C"/>
                </a:solidFill>
              </a:rPr>
              <a:t> II [</a:t>
            </a:r>
            <a:r>
              <a:rPr sz="1275" b="0" dirty="0" err="1">
                <a:solidFill>
                  <a:srgbClr val="66716C"/>
                </a:solidFill>
              </a:rPr>
              <a:t>Documento</a:t>
            </a:r>
            <a:r>
              <a:rPr sz="1275" b="0" dirty="0">
                <a:solidFill>
                  <a:srgbClr val="66716C"/>
                </a:solidFill>
              </a:rPr>
              <a:t> </a:t>
            </a:r>
            <a:r>
              <a:rPr sz="1275" b="0" dirty="0" err="1">
                <a:solidFill>
                  <a:srgbClr val="66716C"/>
                </a:solidFill>
              </a:rPr>
              <a:t>institucional</a:t>
            </a:r>
            <a:r>
              <a:rPr sz="1275" b="0" dirty="0">
                <a:solidFill>
                  <a:srgbClr val="66716C"/>
                </a:solidFill>
              </a:rPr>
              <a:t>].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823637BE-5591-4485-84F6-5F82C3CC6686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0">
                <a:solidFill>
                  <a:srgbClr val="66716C"/>
                </a:solidFill>
              </a:defRPr>
            </a:pPr>
            <a:r>
              <a:rPr sz="900" b="0">
                <a:solidFill>
                  <a:srgbClr val="66716C"/>
                </a:solidFill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0549012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C62DDC22-7444-4D78-B1D2-F8FB13E2CD37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108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17201D"/>
                </a:solidFill>
              </a:defRPr>
            </a:pPr>
            <a:r>
              <a:rPr sz="2700" b="1">
                <a:solidFill>
                  <a:srgbClr val="17201D"/>
                </a:solidFill>
              </a:rPr>
              <a:t>Repositorio del proyecto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10AB0DF-2CFA-4CF0-B8BF-815592DC417B}"/>
              </a:ext>
            </a:extLst>
          </p:cNvPr>
          <p:cNvSpPr>
            <a:spLocks noGrp="1"/>
          </p:cNvSpPr>
          <p:nvPr/>
        </p:nvSpPr>
        <p:spPr>
          <a:xfrm>
            <a:off x="685800" y="1162050"/>
            <a:ext cx="685800" cy="38100"/>
          </a:xfrm>
          <a:prstGeom prst="rect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A4D4527-BC5B-4B5A-9986-612A85905C64}"/>
              </a:ext>
            </a:extLst>
          </p:cNvPr>
          <p:cNvSpPr>
            <a:spLocks noGrp="1"/>
          </p:cNvSpPr>
          <p:nvPr/>
        </p:nvSpPr>
        <p:spPr>
          <a:xfrm>
            <a:off x="781050" y="1762125"/>
            <a:ext cx="8382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>
                <a:solidFill>
                  <a:srgbClr val="17201D"/>
                </a:solidFill>
              </a:defRPr>
            </a:pPr>
            <a:r>
              <a:rPr sz="1875" b="1">
                <a:solidFill>
                  <a:srgbClr val="17201D"/>
                </a:solidFill>
              </a:rPr>
              <a:t>El proyecto completo de la Unidad 1 se conservará en un solo repositorio. Este espacio queda preparado para colocar el enlace cuando la versión final se encuentre publicada.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8B9BD6B8-A99F-4C03-B38C-A3576A98F607}"/>
              </a:ext>
            </a:extLst>
          </p:cNvPr>
          <p:cNvSpPr>
            <a:spLocks noGrp="1"/>
          </p:cNvSpPr>
          <p:nvPr/>
        </p:nvSpPr>
        <p:spPr>
          <a:xfrm>
            <a:off x="781050" y="3714750"/>
            <a:ext cx="10629900" cy="1190625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9525">
            <a:solidFill>
              <a:srgbClr val="C9D2CD"/>
            </a:solidFill>
            <a:prstDash val="solid"/>
          </a:ln>
        </p:spPr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9B8E7A7-A7FC-4CCC-AC5E-76B11AAF2234}"/>
              </a:ext>
            </a:extLst>
          </p:cNvPr>
          <p:cNvSpPr>
            <a:spLocks noGrp="1"/>
          </p:cNvSpPr>
          <p:nvPr/>
        </p:nvSpPr>
        <p:spPr>
          <a:xfrm>
            <a:off x="1095375" y="3971925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29483D"/>
                </a:solidFill>
              </a:defRPr>
            </a:pPr>
            <a:r>
              <a:rPr sz="1350" b="1">
                <a:solidFill>
                  <a:srgbClr val="29483D"/>
                </a:solidFill>
              </a:rPr>
              <a:t>Enlace del repositorio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D6196D1-F493-4C71-BD53-D191B6F22737}"/>
              </a:ext>
            </a:extLst>
          </p:cNvPr>
          <p:cNvSpPr>
            <a:spLocks noGrp="1"/>
          </p:cNvSpPr>
          <p:nvPr/>
        </p:nvSpPr>
        <p:spPr>
          <a:xfrm>
            <a:off x="1095375" y="4400550"/>
            <a:ext cx="9667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>
                <a:solidFill>
                  <a:srgbClr val="17201D"/>
                </a:solidFill>
              </a:defRPr>
            </a:pPr>
            <a:r>
              <a:rPr lang="es-MX" sz="1200" b="1" dirty="0">
                <a:solidFill>
                  <a:srgbClr val="17201D"/>
                </a:solidFill>
                <a:hlinkClick r:id="rId3"/>
              </a:rPr>
              <a:t>https://github.com/amaurycolochos-cpu/LENGUAJES-Y-AUTOMATAS-II/tree/main/LYA-II-Tema-1/AnalizadorSemantico-Unidad-1-JavaFX</a:t>
            </a:r>
            <a:endParaRPr lang="es-MX" sz="1200" b="1" dirty="0">
              <a:solidFill>
                <a:srgbClr val="17201D"/>
              </a:solidFill>
            </a:endParaRPr>
          </a:p>
          <a:p>
            <a:pPr algn="l">
              <a:buNone/>
              <a:defRPr sz="1725" b="1">
                <a:solidFill>
                  <a:srgbClr val="17201D"/>
                </a:solidFill>
              </a:defRPr>
            </a:pPr>
            <a:endParaRPr lang="es-MX" sz="1200" b="1" dirty="0">
              <a:solidFill>
                <a:srgbClr val="17201D"/>
              </a:solidFill>
            </a:endParaRPr>
          </a:p>
          <a:p>
            <a:pPr algn="l">
              <a:buNone/>
              <a:defRPr sz="1725" b="1">
                <a:solidFill>
                  <a:srgbClr val="17201D"/>
                </a:solidFill>
              </a:defRPr>
            </a:pPr>
            <a:endParaRPr sz="1200" b="1" dirty="0">
              <a:solidFill>
                <a:srgbClr val="17201D"/>
              </a:solidFill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759FC4E2-B5E6-41F1-ADCD-A38317FC4CC6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0">
                <a:solidFill>
                  <a:srgbClr val="66716C"/>
                </a:solidFill>
              </a:defRPr>
            </a:pPr>
            <a:r>
              <a:rPr sz="900" b="0">
                <a:solidFill>
                  <a:srgbClr val="66716C"/>
                </a:solidFill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82527386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1209</Words>
  <Application>Microsoft Office PowerPoint</Application>
  <DocSecurity>0</DocSecurity>
  <PresentationFormat>Panorámica</PresentationFormat>
  <Paragraphs>175</Paragraphs>
  <Slides>22</Slides>
  <Notes>22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8" baseType="lpstr">
      <vt:lpstr>-apple-system</vt:lpstr>
      <vt:lpstr>Aptos</vt:lpstr>
      <vt:lpstr>Aptos Display</vt:lpstr>
      <vt:lpstr>Arial</vt:lpstr>
      <vt:lpstr>Calibri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amaury rokete</cp:lastModifiedBy>
  <cp:revision>3</cp:revision>
  <dcterms:created xsi:type="dcterms:W3CDTF">2026-09-01T00:28:36Z</dcterms:created>
  <dcterms:modified xsi:type="dcterms:W3CDTF">2026-09-02T06:58:41Z</dcterms:modified>
</cp:coreProperties>
</file>